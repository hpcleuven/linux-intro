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30"/>
  </p:notesMasterIdLst>
  <p:handoutMasterIdLst>
    <p:handoutMasterId r:id="rId131"/>
  </p:handoutMasterIdLst>
  <p:sldIdLst>
    <p:sldId id="256" r:id="rId2"/>
    <p:sldId id="397" r:id="rId3"/>
    <p:sldId id="831" r:id="rId4"/>
    <p:sldId id="398" r:id="rId5"/>
    <p:sldId id="399" r:id="rId6"/>
    <p:sldId id="401" r:id="rId7"/>
    <p:sldId id="402" r:id="rId8"/>
    <p:sldId id="403" r:id="rId9"/>
    <p:sldId id="599" r:id="rId10"/>
    <p:sldId id="561" r:id="rId11"/>
    <p:sldId id="551" r:id="rId12"/>
    <p:sldId id="404" r:id="rId13"/>
    <p:sldId id="550" r:id="rId14"/>
    <p:sldId id="407" r:id="rId15"/>
    <p:sldId id="408" r:id="rId16"/>
    <p:sldId id="562" r:id="rId17"/>
    <p:sldId id="567" r:id="rId18"/>
    <p:sldId id="568" r:id="rId19"/>
    <p:sldId id="410" r:id="rId20"/>
    <p:sldId id="570" r:id="rId21"/>
    <p:sldId id="411" r:id="rId22"/>
    <p:sldId id="412" r:id="rId23"/>
    <p:sldId id="413" r:id="rId24"/>
    <p:sldId id="400" r:id="rId25"/>
    <p:sldId id="414" r:id="rId26"/>
    <p:sldId id="544" r:id="rId27"/>
    <p:sldId id="416" r:id="rId28"/>
    <p:sldId id="839" r:id="rId29"/>
    <p:sldId id="417" r:id="rId30"/>
    <p:sldId id="418" r:id="rId31"/>
    <p:sldId id="419" r:id="rId32"/>
    <p:sldId id="446" r:id="rId33"/>
    <p:sldId id="447" r:id="rId34"/>
    <p:sldId id="420" r:id="rId35"/>
    <p:sldId id="421" r:id="rId36"/>
    <p:sldId id="422" r:id="rId37"/>
    <p:sldId id="423" r:id="rId38"/>
    <p:sldId id="424" r:id="rId39"/>
    <p:sldId id="450" r:id="rId40"/>
    <p:sldId id="451" r:id="rId41"/>
    <p:sldId id="452" r:id="rId42"/>
    <p:sldId id="449" r:id="rId43"/>
    <p:sldId id="448" r:id="rId44"/>
    <p:sldId id="425" r:id="rId45"/>
    <p:sldId id="426" r:id="rId46"/>
    <p:sldId id="427" r:id="rId47"/>
    <p:sldId id="429" r:id="rId48"/>
    <p:sldId id="430" r:id="rId49"/>
    <p:sldId id="428" r:id="rId50"/>
    <p:sldId id="431" r:id="rId51"/>
    <p:sldId id="432" r:id="rId52"/>
    <p:sldId id="433" r:id="rId53"/>
    <p:sldId id="436" r:id="rId54"/>
    <p:sldId id="434" r:id="rId55"/>
    <p:sldId id="537" r:id="rId56"/>
    <p:sldId id="437" r:id="rId57"/>
    <p:sldId id="751" r:id="rId58"/>
    <p:sldId id="752" r:id="rId59"/>
    <p:sldId id="754" r:id="rId60"/>
    <p:sldId id="750" r:id="rId61"/>
    <p:sldId id="753" r:id="rId62"/>
    <p:sldId id="756" r:id="rId63"/>
    <p:sldId id="755" r:id="rId64"/>
    <p:sldId id="757" r:id="rId65"/>
    <p:sldId id="758" r:id="rId66"/>
    <p:sldId id="438" r:id="rId67"/>
    <p:sldId id="439" r:id="rId68"/>
    <p:sldId id="440" r:id="rId69"/>
    <p:sldId id="441" r:id="rId70"/>
    <p:sldId id="837" r:id="rId71"/>
    <p:sldId id="838" r:id="rId72"/>
    <p:sldId id="659" r:id="rId73"/>
    <p:sldId id="840" r:id="rId74"/>
    <p:sldId id="660" r:id="rId75"/>
    <p:sldId id="538" r:id="rId76"/>
    <p:sldId id="453" r:id="rId77"/>
    <p:sldId id="454" r:id="rId78"/>
    <p:sldId id="830" r:id="rId79"/>
    <p:sldId id="455" r:id="rId80"/>
    <p:sldId id="456" r:id="rId81"/>
    <p:sldId id="457" r:id="rId82"/>
    <p:sldId id="458" r:id="rId83"/>
    <p:sldId id="656" r:id="rId84"/>
    <p:sldId id="460" r:id="rId85"/>
    <p:sldId id="461" r:id="rId86"/>
    <p:sldId id="647" r:id="rId87"/>
    <p:sldId id="462" r:id="rId88"/>
    <p:sldId id="463" r:id="rId89"/>
    <p:sldId id="650" r:id="rId90"/>
    <p:sldId id="832" r:id="rId91"/>
    <p:sldId id="465" r:id="rId92"/>
    <p:sldId id="466" r:id="rId93"/>
    <p:sldId id="467" r:id="rId94"/>
    <p:sldId id="468" r:id="rId95"/>
    <p:sldId id="543" r:id="rId96"/>
    <p:sldId id="471" r:id="rId97"/>
    <p:sldId id="472" r:id="rId98"/>
    <p:sldId id="473" r:id="rId99"/>
    <p:sldId id="474" r:id="rId100"/>
    <p:sldId id="476" r:id="rId101"/>
    <p:sldId id="591" r:id="rId102"/>
    <p:sldId id="477" r:id="rId103"/>
    <p:sldId id="478" r:id="rId104"/>
    <p:sldId id="592" r:id="rId105"/>
    <p:sldId id="597" r:id="rId106"/>
    <p:sldId id="479" r:id="rId107"/>
    <p:sldId id="595" r:id="rId108"/>
    <p:sldId id="480" r:id="rId109"/>
    <p:sldId id="841" r:id="rId110"/>
    <p:sldId id="481" r:id="rId111"/>
    <p:sldId id="482" r:id="rId112"/>
    <p:sldId id="483" r:id="rId113"/>
    <p:sldId id="486" r:id="rId114"/>
    <p:sldId id="655" r:id="rId115"/>
    <p:sldId id="487" r:id="rId116"/>
    <p:sldId id="636" r:id="rId117"/>
    <p:sldId id="637" r:id="rId118"/>
    <p:sldId id="488" r:id="rId119"/>
    <p:sldId id="638" r:id="rId120"/>
    <p:sldId id="489" r:id="rId121"/>
    <p:sldId id="490" r:id="rId122"/>
    <p:sldId id="726" r:id="rId123"/>
    <p:sldId id="491" r:id="rId124"/>
    <p:sldId id="493" r:id="rId125"/>
    <p:sldId id="829" r:id="rId126"/>
    <p:sldId id="825" r:id="rId127"/>
    <p:sldId id="827" r:id="rId128"/>
    <p:sldId id="836" r:id="rId129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94">
          <p15:clr>
            <a:srgbClr val="A4A3A4"/>
          </p15:clr>
        </p15:guide>
        <p15:guide id="2" pos="560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7A"/>
    <a:srgbClr val="71CEEB"/>
    <a:srgbClr val="167C9B"/>
    <a:srgbClr val="86BCE5"/>
    <a:srgbClr val="1EA3CC"/>
    <a:srgbClr val="177E9E"/>
    <a:srgbClr val="49C0E5"/>
    <a:srgbClr val="1D8DB0"/>
    <a:srgbClr val="116E8A"/>
    <a:srgbClr val="1476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56" autoAdjust="0"/>
  </p:normalViewPr>
  <p:slideViewPr>
    <p:cSldViewPr snapToObjects="1" showGuides="1">
      <p:cViewPr varScale="1">
        <p:scale>
          <a:sx n="70" d="100"/>
          <a:sy n="70" d="100"/>
        </p:scale>
        <p:origin x="1204" y="52"/>
      </p:cViewPr>
      <p:guideLst>
        <p:guide orient="horz" pos="3294"/>
        <p:guide pos="5602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8" d="100"/>
          <a:sy n="68" d="100"/>
        </p:scale>
        <p:origin x="3101" y="53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notesMaster" Target="notesMasters/notesMaster1.xml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3.xml"/><Relationship Id="rId1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85198-F140-406E-8F04-DE9D809B9791}" type="datetimeFigureOut">
              <a:rPr lang="nl-BE" sz="1000" smtClean="0">
                <a:latin typeface="Arial" pitchFamily="34" charset="0"/>
                <a:cs typeface="Arial" pitchFamily="34" charset="0"/>
              </a:rPr>
              <a:pPr/>
              <a:t>9/03/2026</a:t>
            </a:fld>
            <a:endParaRPr lang="nl-BE" sz="100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 sz="100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024B3E-C6E9-4CB0-843C-3CD5676655AA}" type="slidenum">
              <a:rPr lang="nl-BE" sz="1000" smtClean="0"/>
              <a:pPr/>
              <a:t>‹#›</a:t>
            </a:fld>
            <a:endParaRPr lang="nl-BE" sz="1000"/>
          </a:p>
        </p:txBody>
      </p:sp>
    </p:spTree>
    <p:extLst>
      <p:ext uri="{BB962C8B-B14F-4D97-AF65-F5344CB8AC3E}">
        <p14:creationId xmlns:p14="http://schemas.microsoft.com/office/powerpoint/2010/main" val="3973219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fld id="{7AF0A2F9-EF49-41B3-9E69-7CDBDC14786A}" type="datetimeFigureOut">
              <a:rPr lang="nl-BE" smtClean="0"/>
              <a:pPr/>
              <a:t>9/03/2026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540000" y="4320000"/>
            <a:ext cx="5760000" cy="41400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fld id="{17C257C2-8D60-4760-88CB-024AF3EEC641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94757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rogrammerhumor.io/linux-memes/create-ze-file-extrakt-ze-file-0ucm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8447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F36E904-3279-4C1E-8C96-F499A191F259}" type="slidenum">
              <a:rPr lang="en-GB" altLang="nl-BE"/>
              <a:pPr/>
              <a:t>9</a:t>
            </a:fld>
            <a:endParaRPr lang="en-GB" altLang="nl-BE"/>
          </a:p>
        </p:txBody>
      </p:sp>
      <p:sp>
        <p:nvSpPr>
          <p:cNvPr id="3911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4022418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917F0C72-1D9C-44A7-A592-B8B0FB0A67E7}" type="slidenum">
              <a:rPr lang="en-US" altLang="nl-BE"/>
              <a:pPr/>
              <a:t>11</a:t>
            </a:fld>
            <a:endParaRPr lang="en-US" altLang="nl-BE"/>
          </a:p>
        </p:txBody>
      </p:sp>
      <p:sp>
        <p:nvSpPr>
          <p:cNvPr id="17409" name="Rectangle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7410" name="Rectangle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528592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45B24A-332F-4237-8263-AF9B3DB6BD9D}" type="slidenum">
              <a:rPr lang="nl-NL" smtClean="0"/>
              <a:pPr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64392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3040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010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66137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3245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7261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944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883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0467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4405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661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7271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76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7186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76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8810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Linux File System</a:t>
            </a:r>
            <a:r>
              <a:rPr lang="pl-PL" dirty="0"/>
              <a:t>-home directory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0347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9746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74121-8A3A-A470-13E2-9C7CA7FE2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EBCE897-EB54-7C67-E29F-DE3B14EF46B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>
            <a:extLst>
              <a:ext uri="{FF2B5EF4-FFF2-40B4-BE49-F238E27FC236}">
                <a16:creationId xmlns:a16="http://schemas.microsoft.com/office/drawing/2014/main" id="{A53A6E86-3D3C-F8B6-36D3-2352C2CB34A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6073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1944B-C071-5782-70F3-70E9F74DB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3BEB45E-5181-2CE3-ACE7-B5B8B115385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>
            <a:extLst>
              <a:ext uri="{FF2B5EF4-FFF2-40B4-BE49-F238E27FC236}">
                <a16:creationId xmlns:a16="http://schemas.microsoft.com/office/drawing/2014/main" id="{345EC390-6D1E-DD3A-1632-7342285B0B9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020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7174402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2B5D8-3073-4E23-5F34-8EF7E2062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E72DEC6-424B-9F90-76EB-3D3C34921A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6616BCB-E388-0B25-D448-168C25FE8AF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6765786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40873379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173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159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275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6353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19643716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498993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0556074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2418715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480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2776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5827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379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685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75416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 err="1">
                <a:hlinkClick r:id="rId3"/>
              </a:rPr>
              <a:t>Create</a:t>
            </a:r>
            <a:r>
              <a:rPr lang="nl-BE" dirty="0">
                <a:hlinkClick r:id="rId3"/>
              </a:rPr>
              <a:t> Ze File, </a:t>
            </a:r>
            <a:r>
              <a:rPr lang="nl-BE" dirty="0" err="1">
                <a:hlinkClick r:id="rId3"/>
              </a:rPr>
              <a:t>Extrakt</a:t>
            </a:r>
            <a:r>
              <a:rPr lang="nl-BE" dirty="0">
                <a:hlinkClick r:id="rId3"/>
              </a:rPr>
              <a:t> Ze File · ProgrammerHumor.io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02346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4259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4138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528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85889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AC75-D407-6290-1FDD-090B1736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A1E0DF-546F-AC58-FFC8-7DF6ED197BA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5283" name="Tijdelijke aanduiding voor notities 2">
            <a:extLst>
              <a:ext uri="{FF2B5EF4-FFF2-40B4-BE49-F238E27FC236}">
                <a16:creationId xmlns:a16="http://schemas.microsoft.com/office/drawing/2014/main" id="{641CCF3F-6375-DE60-F502-4BAE5EE162C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3898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32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01699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261558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 12"/>
          <p:cNvSpPr/>
          <p:nvPr userDrawn="1"/>
        </p:nvSpPr>
        <p:spPr>
          <a:xfrm>
            <a:off x="0" y="648000"/>
            <a:ext cx="9144000" cy="6228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3096000" y="2088000"/>
            <a:ext cx="5580000" cy="18000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en typ de titel van de presentatie</a:t>
            </a:r>
            <a:endParaRPr lang="nl-BE" dirty="0"/>
          </a:p>
        </p:txBody>
      </p:sp>
      <p:sp>
        <p:nvSpPr>
          <p:cNvPr id="10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3096000" y="4193675"/>
            <a:ext cx="5580000" cy="10800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baseline="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en typ de subtitel van de presentatie</a:t>
            </a:r>
            <a:endParaRPr lang="nl-BE" dirty="0"/>
          </a:p>
        </p:txBody>
      </p:sp>
      <p:pic>
        <p:nvPicPr>
          <p:cNvPr id="12" name="Afbeelding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00" y="1800000"/>
            <a:ext cx="1840048" cy="4294442"/>
          </a:xfrm>
          <a:prstGeom prst="rect">
            <a:avLst/>
          </a:prstGeom>
        </p:spPr>
      </p:pic>
      <p:pic>
        <p:nvPicPr>
          <p:cNvPr id="11" name="Afbeelding 10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283600" y="5706000"/>
            <a:ext cx="428400" cy="720000"/>
          </a:xfrm>
          <a:prstGeom prst="rect">
            <a:avLst/>
          </a:prstGeom>
        </p:spPr>
      </p:pic>
      <p:pic>
        <p:nvPicPr>
          <p:cNvPr id="3" name="Afbeelding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4732" cy="71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24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A2290-0477-46BB-87A2-28AB474124F3}" type="datetime1">
              <a:rPr lang="nl-BE" smtClean="0"/>
              <a:t>9/03/2026</a:t>
            </a:fld>
            <a:endParaRPr lang="nl-BE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>
          <a:xfrm>
            <a:off x="8172400" y="6048000"/>
            <a:ext cx="936000" cy="288000"/>
          </a:xfrm>
        </p:spPr>
        <p:txBody>
          <a:bodyPr/>
          <a:lstStyle>
            <a:lvl1pPr>
              <a:defRPr sz="1200"/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ijdelijke aanduiding voor tekst 2"/>
          <p:cNvSpPr>
            <a:spLocks noGrp="1"/>
          </p:cNvSpPr>
          <p:nvPr>
            <p:ph idx="1" hasCustomPrompt="1"/>
          </p:nvPr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/>
            </a:lvl1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416900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 12"/>
          <p:cNvSpPr/>
          <p:nvPr userDrawn="1"/>
        </p:nvSpPr>
        <p:spPr>
          <a:xfrm>
            <a:off x="0" y="0"/>
            <a:ext cx="9144000" cy="6372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3780000" y="2304000"/>
            <a:ext cx="5094000" cy="18002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en typ de titel van de sectie</a:t>
            </a:r>
            <a:endParaRPr lang="nl-BE" dirty="0"/>
          </a:p>
        </p:txBody>
      </p:sp>
      <p:sp>
        <p:nvSpPr>
          <p:cNvPr id="10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3780000" y="4419108"/>
            <a:ext cx="5094000" cy="1080000"/>
          </a:xfrm>
        </p:spPr>
        <p:txBody>
          <a:bodyPr anchor="t" anchorCtr="0"/>
          <a:lstStyle>
            <a:lvl1pPr marL="0" indent="0" algn="l">
              <a:spcBef>
                <a:spcPts val="0"/>
              </a:spcBef>
              <a:buNone/>
              <a:defRPr baseline="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en typ de subtitel van de sectie</a:t>
            </a:r>
            <a:endParaRPr lang="nl-BE" dirty="0"/>
          </a:p>
        </p:txBody>
      </p:sp>
      <p:pic>
        <p:nvPicPr>
          <p:cNvPr id="17" name="Afbeelding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000" y="6048000"/>
            <a:ext cx="1512458" cy="540000"/>
          </a:xfrm>
          <a:prstGeom prst="rect">
            <a:avLst/>
          </a:prstGeom>
        </p:spPr>
      </p:pic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50000"/>
            <a:ext cx="3300991" cy="320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196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540000" y="1350000"/>
            <a:ext cx="4038600" cy="4428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600"/>
            </a:lvl4pPr>
            <a:lvl5pPr marL="1435100" indent="-2286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4835400" y="1350000"/>
            <a:ext cx="4038600" cy="4428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 marL="1435100" indent="-2286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15D64-6155-4769-AF26-79FDDAF95138}" type="datetime1">
              <a:rPr lang="nl-BE" smtClean="0"/>
              <a:t>9/03/2026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803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 hasCustomPrompt="1"/>
          </p:nvPr>
        </p:nvSpPr>
        <p:spPr>
          <a:xfrm>
            <a:off x="540000" y="1350000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407A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540000" y="1991922"/>
            <a:ext cx="4040188" cy="379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600"/>
            </a:lvl4pPr>
            <a:lvl5pPr marL="1435100" indent="-1800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 hasCustomPrompt="1"/>
          </p:nvPr>
        </p:nvSpPr>
        <p:spPr>
          <a:xfrm>
            <a:off x="4824000" y="1350000"/>
            <a:ext cx="40392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 hasCustomPrompt="1"/>
          </p:nvPr>
        </p:nvSpPr>
        <p:spPr>
          <a:xfrm>
            <a:off x="4824000" y="1991922"/>
            <a:ext cx="4039200" cy="379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600"/>
            </a:lvl4pPr>
            <a:lvl5pPr marL="1584325" indent="-285750"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00D3A-57C8-4BB6-BAF6-0910372DB0C4}" type="datetime1">
              <a:rPr lang="nl-BE" smtClean="0"/>
              <a:t>9/03/2026</a:t>
            </a:fld>
            <a:endParaRPr lang="nl-BE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37820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60510-3D33-4A31-87A2-7419302BEFB2}" type="datetime1">
              <a:rPr lang="nl-BE" smtClean="0"/>
              <a:t>9/03/2026</a:t>
            </a:fld>
            <a:endParaRPr lang="nl-BE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182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039BF-7F14-4E86-9A7D-70EDB4DFBD5E}" type="datetime1">
              <a:rPr lang="nl-BE" smtClean="0"/>
              <a:t>9/03/2026</a:t>
            </a:fld>
            <a:endParaRPr lang="nl-BE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9059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40000" y="540000"/>
            <a:ext cx="3008313" cy="895100"/>
          </a:xfrm>
        </p:spPr>
        <p:txBody>
          <a:bodyPr anchor="t" anchorCtr="0"/>
          <a:lstStyle>
            <a:lvl1pPr algn="l">
              <a:defRPr sz="2000" b="1"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3761909" y="540000"/>
            <a:ext cx="5105139" cy="5256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600"/>
            </a:lvl4pPr>
            <a:lvl5pPr marL="1435100" indent="-228600">
              <a:buFont typeface="Arial" pitchFamily="34" charset="0"/>
              <a:buChar char="-"/>
              <a:tabLst/>
              <a:defRPr sz="1600">
                <a:solidFill>
                  <a:srgbClr val="00407A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 hasCustomPrompt="1"/>
          </p:nvPr>
        </p:nvSpPr>
        <p:spPr>
          <a:xfrm>
            <a:off x="539552" y="1435101"/>
            <a:ext cx="3008313" cy="4356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B23E0-C61A-488E-A904-C10C2EE8BB5B}" type="datetime1">
              <a:rPr lang="nl-BE" smtClean="0"/>
              <a:t>9/03/2026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06352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40000" y="4788000"/>
            <a:ext cx="8334000" cy="540000"/>
          </a:xfrm>
        </p:spPr>
        <p:txBody>
          <a:bodyPr anchor="t" anchorCtr="0">
            <a:noAutofit/>
          </a:bodyPr>
          <a:lstStyle>
            <a:lvl1pPr algn="l">
              <a:defRPr sz="2000" b="1"/>
            </a:lvl1pPr>
          </a:lstStyle>
          <a:p>
            <a:r>
              <a:rPr lang="nl-NL" dirty="0"/>
              <a:t>Klik en typ de tekst</a:t>
            </a:r>
            <a:endParaRPr lang="nl-BE" dirty="0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540000" y="540000"/>
            <a:ext cx="83340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 hasCustomPrompt="1"/>
          </p:nvPr>
        </p:nvSpPr>
        <p:spPr>
          <a:xfrm>
            <a:off x="540000" y="5445224"/>
            <a:ext cx="8334000" cy="360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>
          <a:xfrm>
            <a:off x="540000" y="6048000"/>
            <a:ext cx="936000" cy="288000"/>
          </a:xfrm>
        </p:spPr>
        <p:txBody>
          <a:bodyPr/>
          <a:lstStyle/>
          <a:p>
            <a:fld id="{44550B11-E8D9-4B11-9984-F070AA263B19}" type="datetime1">
              <a:rPr lang="nl-BE" smtClean="0"/>
              <a:t>9/03/2026</a:t>
            </a:fld>
            <a:endParaRPr lang="nl-BE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8" name="Tijdelijke aanduiding voor voettekst 3"/>
          <p:cNvSpPr>
            <a:spLocks noGrp="1"/>
          </p:cNvSpPr>
          <p:nvPr>
            <p:ph type="ftr" sz="quarter" idx="11"/>
          </p:nvPr>
        </p:nvSpPr>
        <p:spPr>
          <a:xfrm>
            <a:off x="1566000" y="6048000"/>
            <a:ext cx="1980000" cy="288000"/>
          </a:xfrm>
        </p:spPr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024263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F7BF9-BE81-4DBB-A705-1E77137F5832}" type="datetime1">
              <a:rPr lang="nl-BE" smtClean="0"/>
              <a:t>9/03/2026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6C759-6229-40DE-AD56-03C6C1B55D0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008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539552" y="6048000"/>
            <a:ext cx="936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fld id="{EDA2AAE9-1AD1-47EB-91FA-4BD8E37F2074}" type="datetime1">
              <a:rPr lang="nl-BE" smtClean="0"/>
              <a:t>9/03/2026</a:t>
            </a:fld>
            <a:endParaRPr lang="nl-BE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1566000" y="6048000"/>
            <a:ext cx="1980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0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endParaRPr lang="nl-BE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8208000" y="6101999"/>
            <a:ext cx="936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2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7" name="Rechthoek 6"/>
          <p:cNvSpPr/>
          <p:nvPr/>
        </p:nvSpPr>
        <p:spPr>
          <a:xfrm>
            <a:off x="0" y="6372000"/>
            <a:ext cx="9144000" cy="486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pic>
        <p:nvPicPr>
          <p:cNvPr id="9" name="Afbeelding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000" y="6048000"/>
            <a:ext cx="151245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215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709" r:id="rId2"/>
    <p:sldLayoutId id="2147483698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720" r:id="rId10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600" kern="1200" baseline="0">
          <a:solidFill>
            <a:srgbClr val="52BDEC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60000" indent="-360000" algn="l" defTabSz="914400" rtl="0" eaLnBrk="1" latinLnBrk="0" hangingPunct="1">
        <a:spcBef>
          <a:spcPts val="580"/>
        </a:spcBef>
        <a:buSzPct val="110000"/>
        <a:buFont typeface="Arial" pitchFamily="34" charset="0"/>
        <a:buChar char="•"/>
        <a:defRPr sz="24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1pPr>
      <a:lvl2pPr marL="720000" indent="-360363" algn="l" defTabSz="914400" rtl="0" eaLnBrk="1" latinLnBrk="0" hangingPunct="1">
        <a:spcBef>
          <a:spcPts val="580"/>
        </a:spcBef>
        <a:buSzPct val="75000"/>
        <a:buFont typeface="Courier New" pitchFamily="49" charset="0"/>
        <a:buChar char="o"/>
        <a:defRPr sz="24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2pPr>
      <a:lvl3pPr marL="990000" indent="-2700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3pPr>
      <a:lvl4pPr marL="1168400" indent="-180000" algn="l" defTabSz="914400" rtl="0" eaLnBrk="1" latinLnBrk="0" hangingPunct="1">
        <a:spcBef>
          <a:spcPts val="380"/>
        </a:spcBef>
        <a:buSzPct val="80000"/>
        <a:buFont typeface="Arial" pitchFamily="34" charset="0"/>
        <a:buChar char="•"/>
        <a:defRPr sz="16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4pPr>
      <a:lvl5pPr marL="1338263" indent="-179388" algn="l" defTabSz="914400" rtl="0" eaLnBrk="1" latinLnBrk="0" hangingPunct="1">
        <a:spcBef>
          <a:spcPts val="380"/>
        </a:spcBef>
        <a:buFont typeface="Arial" pitchFamily="34" charset="0"/>
        <a:buChar char="-"/>
        <a:defRPr lang="nl-BE" sz="1600" kern="1200" dirty="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ntfearthecommandline.blogspot.com/" TargetMode="External"/><Relationship Id="rId7" Type="http://schemas.openxmlformats.org/officeDocument/2006/relationships/hyperlink" Target="https://bootlin.com/doc/legacy/command-line/unix_linux_introduction.pdf" TargetMode="External"/><Relationship Id="rId2" Type="http://schemas.openxmlformats.org/officeDocument/2006/relationships/hyperlink" Target="http://dontfearthecommandline.blogspot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oreilly.com/programming/free/ten-steps-to-linux-survival.csp?download=yes&amp;order=1274753" TargetMode="External"/><Relationship Id="rId5" Type="http://schemas.openxmlformats.org/officeDocument/2006/relationships/hyperlink" Target="https://www.oreilly.com/programming/free/ten-steps-to-linux" TargetMode="External"/><Relationship Id="rId4" Type="http://schemas.openxmlformats.org/officeDocument/2006/relationships/hyperlink" Target="https://linuxcommand.org/tlcl.php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ldp.org/" TargetMode="External"/><Relationship Id="rId2" Type="http://schemas.openxmlformats.org/officeDocument/2006/relationships/hyperlink" Target="http://www.howtogeek.com/tag/linux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linuxjournal.com/" TargetMode="External"/><Relationship Id="rId4" Type="http://schemas.openxmlformats.org/officeDocument/2006/relationships/hyperlink" Target="http://www.lwn.net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compute/terminal/wsl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py.sh/v86/?profile=archlinux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distro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athname.com/fhs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hyperlink" Target="http://www.thegeekstuff.com/2009/07/linux-ls-command-examples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egeekstuff.com/2009/07/top-5-best-linux-text-editors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commons/d/d2/Learning_the_vi_Editor.pdf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hyperlink" Target="ftp://ftp.vim.org/pub/vim/doc/book/vimbook-OPL.pdf" TargetMode="Externa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egeekstuff.com/2009/03/15-practical-unix-grep-command-examples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hyperlink" Target="http://www.thegeekstuff.com/2010/04/unix-tar-command-examples/" TargetMode="Externa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://www.thegeekstuff.com/2010/01/15-practical-unix-linux-top-command-examples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hyperlink" Target="File%20Commands.xls" TargetMode="Externa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emf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scentrum.be/training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CAB395F-81A0-1262-79F7-C5ED9EF851A0}"/>
              </a:ext>
            </a:extLst>
          </p:cNvPr>
          <p:cNvSpPr/>
          <p:nvPr/>
        </p:nvSpPr>
        <p:spPr>
          <a:xfrm>
            <a:off x="0" y="6239770"/>
            <a:ext cx="9144000" cy="6456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487848" y="2742341"/>
            <a:ext cx="4644352" cy="836944"/>
          </a:xfrm>
        </p:spPr>
        <p:txBody>
          <a:bodyPr/>
          <a:lstStyle/>
          <a:p>
            <a:r>
              <a:rPr lang="nl-BE" sz="4200" dirty="0"/>
              <a:t>Linux</a:t>
            </a:r>
            <a:r>
              <a:rPr lang="pl-PL" sz="4200" dirty="0"/>
              <a:t> - </a:t>
            </a:r>
            <a:r>
              <a:rPr lang="pl-PL" sz="4200" dirty="0" err="1"/>
              <a:t>introduction</a:t>
            </a:r>
            <a:endParaRPr lang="nl-BE" sz="4200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2487848" y="4019679"/>
            <a:ext cx="4500336" cy="1080000"/>
          </a:xfrm>
        </p:spPr>
        <p:txBody>
          <a:bodyPr/>
          <a:lstStyle/>
          <a:p>
            <a:r>
              <a:rPr lang="en-US" dirty="0"/>
              <a:t>Wouter Van Assche</a:t>
            </a:r>
          </a:p>
          <a:p>
            <a:endParaRPr lang="pl-PL" dirty="0"/>
          </a:p>
          <a:p>
            <a:r>
              <a:rPr lang="pl-PL" dirty="0"/>
              <a:t>ICTS Leuven</a:t>
            </a:r>
            <a:endParaRPr lang="nl-BE" dirty="0"/>
          </a:p>
        </p:txBody>
      </p:sp>
      <p:sp>
        <p:nvSpPr>
          <p:cNvPr id="10" name="Rectangle 9"/>
          <p:cNvSpPr/>
          <p:nvPr/>
        </p:nvSpPr>
        <p:spPr>
          <a:xfrm>
            <a:off x="169393" y="6275372"/>
            <a:ext cx="624401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sz="2800" dirty="0">
                <a:solidFill>
                  <a:schemeClr val="accent4">
                    <a:lumMod val="75000"/>
                  </a:schemeClr>
                </a:solidFill>
              </a:rPr>
              <a:t>https://hpcleuven.github.io/Linux-intro/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410" y="4127410"/>
            <a:ext cx="2730590" cy="27305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E58E53C-44AE-2AC0-9B70-433E9CB997E4}"/>
              </a:ext>
            </a:extLst>
          </p:cNvPr>
          <p:cNvGrpSpPr/>
          <p:nvPr/>
        </p:nvGrpSpPr>
        <p:grpSpPr>
          <a:xfrm>
            <a:off x="2376000" y="0"/>
            <a:ext cx="6473176" cy="1080000"/>
            <a:chOff x="2376000" y="0"/>
            <a:chExt cx="6473176" cy="1080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92FCBB7-135A-61D5-A13C-7EC2571929C7}"/>
                </a:ext>
              </a:extLst>
            </p:cNvPr>
            <p:cNvSpPr/>
            <p:nvPr/>
          </p:nvSpPr>
          <p:spPr>
            <a:xfrm>
              <a:off x="2376000" y="0"/>
              <a:ext cx="6473176" cy="10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grpSp>
          <p:nvGrpSpPr>
            <p:cNvPr id="4" name="Group 14"/>
            <p:cNvGrpSpPr/>
            <p:nvPr/>
          </p:nvGrpSpPr>
          <p:grpSpPr>
            <a:xfrm>
              <a:off x="3096000" y="141149"/>
              <a:ext cx="1584176" cy="821425"/>
              <a:chOff x="2987824" y="764704"/>
              <a:chExt cx="1944216" cy="1008112"/>
            </a:xfrm>
          </p:grpSpPr>
          <p:sp>
            <p:nvSpPr>
              <p:cNvPr id="5" name="Rectangle 15"/>
              <p:cNvSpPr/>
              <p:nvPr/>
            </p:nvSpPr>
            <p:spPr>
              <a:xfrm>
                <a:off x="2987824" y="764704"/>
                <a:ext cx="1944216" cy="1008112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nl-B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nl-BE"/>
              </a:p>
            </p:txBody>
          </p:sp>
          <p:pic>
            <p:nvPicPr>
              <p:cNvPr id="6" name="Picture 27" descr="ogo universiteit hasselt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50307" y="838648"/>
                <a:ext cx="1805058" cy="8389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" name="Group 10"/>
            <p:cNvGrpSpPr>
              <a:grpSpLocks noChangeAspect="1"/>
            </p:cNvGrpSpPr>
            <p:nvPr/>
          </p:nvGrpSpPr>
          <p:grpSpPr>
            <a:xfrm>
              <a:off x="5035386" y="43296"/>
              <a:ext cx="3384376" cy="948458"/>
              <a:chOff x="4788024" y="-21230"/>
              <a:chExt cx="4459233" cy="1249683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4788024" y="-1"/>
                <a:ext cx="4385137" cy="122845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88024" y="-21230"/>
                <a:ext cx="4459233" cy="1249683"/>
              </a:xfrm>
              <a:prstGeom prst="rect">
                <a:avLst/>
              </a:prstGeom>
            </p:spPr>
          </p:pic>
        </p:grpSp>
      </p:grpSp>
      <p:pic>
        <p:nvPicPr>
          <p:cNvPr id="7" name="Picture 8" descr="http://clipartist.net/links/clipartist.net/tux_enhanced_penguin-555p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1710" y="2355864"/>
            <a:ext cx="1548764" cy="171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9410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9"/>
            <a:ext cx="8334000" cy="3663177"/>
          </a:xfrm>
        </p:spPr>
        <p:txBody>
          <a:bodyPr numCol="1"/>
          <a:lstStyle/>
          <a:p>
            <a:r>
              <a:rPr lang="en-US" sz="2200" dirty="0"/>
              <a:t>Introduction</a:t>
            </a:r>
          </a:p>
          <a:p>
            <a:pPr marL="359637" lvl="1" indent="0">
              <a:buNone/>
            </a:pPr>
            <a:r>
              <a:rPr lang="en-US" sz="2200" b="1" dirty="0"/>
              <a:t>Hands-on 1</a:t>
            </a:r>
          </a:p>
          <a:p>
            <a:r>
              <a:rPr lang="en-US" sz="2200" dirty="0"/>
              <a:t>Command line basics</a:t>
            </a:r>
          </a:p>
          <a:p>
            <a:r>
              <a:rPr lang="en-US" sz="2200" dirty="0"/>
              <a:t>The Linux file system</a:t>
            </a:r>
          </a:p>
          <a:p>
            <a:pPr marL="359637" lvl="1" indent="0">
              <a:buNone/>
            </a:pPr>
            <a:r>
              <a:rPr lang="en-US" sz="2200" b="1" dirty="0"/>
              <a:t>Hands-on 2</a:t>
            </a:r>
          </a:p>
          <a:p>
            <a:r>
              <a:rPr lang="en-US" sz="2200" dirty="0"/>
              <a:t>File manipulation</a:t>
            </a:r>
          </a:p>
          <a:p>
            <a:r>
              <a:rPr lang="en-US" sz="2200" dirty="0"/>
              <a:t>Text editing</a:t>
            </a:r>
          </a:p>
          <a:p>
            <a:pPr marL="359637" lvl="1" indent="0">
              <a:buNone/>
            </a:pPr>
            <a:r>
              <a:rPr lang="en-US" sz="2200" b="1" dirty="0"/>
              <a:t>Hands-on 3</a:t>
            </a:r>
          </a:p>
          <a:p>
            <a:r>
              <a:rPr lang="en-US" sz="2200" dirty="0"/>
              <a:t>Archiving</a:t>
            </a:r>
          </a:p>
          <a:p>
            <a:r>
              <a:rPr lang="en-US" sz="2200" dirty="0"/>
              <a:t>Users, groups &amp; security</a:t>
            </a:r>
          </a:p>
          <a:p>
            <a:r>
              <a:rPr lang="en-US" sz="2200" dirty="0"/>
              <a:t>Process control</a:t>
            </a:r>
            <a:endParaRPr lang="en-US" sz="2200" b="1" dirty="0"/>
          </a:p>
          <a:p>
            <a:pPr marL="359637" lvl="1" indent="0">
              <a:buNone/>
            </a:pPr>
            <a:r>
              <a:rPr lang="en-US" sz="2200" b="1" dirty="0"/>
              <a:t>Hands-on 4</a:t>
            </a:r>
          </a:p>
          <a:p>
            <a:pPr marL="359637" lvl="1" indent="0">
              <a:buNone/>
            </a:pPr>
            <a:endParaRPr lang="en-US" sz="22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5712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Remark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200" dirty="0"/>
              <a:t>Commands will be displayed with </a:t>
            </a:r>
            <a:r>
              <a:rPr lang="en-US" sz="2200" dirty="0"/>
              <a:t>a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mono space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font</a:t>
            </a:r>
            <a:r>
              <a:rPr lang="pl-PL" sz="2200" dirty="0"/>
              <a:t> and will start always with prompt sign (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/>
              <a:t>) – which is already included in the command line</a:t>
            </a:r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Key take aways are indicated as: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</a:t>
            </a:fld>
            <a:endParaRPr lang="nl-NL" dirty="0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BD0735EA-56C8-D512-9DBE-94807FC8B4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5116521" y="275040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412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sz="6000" dirty="0" err="1"/>
              <a:t>Introduction</a:t>
            </a:r>
            <a:endParaRPr lang="nl-BE" sz="60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1779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Purpose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sz="2200" dirty="0"/>
              <a:t>Get a grip on the very basics: </a:t>
            </a:r>
            <a:r>
              <a:rPr lang="en-US" sz="2200" dirty="0"/>
              <a:t>an introduction to the (basic) Linux commands as normally used for computational research (e.g. </a:t>
            </a:r>
            <a:r>
              <a:rPr lang="pl-PL" sz="2200" dirty="0"/>
              <a:t>HPC </a:t>
            </a:r>
            <a:r>
              <a:rPr lang="en-US" sz="2200" dirty="0"/>
              <a:t>cluster)</a:t>
            </a:r>
          </a:p>
          <a:p>
            <a:r>
              <a:rPr lang="nl-BE" sz="2200" dirty="0"/>
              <a:t>Focus on </a:t>
            </a:r>
            <a:r>
              <a:rPr lang="en-US" sz="2200" dirty="0"/>
              <a:t>using</a:t>
            </a:r>
            <a:r>
              <a:rPr lang="nl-BE" sz="2200" dirty="0"/>
              <a:t> </a:t>
            </a:r>
            <a:r>
              <a:rPr lang="nl-BE" sz="2200" dirty="0" err="1"/>
              <a:t>the</a:t>
            </a:r>
            <a:r>
              <a:rPr lang="nl-BE" sz="2200" dirty="0"/>
              <a:t> </a:t>
            </a:r>
            <a:r>
              <a:rPr lang="en-AU" sz="2200" dirty="0"/>
              <a:t>command</a:t>
            </a:r>
            <a:r>
              <a:rPr lang="nl-BE" sz="2200" dirty="0"/>
              <a:t> line</a:t>
            </a:r>
          </a:p>
          <a:p>
            <a:r>
              <a:rPr lang="en-US" sz="2200" dirty="0"/>
              <a:t>Short hands-on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54240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196752"/>
            <a:ext cx="8604000" cy="485124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200" dirty="0"/>
              <a:t>Most of the presentation is based on the information found in:</a:t>
            </a:r>
            <a:endParaRPr lang="en-US" sz="2200" dirty="0">
              <a:hlinkClick r:id="rId2"/>
            </a:endParaRPr>
          </a:p>
          <a:p>
            <a:r>
              <a:rPr lang="en-US" sz="2200" b="1" dirty="0"/>
              <a:t>Introduction to the Command Line (Second Edition) </a:t>
            </a:r>
            <a:br>
              <a:rPr lang="en-US" sz="2200" b="1" dirty="0"/>
            </a:br>
            <a:r>
              <a:rPr lang="en-US" sz="1800" dirty="0"/>
              <a:t>Nicholas Marsh</a:t>
            </a:r>
            <a:br>
              <a:rPr lang="en-US" sz="1800" dirty="0"/>
            </a:br>
            <a:r>
              <a:rPr lang="en-US" sz="1800" dirty="0">
                <a:hlinkClick r:id="rId3"/>
              </a:rPr>
              <a:t>https://dontfearthecommandline.blogspot.com/</a:t>
            </a:r>
            <a:endParaRPr lang="en-US" sz="1800" dirty="0"/>
          </a:p>
          <a:p>
            <a:r>
              <a:rPr lang="nl-BE" sz="2200" b="1" dirty="0"/>
              <a:t>The Linux </a:t>
            </a:r>
            <a:r>
              <a:rPr lang="nl-BE" sz="2200" b="1" dirty="0" err="1"/>
              <a:t>Command</a:t>
            </a:r>
            <a:r>
              <a:rPr lang="nl-BE" sz="2200" b="1" dirty="0"/>
              <a:t> Line</a:t>
            </a:r>
            <a:br>
              <a:rPr lang="nl-BE" sz="2200" b="1" dirty="0"/>
            </a:br>
            <a:r>
              <a:rPr lang="nl-BE" sz="1800" dirty="0"/>
              <a:t>William </a:t>
            </a:r>
            <a:r>
              <a:rPr lang="nl-BE" sz="1800" dirty="0" err="1"/>
              <a:t>Shotts</a:t>
            </a:r>
            <a:br>
              <a:rPr lang="nl-BE" sz="1800" dirty="0"/>
            </a:br>
            <a:r>
              <a:rPr lang="nl-BE" sz="1800" dirty="0">
                <a:hlinkClick r:id="rId4"/>
              </a:rPr>
              <a:t>https://linuxcommand.org/tlcl.php</a:t>
            </a:r>
            <a:endParaRPr lang="nl-BE" sz="1800" dirty="0"/>
          </a:p>
          <a:p>
            <a:r>
              <a:rPr lang="pl-PL" sz="2200" b="1" dirty="0"/>
              <a:t>Ten Steps to Linux Survival</a:t>
            </a:r>
            <a:br>
              <a:rPr lang="en-US" sz="2200" b="1" dirty="0"/>
            </a:br>
            <a:r>
              <a:rPr lang="pl-PL" sz="1800" dirty="0"/>
              <a:t>James Lehmer</a:t>
            </a:r>
            <a:br>
              <a:rPr lang="en-US" sz="1800"/>
            </a:br>
            <a:r>
              <a:rPr lang="pl-PL" sz="1800">
                <a:hlinkClick r:id="rId5"/>
              </a:rPr>
              <a:t>https://www.oreilly.com/programming/free/ten-steps-to-linux</a:t>
            </a:r>
            <a:r>
              <a:rPr lang="pl-PL" sz="1800">
                <a:hlinkClick r:id="rId6"/>
              </a:rPr>
              <a:t>-survival</a:t>
            </a:r>
            <a:r>
              <a:rPr lang="pl-PL" sz="1800" dirty="0">
                <a:hlinkClick r:id="rId6"/>
              </a:rPr>
              <a:t>.csp?download=yes&amp;order=1274753</a:t>
            </a:r>
            <a:endParaRPr lang="pl-PL" sz="1800" dirty="0"/>
          </a:p>
          <a:p>
            <a:r>
              <a:rPr lang="nl-BE" sz="2200" b="1" dirty="0"/>
              <a:t>The Unix </a:t>
            </a:r>
            <a:r>
              <a:rPr lang="nl-BE" sz="2200" b="1" dirty="0" err="1"/>
              <a:t>and</a:t>
            </a:r>
            <a:r>
              <a:rPr lang="nl-BE" sz="2200" b="1" dirty="0"/>
              <a:t> GNU/Linux </a:t>
            </a:r>
            <a:r>
              <a:rPr lang="nl-BE" sz="2200" b="1" dirty="0" err="1"/>
              <a:t>command</a:t>
            </a:r>
            <a:r>
              <a:rPr lang="nl-BE" sz="2200" b="1" dirty="0"/>
              <a:t> line</a:t>
            </a:r>
            <a:br>
              <a:rPr lang="nl-BE" sz="2200" b="1" dirty="0"/>
            </a:br>
            <a:r>
              <a:rPr lang="nl-BE" sz="1800" dirty="0"/>
              <a:t>Michael </a:t>
            </a:r>
            <a:r>
              <a:rPr lang="nl-BE" sz="1800" dirty="0" err="1"/>
              <a:t>Opdenacker</a:t>
            </a:r>
            <a:r>
              <a:rPr lang="nl-BE" sz="1800" dirty="0"/>
              <a:t> &amp; Thomas </a:t>
            </a:r>
            <a:r>
              <a:rPr lang="nl-BE" sz="1800" dirty="0" err="1"/>
              <a:t>Petazzoni</a:t>
            </a:r>
            <a:br>
              <a:rPr lang="nl-BE" sz="1800" dirty="0"/>
            </a:br>
            <a:r>
              <a:rPr lang="nl-BE" sz="1800" dirty="0">
                <a:hlinkClick r:id="rId7"/>
              </a:rPr>
              <a:t>https://bootlin.com/doc/legacy/command-line/unix_linux_introduction.pdf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4661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Websites?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u="sng" dirty="0">
                <a:hlinkClick r:id="rId2"/>
              </a:rPr>
              <a:t>https://www.howtogeek.com/tag/linux/</a:t>
            </a:r>
            <a:endParaRPr lang="en-US" sz="2200" b="1" u="sng" dirty="0"/>
          </a:p>
          <a:p>
            <a:pPr lvl="1"/>
            <a:r>
              <a:rPr lang="en-US" sz="2200" dirty="0"/>
              <a:t>Includes help, tutorials, tips and how-to guides for Linux.</a:t>
            </a:r>
          </a:p>
          <a:p>
            <a:r>
              <a:rPr lang="en-US" sz="2200" b="1" u="sng" dirty="0">
                <a:hlinkClick r:id="rId3"/>
              </a:rPr>
              <a:t>https://www.tldp.org</a:t>
            </a:r>
            <a:endParaRPr lang="en-US" sz="2200" b="1" dirty="0"/>
          </a:p>
          <a:p>
            <a:pPr lvl="1"/>
            <a:r>
              <a:rPr lang="en-US" sz="2200" dirty="0"/>
              <a:t>The Linux Documentation Project </a:t>
            </a:r>
          </a:p>
          <a:p>
            <a:r>
              <a:rPr lang="en-US" sz="2200" b="1" u="sng" dirty="0">
                <a:hlinkClick r:id="rId4"/>
              </a:rPr>
              <a:t>https://www.lwn.net</a:t>
            </a:r>
            <a:endParaRPr lang="en-US" sz="2200" b="1" u="sng" dirty="0"/>
          </a:p>
          <a:p>
            <a:pPr lvl="1"/>
            <a:r>
              <a:rPr lang="en-US" sz="2200" dirty="0"/>
              <a:t>Linux Weekly News:Covering the Linux and free software communities since 1998. </a:t>
            </a:r>
          </a:p>
          <a:p>
            <a:r>
              <a:rPr lang="en-US" sz="2200" b="1" u="sng" dirty="0">
                <a:hlinkClick r:id="rId5"/>
              </a:rPr>
              <a:t>https://www.linuxjournal.com</a:t>
            </a:r>
            <a:endParaRPr lang="en-US" sz="2200" b="1" dirty="0"/>
          </a:p>
          <a:p>
            <a:pPr lvl="1"/>
            <a:r>
              <a:rPr lang="en-US" sz="2200" dirty="0"/>
              <a:t>The monthly magazine of the Linux community, promoting the use of Linux worldwide.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630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Try</a:t>
            </a:r>
            <a:r>
              <a:rPr lang="nl-BE" dirty="0"/>
              <a:t> </a:t>
            </a:r>
            <a:r>
              <a:rPr lang="nl-BE" dirty="0" err="1"/>
              <a:t>it</a:t>
            </a:r>
            <a:r>
              <a:rPr lang="nl-BE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/>
              <a:t>Install Windows Subsystem for Linux</a:t>
            </a:r>
          </a:p>
          <a:p>
            <a:pPr lvl="1"/>
            <a:r>
              <a:rPr lang="en-US" sz="2000" dirty="0">
                <a:hlinkClick r:id="rId3"/>
              </a:rPr>
              <a:t>Installing WSL2 on windows — VSC documentation</a:t>
            </a:r>
            <a:endParaRPr lang="en-US" sz="2000" dirty="0"/>
          </a:p>
          <a:p>
            <a:pPr marL="359637" lvl="1" indent="0">
              <a:buNone/>
            </a:pPr>
            <a:endParaRPr lang="en-US" sz="2000" dirty="0">
              <a:cs typeface="Courier New" panose="02070309020205020404" pitchFamily="49" charset="0"/>
            </a:endParaRPr>
          </a:p>
          <a:p>
            <a:r>
              <a:rPr lang="en-US" sz="2200" b="1" dirty="0"/>
              <a:t>Web-based </a:t>
            </a:r>
            <a:r>
              <a:rPr lang="en-US" sz="2200" b="1" dirty="0" err="1"/>
              <a:t>linux</a:t>
            </a:r>
            <a:r>
              <a:rPr lang="en-US" sz="2200" b="1" dirty="0"/>
              <a:t> terminal</a:t>
            </a:r>
          </a:p>
          <a:p>
            <a:pPr lvl="1"/>
            <a:r>
              <a:rPr lang="nl-BE" sz="2000" dirty="0" err="1">
                <a:hlinkClick r:id="rId4"/>
              </a:rPr>
              <a:t>Arch</a:t>
            </a:r>
            <a:r>
              <a:rPr lang="nl-BE" sz="2000" dirty="0">
                <a:hlinkClick r:id="rId4"/>
              </a:rPr>
              <a:t> Linux </a:t>
            </a:r>
            <a:r>
              <a:rPr lang="nl-BE" sz="2000">
                <a:hlinkClick r:id="rId4"/>
              </a:rPr>
              <a:t>- v86</a:t>
            </a:r>
            <a:r>
              <a:rPr lang="nl-BE" sz="2000"/>
              <a:t> https://copy.sh/v86/?profile=archlinux</a:t>
            </a:r>
            <a:endParaRPr lang="nl-B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9922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E2183F7-624E-A6CB-6B62-49E2A7510E04}"/>
              </a:ext>
            </a:extLst>
          </p:cNvPr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nl-BE" sz="2000" dirty="0"/>
              <a:t>Both Linux and Windows are based on foundations developed in the mid-1970s</a:t>
            </a:r>
            <a:endParaRPr lang="pl-PL" altLang="nl-BE" sz="2000" dirty="0"/>
          </a:p>
          <a:p>
            <a:r>
              <a:rPr lang="en-US" sz="2000" dirty="0"/>
              <a:t>Both DOS, MAC and UNIX are proprietary, i.e., the source code of their kernel is protected</a:t>
            </a:r>
          </a:p>
          <a:p>
            <a:r>
              <a:rPr lang="en-US" sz="2000" dirty="0"/>
              <a:t>No modification is possible without paying high license fees</a:t>
            </a:r>
          </a:p>
          <a:p>
            <a:pPr marL="0" indent="0">
              <a:buNone/>
            </a:pPr>
            <a:endParaRPr lang="en-US" altLang="nl-BE" sz="2000" dirty="0"/>
          </a:p>
        </p:txBody>
      </p:sp>
      <p:sp>
        <p:nvSpPr>
          <p:cNvPr id="60" name="Tijdelijke aanduiding voor dianummer 59"/>
          <p:cNvSpPr>
            <a:spLocks noGrp="1"/>
          </p:cNvSpPr>
          <p:nvPr>
            <p:ph type="sldNum" sz="quarter" idx="11"/>
          </p:nvPr>
        </p:nvSpPr>
        <p:spPr>
          <a:xfrm>
            <a:off x="8028384" y="6171399"/>
            <a:ext cx="1980000" cy="288000"/>
          </a:xfrm>
        </p:spPr>
        <p:txBody>
          <a:bodyPr/>
          <a:lstStyle/>
          <a:p>
            <a:fld id="{4E1C22BC-7982-4F56-B61B-2AB088DD0EFE}" type="slidenum">
              <a:rPr lang="en-GB" altLang="nl-BE"/>
              <a:pPr/>
              <a:t>9</a:t>
            </a:fld>
            <a:endParaRPr lang="en-GB" altLang="nl-BE"/>
          </a:p>
        </p:txBody>
      </p:sp>
      <p:sp>
        <p:nvSpPr>
          <p:cNvPr id="390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/>
              <a:t>Windows and Linux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B70CD0-7859-893A-01CD-4808C919735E}"/>
              </a:ext>
            </a:extLst>
          </p:cNvPr>
          <p:cNvGrpSpPr/>
          <p:nvPr/>
        </p:nvGrpSpPr>
        <p:grpSpPr>
          <a:xfrm>
            <a:off x="732403" y="3184816"/>
            <a:ext cx="7005637" cy="3584575"/>
            <a:chOff x="608013" y="2895600"/>
            <a:chExt cx="7005637" cy="3584575"/>
          </a:xfrm>
        </p:grpSpPr>
        <p:sp>
          <p:nvSpPr>
            <p:cNvPr id="390148" name="Line 4"/>
            <p:cNvSpPr>
              <a:spLocks noChangeShapeType="1"/>
            </p:cNvSpPr>
            <p:nvPr/>
          </p:nvSpPr>
          <p:spPr bwMode="auto">
            <a:xfrm>
              <a:off x="985838" y="3500438"/>
              <a:ext cx="6627812" cy="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49" name="Text Box 5"/>
            <p:cNvSpPr txBox="1">
              <a:spLocks noChangeArrowheads="1"/>
            </p:cNvSpPr>
            <p:nvPr/>
          </p:nvSpPr>
          <p:spPr bwMode="auto">
            <a:xfrm>
              <a:off x="838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1970</a:t>
              </a:r>
            </a:p>
          </p:txBody>
        </p:sp>
        <p:sp>
          <p:nvSpPr>
            <p:cNvPr id="390150" name="Text Box 6"/>
            <p:cNvSpPr txBox="1">
              <a:spLocks noChangeArrowheads="1"/>
            </p:cNvSpPr>
            <p:nvPr/>
          </p:nvSpPr>
          <p:spPr bwMode="auto">
            <a:xfrm>
              <a:off x="2616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1980</a:t>
              </a:r>
            </a:p>
          </p:txBody>
        </p:sp>
        <p:sp>
          <p:nvSpPr>
            <p:cNvPr id="390151" name="Text Box 7"/>
            <p:cNvSpPr txBox="1">
              <a:spLocks noChangeArrowheads="1"/>
            </p:cNvSpPr>
            <p:nvPr/>
          </p:nvSpPr>
          <p:spPr bwMode="auto">
            <a:xfrm>
              <a:off x="4394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1990</a:t>
              </a:r>
            </a:p>
          </p:txBody>
        </p:sp>
        <p:sp>
          <p:nvSpPr>
            <p:cNvPr id="390152" name="Text Box 8"/>
            <p:cNvSpPr txBox="1">
              <a:spLocks noChangeArrowheads="1"/>
            </p:cNvSpPr>
            <p:nvPr/>
          </p:nvSpPr>
          <p:spPr bwMode="auto">
            <a:xfrm>
              <a:off x="6172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2000</a:t>
              </a:r>
            </a:p>
          </p:txBody>
        </p:sp>
        <p:sp>
          <p:nvSpPr>
            <p:cNvPr id="390153" name="Line 9"/>
            <p:cNvSpPr>
              <a:spLocks noChangeShapeType="1"/>
            </p:cNvSpPr>
            <p:nvPr/>
          </p:nvSpPr>
          <p:spPr bwMode="auto">
            <a:xfrm>
              <a:off x="12192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4" name="Line 10"/>
            <p:cNvSpPr>
              <a:spLocks noChangeShapeType="1"/>
            </p:cNvSpPr>
            <p:nvPr/>
          </p:nvSpPr>
          <p:spPr bwMode="auto">
            <a:xfrm>
              <a:off x="2057400" y="3429000"/>
              <a:ext cx="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5" name="Line 11"/>
            <p:cNvSpPr>
              <a:spLocks noChangeShapeType="1"/>
            </p:cNvSpPr>
            <p:nvPr/>
          </p:nvSpPr>
          <p:spPr bwMode="auto">
            <a:xfrm>
              <a:off x="29718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6" name="Line 12"/>
            <p:cNvSpPr>
              <a:spLocks noChangeShapeType="1"/>
            </p:cNvSpPr>
            <p:nvPr/>
          </p:nvSpPr>
          <p:spPr bwMode="auto">
            <a:xfrm>
              <a:off x="48006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7" name="Line 13"/>
            <p:cNvSpPr>
              <a:spLocks noChangeShapeType="1"/>
            </p:cNvSpPr>
            <p:nvPr/>
          </p:nvSpPr>
          <p:spPr bwMode="auto">
            <a:xfrm>
              <a:off x="65532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8" name="Line 14"/>
            <p:cNvSpPr>
              <a:spLocks noChangeShapeType="1"/>
            </p:cNvSpPr>
            <p:nvPr/>
          </p:nvSpPr>
          <p:spPr bwMode="auto">
            <a:xfrm>
              <a:off x="3886200" y="3429000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9" name="Line 15"/>
            <p:cNvSpPr>
              <a:spLocks noChangeShapeType="1"/>
            </p:cNvSpPr>
            <p:nvPr/>
          </p:nvSpPr>
          <p:spPr bwMode="auto">
            <a:xfrm>
              <a:off x="5638800" y="3429000"/>
              <a:ext cx="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60" name="AutoShape 16"/>
            <p:cNvSpPr>
              <a:spLocks noChangeArrowheads="1"/>
            </p:cNvSpPr>
            <p:nvPr/>
          </p:nvSpPr>
          <p:spPr bwMode="auto">
            <a:xfrm>
              <a:off x="914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1" name="AutoShape 17"/>
            <p:cNvSpPr>
              <a:spLocks noChangeArrowheads="1"/>
            </p:cNvSpPr>
            <p:nvPr/>
          </p:nvSpPr>
          <p:spPr bwMode="auto">
            <a:xfrm>
              <a:off x="1752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2" name="AutoShape 18"/>
            <p:cNvSpPr>
              <a:spLocks noChangeArrowheads="1"/>
            </p:cNvSpPr>
            <p:nvPr/>
          </p:nvSpPr>
          <p:spPr bwMode="auto">
            <a:xfrm>
              <a:off x="2133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3" name="AutoShape 19"/>
            <p:cNvSpPr>
              <a:spLocks noChangeArrowheads="1"/>
            </p:cNvSpPr>
            <p:nvPr/>
          </p:nvSpPr>
          <p:spPr bwMode="auto">
            <a:xfrm>
              <a:off x="54102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4" name="Text Box 20"/>
            <p:cNvSpPr txBox="1">
              <a:spLocks noChangeArrowheads="1"/>
            </p:cNvSpPr>
            <p:nvPr/>
          </p:nvSpPr>
          <p:spPr bwMode="auto">
            <a:xfrm rot="-2771344">
              <a:off x="298450" y="3833813"/>
              <a:ext cx="893763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born</a:t>
              </a:r>
            </a:p>
          </p:txBody>
        </p:sp>
        <p:sp>
          <p:nvSpPr>
            <p:cNvPr id="390165" name="Text Box 21"/>
            <p:cNvSpPr txBox="1">
              <a:spLocks noChangeArrowheads="1"/>
            </p:cNvSpPr>
            <p:nvPr/>
          </p:nvSpPr>
          <p:spPr bwMode="auto">
            <a:xfrm rot="-2771344">
              <a:off x="938213" y="3705225"/>
              <a:ext cx="989012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public</a:t>
              </a:r>
            </a:p>
          </p:txBody>
        </p:sp>
        <p:sp>
          <p:nvSpPr>
            <p:cNvPr id="390166" name="Text Box 22"/>
            <p:cNvSpPr txBox="1">
              <a:spLocks noChangeArrowheads="1"/>
            </p:cNvSpPr>
            <p:nvPr/>
          </p:nvSpPr>
          <p:spPr bwMode="auto">
            <a:xfrm rot="-2771344">
              <a:off x="1655763" y="3756025"/>
              <a:ext cx="776288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V6</a:t>
              </a:r>
            </a:p>
          </p:txBody>
        </p:sp>
        <p:sp>
          <p:nvSpPr>
            <p:cNvPr id="390167" name="Text Box 23"/>
            <p:cNvSpPr txBox="1">
              <a:spLocks noChangeArrowheads="1"/>
            </p:cNvSpPr>
            <p:nvPr/>
          </p:nvSpPr>
          <p:spPr bwMode="auto">
            <a:xfrm rot="-2810857">
              <a:off x="4731544" y="3726657"/>
              <a:ext cx="879475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Linux v1.0</a:t>
              </a:r>
            </a:p>
          </p:txBody>
        </p:sp>
        <p:sp>
          <p:nvSpPr>
            <p:cNvPr id="390168" name="AutoShape 24"/>
            <p:cNvSpPr>
              <a:spLocks noChangeArrowheads="1"/>
            </p:cNvSpPr>
            <p:nvPr/>
          </p:nvSpPr>
          <p:spPr bwMode="auto">
            <a:xfrm>
              <a:off x="57150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0000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9" name="AutoShape 25"/>
            <p:cNvSpPr>
              <a:spLocks noChangeArrowheads="1"/>
            </p:cNvSpPr>
            <p:nvPr/>
          </p:nvSpPr>
          <p:spPr bwMode="auto">
            <a:xfrm>
              <a:off x="57912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0" name="AutoShape 26"/>
            <p:cNvSpPr>
              <a:spLocks noChangeArrowheads="1"/>
            </p:cNvSpPr>
            <p:nvPr/>
          </p:nvSpPr>
          <p:spPr bwMode="auto">
            <a:xfrm>
              <a:off x="6324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0000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1" name="AutoShape 27"/>
            <p:cNvSpPr>
              <a:spLocks noChangeArrowheads="1"/>
            </p:cNvSpPr>
            <p:nvPr/>
          </p:nvSpPr>
          <p:spPr bwMode="auto">
            <a:xfrm>
              <a:off x="64008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2" name="Text Box 28"/>
            <p:cNvSpPr txBox="1">
              <a:spLocks noChangeArrowheads="1"/>
            </p:cNvSpPr>
            <p:nvPr/>
          </p:nvSpPr>
          <p:spPr bwMode="auto">
            <a:xfrm rot="-2771344">
              <a:off x="53911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v2.0</a:t>
              </a:r>
            </a:p>
          </p:txBody>
        </p:sp>
        <p:sp>
          <p:nvSpPr>
            <p:cNvPr id="390173" name="Text Box 29"/>
            <p:cNvSpPr txBox="1">
              <a:spLocks noChangeArrowheads="1"/>
            </p:cNvSpPr>
            <p:nvPr/>
          </p:nvSpPr>
          <p:spPr bwMode="auto">
            <a:xfrm rot="-2771344">
              <a:off x="55435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v2.1</a:t>
              </a:r>
            </a:p>
          </p:txBody>
        </p:sp>
        <p:sp>
          <p:nvSpPr>
            <p:cNvPr id="390174" name="Text Box 30"/>
            <p:cNvSpPr txBox="1">
              <a:spLocks noChangeArrowheads="1"/>
            </p:cNvSpPr>
            <p:nvPr/>
          </p:nvSpPr>
          <p:spPr bwMode="auto">
            <a:xfrm rot="-2771344">
              <a:off x="60007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v2.2</a:t>
              </a:r>
            </a:p>
          </p:txBody>
        </p:sp>
        <p:sp>
          <p:nvSpPr>
            <p:cNvPr id="390175" name="Text Box 31"/>
            <p:cNvSpPr txBox="1">
              <a:spLocks noChangeArrowheads="1"/>
            </p:cNvSpPr>
            <p:nvPr/>
          </p:nvSpPr>
          <p:spPr bwMode="auto">
            <a:xfrm rot="-2771344">
              <a:off x="62293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v2.3</a:t>
              </a:r>
            </a:p>
          </p:txBody>
        </p:sp>
        <p:sp>
          <p:nvSpPr>
            <p:cNvPr id="390176" name="Text Box 32"/>
            <p:cNvSpPr txBox="1">
              <a:spLocks noChangeArrowheads="1"/>
            </p:cNvSpPr>
            <p:nvPr/>
          </p:nvSpPr>
          <p:spPr bwMode="auto">
            <a:xfrm rot="-2771344">
              <a:off x="64579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v2.4</a:t>
              </a:r>
            </a:p>
          </p:txBody>
        </p:sp>
        <p:sp>
          <p:nvSpPr>
            <p:cNvPr id="390177" name="Text Box 33"/>
            <p:cNvSpPr txBox="1">
              <a:spLocks noChangeArrowheads="1"/>
            </p:cNvSpPr>
            <p:nvPr/>
          </p:nvSpPr>
          <p:spPr bwMode="auto">
            <a:xfrm rot="-2771344">
              <a:off x="67627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v2.6</a:t>
              </a:r>
            </a:p>
          </p:txBody>
        </p:sp>
        <p:sp>
          <p:nvSpPr>
            <p:cNvPr id="390178" name="AutoShape 34"/>
            <p:cNvSpPr>
              <a:spLocks noChangeArrowheads="1"/>
            </p:cNvSpPr>
            <p:nvPr/>
          </p:nvSpPr>
          <p:spPr bwMode="auto">
            <a:xfrm>
              <a:off x="6629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9" name="AutoShape 35"/>
            <p:cNvSpPr>
              <a:spLocks noChangeArrowheads="1"/>
            </p:cNvSpPr>
            <p:nvPr/>
          </p:nvSpPr>
          <p:spPr bwMode="auto">
            <a:xfrm>
              <a:off x="7010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80" name="Line 36"/>
            <p:cNvSpPr>
              <a:spLocks noChangeShapeType="1"/>
            </p:cNvSpPr>
            <p:nvPr/>
          </p:nvSpPr>
          <p:spPr bwMode="auto">
            <a:xfrm>
              <a:off x="985838" y="5181600"/>
              <a:ext cx="6627812" cy="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1" name="Text Box 37"/>
            <p:cNvSpPr txBox="1">
              <a:spLocks noChangeArrowheads="1"/>
            </p:cNvSpPr>
            <p:nvPr/>
          </p:nvSpPr>
          <p:spPr bwMode="auto">
            <a:xfrm>
              <a:off x="838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1970</a:t>
              </a:r>
            </a:p>
          </p:txBody>
        </p:sp>
        <p:sp>
          <p:nvSpPr>
            <p:cNvPr id="390182" name="Text Box 38"/>
            <p:cNvSpPr txBox="1">
              <a:spLocks noChangeArrowheads="1"/>
            </p:cNvSpPr>
            <p:nvPr/>
          </p:nvSpPr>
          <p:spPr bwMode="auto">
            <a:xfrm>
              <a:off x="2616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1980</a:t>
              </a:r>
            </a:p>
          </p:txBody>
        </p:sp>
        <p:sp>
          <p:nvSpPr>
            <p:cNvPr id="390183" name="Text Box 39"/>
            <p:cNvSpPr txBox="1">
              <a:spLocks noChangeArrowheads="1"/>
            </p:cNvSpPr>
            <p:nvPr/>
          </p:nvSpPr>
          <p:spPr bwMode="auto">
            <a:xfrm>
              <a:off x="4394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1990</a:t>
              </a:r>
            </a:p>
          </p:txBody>
        </p:sp>
        <p:sp>
          <p:nvSpPr>
            <p:cNvPr id="390184" name="Text Box 40"/>
            <p:cNvSpPr txBox="1">
              <a:spLocks noChangeArrowheads="1"/>
            </p:cNvSpPr>
            <p:nvPr/>
          </p:nvSpPr>
          <p:spPr bwMode="auto">
            <a:xfrm>
              <a:off x="6172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2000</a:t>
              </a:r>
            </a:p>
          </p:txBody>
        </p:sp>
        <p:sp>
          <p:nvSpPr>
            <p:cNvPr id="390185" name="Line 41"/>
            <p:cNvSpPr>
              <a:spLocks noChangeShapeType="1"/>
            </p:cNvSpPr>
            <p:nvPr/>
          </p:nvSpPr>
          <p:spPr bwMode="auto">
            <a:xfrm>
              <a:off x="12192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6" name="Line 42"/>
            <p:cNvSpPr>
              <a:spLocks noChangeShapeType="1"/>
            </p:cNvSpPr>
            <p:nvPr/>
          </p:nvSpPr>
          <p:spPr bwMode="auto">
            <a:xfrm>
              <a:off x="20574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7" name="Line 43"/>
            <p:cNvSpPr>
              <a:spLocks noChangeShapeType="1"/>
            </p:cNvSpPr>
            <p:nvPr/>
          </p:nvSpPr>
          <p:spPr bwMode="auto">
            <a:xfrm>
              <a:off x="29718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8" name="Line 44"/>
            <p:cNvSpPr>
              <a:spLocks noChangeShapeType="1"/>
            </p:cNvSpPr>
            <p:nvPr/>
          </p:nvSpPr>
          <p:spPr bwMode="auto">
            <a:xfrm>
              <a:off x="48006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9" name="Line 45"/>
            <p:cNvSpPr>
              <a:spLocks noChangeShapeType="1"/>
            </p:cNvSpPr>
            <p:nvPr/>
          </p:nvSpPr>
          <p:spPr bwMode="auto">
            <a:xfrm>
              <a:off x="6553200" y="5033963"/>
              <a:ext cx="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0" name="Line 46"/>
            <p:cNvSpPr>
              <a:spLocks noChangeShapeType="1"/>
            </p:cNvSpPr>
            <p:nvPr/>
          </p:nvSpPr>
          <p:spPr bwMode="auto">
            <a:xfrm>
              <a:off x="38862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1" name="Line 47"/>
            <p:cNvSpPr>
              <a:spLocks noChangeShapeType="1"/>
            </p:cNvSpPr>
            <p:nvPr/>
          </p:nvSpPr>
          <p:spPr bwMode="auto">
            <a:xfrm>
              <a:off x="56388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2" name="AutoShape 48"/>
            <p:cNvSpPr>
              <a:spLocks noChangeArrowheads="1"/>
            </p:cNvSpPr>
            <p:nvPr/>
          </p:nvSpPr>
          <p:spPr bwMode="auto">
            <a:xfrm>
              <a:off x="2470150" y="5113338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3" name="AutoShape 49"/>
            <p:cNvSpPr>
              <a:spLocks noChangeArrowheads="1"/>
            </p:cNvSpPr>
            <p:nvPr/>
          </p:nvSpPr>
          <p:spPr bwMode="auto">
            <a:xfrm>
              <a:off x="5181600" y="5110163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4" name="Text Box 50"/>
            <p:cNvSpPr txBox="1">
              <a:spLocks noChangeArrowheads="1"/>
            </p:cNvSpPr>
            <p:nvPr/>
          </p:nvSpPr>
          <p:spPr bwMode="auto">
            <a:xfrm rot="-2771344">
              <a:off x="1908969" y="5431631"/>
              <a:ext cx="844550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VMS v1.0</a:t>
              </a:r>
            </a:p>
          </p:txBody>
        </p:sp>
        <p:sp>
          <p:nvSpPr>
            <p:cNvPr id="390195" name="Text Box 51"/>
            <p:cNvSpPr txBox="1">
              <a:spLocks noChangeArrowheads="1"/>
            </p:cNvSpPr>
            <p:nvPr/>
          </p:nvSpPr>
          <p:spPr bwMode="auto">
            <a:xfrm rot="-2810857">
              <a:off x="4288632" y="5691981"/>
              <a:ext cx="1301750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bg1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NT 3.1</a:t>
              </a:r>
            </a:p>
          </p:txBody>
        </p:sp>
        <p:sp>
          <p:nvSpPr>
            <p:cNvPr id="390196" name="AutoShape 52"/>
            <p:cNvSpPr>
              <a:spLocks noChangeArrowheads="1"/>
            </p:cNvSpPr>
            <p:nvPr/>
          </p:nvSpPr>
          <p:spPr bwMode="auto">
            <a:xfrm>
              <a:off x="5715000" y="5110163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7" name="AutoShape 53"/>
            <p:cNvSpPr>
              <a:spLocks noChangeArrowheads="1"/>
            </p:cNvSpPr>
            <p:nvPr/>
          </p:nvSpPr>
          <p:spPr bwMode="auto">
            <a:xfrm>
              <a:off x="64770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8" name="Text Box 54"/>
            <p:cNvSpPr txBox="1">
              <a:spLocks noChangeArrowheads="1"/>
            </p:cNvSpPr>
            <p:nvPr/>
          </p:nvSpPr>
          <p:spPr bwMode="auto">
            <a:xfrm rot="-2771344">
              <a:off x="5284788" y="5461000"/>
              <a:ext cx="684212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 NT 4.0</a:t>
              </a:r>
            </a:p>
          </p:txBody>
        </p:sp>
        <p:sp>
          <p:nvSpPr>
            <p:cNvPr id="390199" name="Text Box 55"/>
            <p:cNvSpPr txBox="1">
              <a:spLocks noChangeArrowheads="1"/>
            </p:cNvSpPr>
            <p:nvPr/>
          </p:nvSpPr>
          <p:spPr bwMode="auto">
            <a:xfrm rot="-2771344">
              <a:off x="5596731" y="5631657"/>
              <a:ext cx="1184275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bg1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2000</a:t>
              </a:r>
            </a:p>
          </p:txBody>
        </p:sp>
        <p:sp>
          <p:nvSpPr>
            <p:cNvPr id="390200" name="Text Box 56"/>
            <p:cNvSpPr txBox="1">
              <a:spLocks noChangeArrowheads="1"/>
            </p:cNvSpPr>
            <p:nvPr/>
          </p:nvSpPr>
          <p:spPr bwMode="auto">
            <a:xfrm rot="-2771344">
              <a:off x="6017419" y="5564981"/>
              <a:ext cx="1047750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XP</a:t>
              </a:r>
            </a:p>
          </p:txBody>
        </p:sp>
        <p:sp>
          <p:nvSpPr>
            <p:cNvPr id="390201" name="Text Box 57"/>
            <p:cNvSpPr txBox="1">
              <a:spLocks noChangeArrowheads="1"/>
            </p:cNvSpPr>
            <p:nvPr/>
          </p:nvSpPr>
          <p:spPr bwMode="auto">
            <a:xfrm rot="-2771344">
              <a:off x="6415087" y="5548313"/>
              <a:ext cx="1014413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Server 2003</a:t>
              </a:r>
            </a:p>
          </p:txBody>
        </p:sp>
        <p:sp>
          <p:nvSpPr>
            <p:cNvPr id="390202" name="AutoShape 58"/>
            <p:cNvSpPr>
              <a:spLocks noChangeArrowheads="1"/>
            </p:cNvSpPr>
            <p:nvPr/>
          </p:nvSpPr>
          <p:spPr bwMode="auto">
            <a:xfrm>
              <a:off x="67818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203" name="AutoShape 59"/>
            <p:cNvSpPr>
              <a:spLocks noChangeArrowheads="1"/>
            </p:cNvSpPr>
            <p:nvPr/>
          </p:nvSpPr>
          <p:spPr bwMode="auto">
            <a:xfrm>
              <a:off x="70866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</p:grp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DF07B3C4-8458-7714-99D2-CA11992930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83999" y="2178342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593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Some history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0769"/>
            <a:ext cx="8334000" cy="443723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GNU project</a:t>
            </a:r>
            <a:r>
              <a:rPr lang="pl-PL" sz="2000" dirty="0"/>
              <a:t>:</a:t>
            </a:r>
            <a:endParaRPr lang="en-US" sz="2000" dirty="0"/>
          </a:p>
          <a:p>
            <a:r>
              <a:rPr lang="en-US" sz="2000" dirty="0"/>
              <a:t>Established in 1984 by Richard Stallman</a:t>
            </a:r>
            <a:r>
              <a:rPr lang="pl-PL" sz="2000" dirty="0"/>
              <a:t> 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G</a:t>
            </a:r>
            <a:r>
              <a:rPr lang="pl-PL" sz="2000" dirty="0"/>
              <a:t>oal:</a:t>
            </a:r>
            <a:r>
              <a:rPr lang="en-US" sz="2000" dirty="0"/>
              <a:t> </a:t>
            </a:r>
            <a:r>
              <a:rPr lang="en-US" sz="2000" b="1" dirty="0"/>
              <a:t>software should be free </a:t>
            </a:r>
            <a:r>
              <a:rPr lang="en-US" sz="2000" dirty="0"/>
              <a:t>from restrictions against copying or modification in order to make better and efficient computer programs. </a:t>
            </a:r>
          </a:p>
          <a:p>
            <a:r>
              <a:rPr lang="en-US" sz="2000" dirty="0"/>
              <a:t>GNU is a recursive acronym for “</a:t>
            </a:r>
            <a:r>
              <a:rPr lang="en-US" sz="2000" b="1" dirty="0"/>
              <a:t>G</a:t>
            </a:r>
            <a:r>
              <a:rPr lang="en-US" sz="2000" dirty="0"/>
              <a:t>NU's </a:t>
            </a:r>
            <a:r>
              <a:rPr lang="en-US" sz="2000" b="1" dirty="0"/>
              <a:t>N</a:t>
            </a:r>
            <a:r>
              <a:rPr lang="en-US" sz="2000" dirty="0"/>
              <a:t>ot </a:t>
            </a:r>
            <a:r>
              <a:rPr lang="en-US" sz="2000" b="1" dirty="0"/>
              <a:t>U</a:t>
            </a:r>
            <a:r>
              <a:rPr lang="en-US" sz="2000" dirty="0"/>
              <a:t>nix”</a:t>
            </a:r>
            <a:r>
              <a:rPr lang="pl-PL" sz="2000" dirty="0"/>
              <a:t>,</a:t>
            </a:r>
          </a:p>
          <a:p>
            <a:r>
              <a:rPr lang="en-US" sz="2000" dirty="0"/>
              <a:t>Aim at developing a complete Unix-like operating system which is free for copying and modification</a:t>
            </a:r>
            <a:r>
              <a:rPr lang="pl-PL" sz="2000" dirty="0"/>
              <a:t>,</a:t>
            </a:r>
            <a:endParaRPr lang="en-US" sz="2000" dirty="0"/>
          </a:p>
          <a:p>
            <a:r>
              <a:rPr lang="en-US" sz="2000" dirty="0"/>
              <a:t>Companies make their money by maintaining and distributing the software, e.g. optimally packaging the software with different tools</a:t>
            </a:r>
            <a:r>
              <a:rPr lang="pl-PL" sz="2000" dirty="0"/>
              <a:t>,</a:t>
            </a:r>
          </a:p>
          <a:p>
            <a:r>
              <a:rPr lang="en-US" sz="2000" dirty="0"/>
              <a:t>Stallman built the first free GNU C Compiler in 1991. But still, an OS was yet to be developed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</a:t>
            </a:fld>
            <a:endParaRPr lang="nl-NL"/>
          </a:p>
        </p:txBody>
      </p:sp>
      <p:pic>
        <p:nvPicPr>
          <p:cNvPr id="17412" name="Picture 4" descr="http://upload.wikimedia.org/wikipedia/commons/8/8e/NicoBZH_-_Richard_Stallman_%28by-sa%29_%285%29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598315"/>
            <a:ext cx="1728192" cy="1728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2526FD26-ADE7-1419-24C3-FF6FCA214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6941" y="260536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805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C5058D5-E8E9-43D3-A521-DC72FC3DF165}" type="slidenum">
              <a:rPr lang="en-US" altLang="nl-BE"/>
              <a:pPr/>
              <a:t>11</a:t>
            </a:fld>
            <a:endParaRPr lang="en-US" altLang="nl-BE"/>
          </a:p>
        </p:txBody>
      </p:sp>
      <p:sp>
        <p:nvSpPr>
          <p:cNvPr id="6145" name="Rectangle 1"/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ln/>
        </p:spPr>
        <p:txBody>
          <a:bodyPr/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nl-BE" sz="3200" dirty="0"/>
              <a:t>Open Source Software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552" y="1661320"/>
            <a:ext cx="6408712" cy="4464843"/>
          </a:xfrm>
          <a:ln/>
        </p:spPr>
        <p:txBody>
          <a:bodyPr/>
          <a:lstStyle/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b="1" dirty="0"/>
              <a:t>Open Source Software (OSS) </a:t>
            </a:r>
            <a:r>
              <a:rPr lang="en-US" altLang="nl-BE" sz="1800" dirty="0"/>
              <a:t>generally refers to software for which the source code is available and which the licensing scheme permits the user to modify it and redistribute it in modified or unmodified form.</a:t>
            </a:r>
          </a:p>
          <a:p>
            <a:pPr>
              <a:spcBef>
                <a:spcPts val="450"/>
              </a:spcBef>
              <a:buFont typeface="Arial" panose="020B0604020202020204" pitchFamily="34" charset="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nl-BE" sz="1800" b="1" dirty="0"/>
          </a:p>
          <a:p>
            <a:pPr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b="1" dirty="0"/>
              <a:t>GNU </a:t>
            </a:r>
            <a:r>
              <a:rPr lang="en-US" altLang="nl-BE" sz="1800" b="1" dirty="0" err="1"/>
              <a:t>copyleft</a:t>
            </a:r>
            <a:r>
              <a:rPr lang="pl-PL" altLang="nl-BE" sz="1800" b="1" dirty="0"/>
              <a:t> (</a:t>
            </a:r>
            <a:r>
              <a:rPr lang="en-US" altLang="nl-BE" sz="1800" dirty="0"/>
              <a:t>www.gnu.org</a:t>
            </a:r>
            <a:r>
              <a:rPr lang="pl-PL" altLang="nl-BE" sz="1800" b="1" dirty="0"/>
              <a:t>)</a:t>
            </a:r>
            <a:r>
              <a:rPr lang="pl-PL" altLang="nl-BE" sz="1800" b="1" baseline="30000" dirty="0"/>
              <a:t>  </a:t>
            </a:r>
            <a:endParaRPr lang="en-US" altLang="nl-BE" sz="1800" b="1" baseline="30000" dirty="0"/>
          </a:p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Nobody should be restricted by the software they use. There are four freedoms that every user should have: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use the software for any purpose,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change the software to suit your needs,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share the software with your friends and neighbors, and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share the changes you make. </a:t>
            </a:r>
          </a:p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When a program offers users all of these freedoms, we call it</a:t>
            </a:r>
            <a:r>
              <a:rPr lang="pl-PL" altLang="nl-BE" sz="1800" dirty="0"/>
              <a:t> free software</a:t>
            </a:r>
            <a:r>
              <a:rPr lang="en-US" altLang="nl-BE" sz="1800" dirty="0"/>
              <a:t>.</a:t>
            </a:r>
          </a:p>
        </p:txBody>
      </p:sp>
      <p:pic>
        <p:nvPicPr>
          <p:cNvPr id="1026" name="Picture 2" descr="http://upload.wikimedia.org/wikipedia/commons/thumb/3/39/Official_gnu.svg/563px-Official_gnu.sv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4005064"/>
            <a:ext cx="1656184" cy="165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upload.wikimedia.org/wikipedia/commons/e/e1/Free_as_in_Freedom.jpe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722" y="1"/>
            <a:ext cx="222227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1192E748-6445-1AF4-57C3-F254BA0537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263408" y="1957297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7118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</a:t>
            </a:r>
            <a:r>
              <a:rPr lang="pl-PL" dirty="0"/>
              <a:t>n</a:t>
            </a:r>
            <a:r>
              <a:rPr lang="nl-BE" dirty="0" err="1"/>
              <a:t>ux</a:t>
            </a:r>
            <a:r>
              <a:rPr lang="nl-BE" dirty="0"/>
              <a:t>: </a:t>
            </a:r>
            <a:r>
              <a:rPr lang="nl-BE" dirty="0" err="1"/>
              <a:t>some</a:t>
            </a:r>
            <a:r>
              <a:rPr lang="nl-BE" dirty="0"/>
              <a:t> </a:t>
            </a:r>
            <a:r>
              <a:rPr lang="nl-BE" dirty="0" err="1"/>
              <a:t>history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sz="1800" dirty="0">
                <a:latin typeface="+mn-lt"/>
              </a:rPr>
              <a:t>UNIX: </a:t>
            </a:r>
            <a:r>
              <a:rPr lang="nl-BE" sz="1800" dirty="0" err="1">
                <a:latin typeface="+mn-lt"/>
              </a:rPr>
              <a:t>roots</a:t>
            </a:r>
            <a:r>
              <a:rPr lang="nl-BE" sz="1800" dirty="0">
                <a:latin typeface="+mn-lt"/>
              </a:rPr>
              <a:t> in Bell Labs (AT&amp;T) 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1985 Free Software Foundation (FSF) founded by Richard Stallman.  Along with other programmers creates the tools needed to make a UNIX compatible OS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1985 Professor Andy </a:t>
            </a:r>
            <a:r>
              <a:rPr lang="en-US" altLang="nl-BE" sz="1800" dirty="0" err="1"/>
              <a:t>Tannenbaum</a:t>
            </a:r>
            <a:r>
              <a:rPr lang="en-US" altLang="nl-BE" sz="1800" dirty="0"/>
              <a:t> creates a UNIX like operating system based on System V Unix for the IBM PC &amp; PC/AT computers.  It is called </a:t>
            </a:r>
            <a:r>
              <a:rPr lang="en-US" altLang="nl-BE" sz="1800" dirty="0" err="1"/>
              <a:t>Minix</a:t>
            </a:r>
            <a:r>
              <a:rPr lang="en-US" altLang="nl-BE" sz="1800" dirty="0"/>
              <a:t>.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1989 Richard Stallman releases GPL and GNU software but lacks a free kernel.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1991 Building on the concepts in </a:t>
            </a:r>
            <a:r>
              <a:rPr lang="en-US" altLang="nl-BE" sz="1800" dirty="0" err="1"/>
              <a:t>Minix</a:t>
            </a:r>
            <a:r>
              <a:rPr lang="en-US" altLang="nl-BE" sz="1800" dirty="0"/>
              <a:t>, </a:t>
            </a:r>
            <a:r>
              <a:rPr lang="en-US" altLang="nl-BE" sz="1800" b="1" dirty="0"/>
              <a:t>Linus Torvalds </a:t>
            </a:r>
            <a:r>
              <a:rPr lang="en-US" altLang="nl-BE" sz="1800" dirty="0"/>
              <a:t>(Finnish college student) </a:t>
            </a:r>
            <a:r>
              <a:rPr lang="en-US" altLang="nl-BE" sz="1800" b="1" dirty="0"/>
              <a:t>develops Linux </a:t>
            </a:r>
            <a:r>
              <a:rPr lang="en-US" altLang="nl-BE" sz="1800" dirty="0"/>
              <a:t>along with help from other users on the web.</a:t>
            </a:r>
          </a:p>
          <a:p>
            <a:endParaRPr lang="pl-PL" sz="1800" dirty="0">
              <a:latin typeface="+mn-lt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2575" y="4725144"/>
            <a:ext cx="2691673" cy="1872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</a:t>
            </a:fld>
            <a:endParaRPr lang="nl-NL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D76AB27F-E12D-BC2A-8367-1181FFBCDC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8833" y="4261552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19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Operating system?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40000" y="1349999"/>
            <a:ext cx="5130205" cy="4428000"/>
          </a:xfrm>
        </p:spPr>
        <p:txBody>
          <a:bodyPr/>
          <a:lstStyle/>
          <a:p>
            <a:r>
              <a:rPr lang="en-US" sz="2000" dirty="0"/>
              <a:t>Strictly speaking Linux refers to the kernel</a:t>
            </a:r>
          </a:p>
          <a:p>
            <a:r>
              <a:rPr lang="en-US" sz="2000" dirty="0"/>
              <a:t>GNU/Linux more accurately describes the Operating System.  Linux Kernel combined with GNU utilities and libraries</a:t>
            </a:r>
          </a:p>
          <a:p>
            <a:r>
              <a:rPr lang="en-US" sz="2000" dirty="0"/>
              <a:t>Distribution – GNU/Linux bundled with other applications.  Examples Red Hat Linux, </a:t>
            </a:r>
            <a:r>
              <a:rPr lang="en-US" sz="2000" dirty="0" err="1"/>
              <a:t>Debian</a:t>
            </a:r>
            <a:r>
              <a:rPr lang="en-US" sz="2000" dirty="0"/>
              <a:t>, Ubuntu, </a:t>
            </a:r>
            <a:r>
              <a:rPr lang="en-US" sz="2000" dirty="0" err="1"/>
              <a:t>Suse</a:t>
            </a:r>
            <a:r>
              <a:rPr lang="en-US" sz="2000" dirty="0"/>
              <a:t>, </a:t>
            </a:r>
            <a:r>
              <a:rPr lang="en-US" sz="2000" dirty="0" err="1"/>
              <a:t>Knoppix</a:t>
            </a:r>
            <a:r>
              <a:rPr lang="en-US" sz="2000" dirty="0"/>
              <a:t>, etc.</a:t>
            </a:r>
          </a:p>
          <a:p>
            <a:r>
              <a:rPr lang="en-US" sz="2000" dirty="0"/>
              <a:t>Distributions can be compiled and maintained by an individual or corporation. </a:t>
            </a:r>
          </a:p>
          <a:p>
            <a:endParaRPr lang="pl-PL" sz="2000" dirty="0">
              <a:solidFill>
                <a:srgbClr val="1D8DB0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1D8DB0"/>
                </a:solidFill>
                <a:hlinkClick r:id="rId2"/>
              </a:rPr>
              <a:t>www.distrowatch.com</a:t>
            </a:r>
            <a:r>
              <a:rPr lang="en-US" sz="2000" dirty="0"/>
              <a:t> for more information</a:t>
            </a:r>
          </a:p>
          <a:p>
            <a:pPr>
              <a:buNone/>
            </a:pPr>
            <a:endParaRPr lang="nl-B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13</a:t>
            </a:fld>
            <a:endParaRPr lang="nl-NL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BEE6C7-9398-F2F2-31A7-1EB70B9011CF}"/>
              </a:ext>
            </a:extLst>
          </p:cNvPr>
          <p:cNvGrpSpPr/>
          <p:nvPr/>
        </p:nvGrpSpPr>
        <p:grpSpPr>
          <a:xfrm>
            <a:off x="5966056" y="-149496"/>
            <a:ext cx="3804304" cy="3291320"/>
            <a:chOff x="6300192" y="929768"/>
            <a:chExt cx="3804304" cy="329132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5E327F4-54F8-5D77-2893-E4F04EE7FBD8}"/>
                </a:ext>
              </a:extLst>
            </p:cNvPr>
            <p:cNvGrpSpPr/>
            <p:nvPr/>
          </p:nvGrpSpPr>
          <p:grpSpPr>
            <a:xfrm>
              <a:off x="6300192" y="929768"/>
              <a:ext cx="3804304" cy="3291320"/>
              <a:chOff x="6300192" y="929768"/>
              <a:chExt cx="3804304" cy="329132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E3B5F0B-73DB-DB0B-11E2-81D1ECE8AB19}"/>
                  </a:ext>
                </a:extLst>
              </p:cNvPr>
              <p:cNvSpPr/>
              <p:nvPr/>
            </p:nvSpPr>
            <p:spPr>
              <a:xfrm>
                <a:off x="6300192" y="929768"/>
                <a:ext cx="3804304" cy="3291320"/>
              </a:xfrm>
              <a:prstGeom prst="ellipse">
                <a:avLst/>
              </a:prstGeom>
              <a:solidFill>
                <a:srgbClr val="1EA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36C68BB-3F72-1C86-15F3-9B2E93E66ECF}"/>
                  </a:ext>
                </a:extLst>
              </p:cNvPr>
              <p:cNvSpPr txBox="1"/>
              <p:nvPr/>
            </p:nvSpPr>
            <p:spPr>
              <a:xfrm>
                <a:off x="6533914" y="1184516"/>
                <a:ext cx="329399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Distribution: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OS + apps</a:t>
                </a:r>
              </a:p>
              <a:p>
                <a:pPr algn="ctr"/>
                <a:r>
                  <a:rPr lang="en-US" dirty="0">
                    <a:solidFill>
                      <a:schemeClr val="bg2"/>
                    </a:solidFill>
                  </a:rPr>
                  <a:t>Ubuntu, Debian …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B7651CE-8021-D3F7-A043-84D46024CAB0}"/>
                </a:ext>
              </a:extLst>
            </p:cNvPr>
            <p:cNvGrpSpPr/>
            <p:nvPr/>
          </p:nvGrpSpPr>
          <p:grpSpPr>
            <a:xfrm>
              <a:off x="6440993" y="2144113"/>
              <a:ext cx="3266989" cy="2044650"/>
              <a:chOff x="6440993" y="2333538"/>
              <a:chExt cx="3266989" cy="1854176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9E6B2B6-C7C2-D86B-A02D-375C54EADC6F}"/>
                  </a:ext>
                </a:extLst>
              </p:cNvPr>
              <p:cNvSpPr/>
              <p:nvPr/>
            </p:nvSpPr>
            <p:spPr>
              <a:xfrm>
                <a:off x="6634328" y="2333538"/>
                <a:ext cx="2880320" cy="1854176"/>
              </a:xfrm>
              <a:prstGeom prst="ellipse">
                <a:avLst/>
              </a:prstGeom>
              <a:solidFill>
                <a:srgbClr val="177E9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B4BDB7-0544-7CD5-A5E2-085811C1C25A}"/>
                  </a:ext>
                </a:extLst>
              </p:cNvPr>
              <p:cNvSpPr txBox="1"/>
              <p:nvPr/>
            </p:nvSpPr>
            <p:spPr>
              <a:xfrm>
                <a:off x="6440993" y="2564576"/>
                <a:ext cx="3266989" cy="837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Operating System:</a:t>
                </a:r>
                <a:r>
                  <a:rPr lang="en-US" dirty="0">
                    <a:solidFill>
                      <a:schemeClr val="bg2"/>
                    </a:solidFill>
                  </a:rPr>
                  <a:t> 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kernel + GNU tools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GNU/Linux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929108A-D492-5C96-382D-0A7C85B4CDB6}"/>
                </a:ext>
              </a:extLst>
            </p:cNvPr>
            <p:cNvGrpSpPr/>
            <p:nvPr/>
          </p:nvGrpSpPr>
          <p:grpSpPr>
            <a:xfrm>
              <a:off x="7066376" y="3324631"/>
              <a:ext cx="1351850" cy="791757"/>
              <a:chOff x="6773988" y="3019582"/>
              <a:chExt cx="1224136" cy="811758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F623974E-B3FA-482B-4045-C64539DE652C}"/>
                  </a:ext>
                </a:extLst>
              </p:cNvPr>
              <p:cNvSpPr/>
              <p:nvPr/>
            </p:nvSpPr>
            <p:spPr>
              <a:xfrm>
                <a:off x="6773988" y="3019582"/>
                <a:ext cx="1224136" cy="811758"/>
              </a:xfrm>
              <a:prstGeom prst="ellipse">
                <a:avLst/>
              </a:prstGeom>
              <a:solidFill>
                <a:srgbClr val="116E8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55000D-86DA-EEC4-F86F-74A26F183045}"/>
                  </a:ext>
                </a:extLst>
              </p:cNvPr>
              <p:cNvSpPr txBox="1"/>
              <p:nvPr/>
            </p:nvSpPr>
            <p:spPr>
              <a:xfrm>
                <a:off x="6904398" y="3092026"/>
                <a:ext cx="93610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Kernel:</a:t>
                </a:r>
                <a:r>
                  <a:rPr lang="en-US" dirty="0">
                    <a:solidFill>
                      <a:schemeClr val="bg2"/>
                    </a:solidFill>
                  </a:rPr>
                  <a:t> Linux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</p:grp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E28686D5-EBFE-6EED-2BEB-F92D3F656E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5832995" y="7426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615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>
                <a:latin typeface="+mj-lt"/>
              </a:rPr>
              <a:t>Which Linux Distribution is better?</a:t>
            </a:r>
            <a:endParaRPr lang="nl-BE" dirty="0">
              <a:latin typeface="+mj-lt"/>
            </a:endParaRP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>
                <a:latin typeface="+mj-lt"/>
              </a:rPr>
              <a:pPr/>
              <a:t>14</a:t>
            </a:fld>
            <a:endParaRPr lang="nl-NL">
              <a:latin typeface="+mj-lt"/>
            </a:endParaRPr>
          </a:p>
        </p:txBody>
      </p:sp>
      <p:sp>
        <p:nvSpPr>
          <p:cNvPr id="16" name=" 12"/>
          <p:cNvSpPr>
            <a:spLocks noGrp="1"/>
          </p:cNvSpPr>
          <p:nvPr/>
        </p:nvSpPr>
        <p:spPr bwMode="auto">
          <a:xfrm>
            <a:off x="3009900" y="6109494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r>
              <a:rPr lang="en-US" altLang="en-US"/>
              <a:t>http://www.cs.ucr.edu/~weesan/cs183/</a:t>
            </a:r>
          </a:p>
        </p:txBody>
      </p:sp>
      <p:sp>
        <p:nvSpPr>
          <p:cNvPr id="17" name="Rectangle 2"/>
          <p:cNvSpPr>
            <a:spLocks noGrp="1" noChangeArrowheads="1"/>
          </p:cNvSpPr>
          <p:nvPr/>
        </p:nvSpPr>
        <p:spPr bwMode="auto">
          <a:xfrm>
            <a:off x="342900" y="138907"/>
            <a:ext cx="8229600" cy="113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9pPr>
          </a:lstStyle>
          <a:p>
            <a:endParaRPr lang="en-US" altLang="nl-BE" dirty="0"/>
          </a:p>
        </p:txBody>
      </p:sp>
      <p:sp>
        <p:nvSpPr>
          <p:cNvPr id="19" name="Text Box 7"/>
          <p:cNvSpPr txBox="1">
            <a:spLocks noChangeArrowheads="1"/>
          </p:cNvSpPr>
          <p:nvPr/>
        </p:nvSpPr>
        <p:spPr bwMode="auto">
          <a:xfrm>
            <a:off x="200062" y="1124744"/>
            <a:ext cx="28098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r>
              <a:rPr lang="en-US" altLang="nl-BE" sz="1400" dirty="0">
                <a:solidFill>
                  <a:srgbClr val="182B52"/>
                </a:solidFill>
                <a:latin typeface="+mj-lt"/>
              </a:rPr>
              <a:t>Source: http://futurist.se/gldt/</a:t>
            </a:r>
          </a:p>
        </p:txBody>
      </p:sp>
      <p:grpSp>
        <p:nvGrpSpPr>
          <p:cNvPr id="3" name="Groep 2"/>
          <p:cNvGrpSpPr/>
          <p:nvPr/>
        </p:nvGrpSpPr>
        <p:grpSpPr>
          <a:xfrm>
            <a:off x="342900" y="1448528"/>
            <a:ext cx="7262628" cy="5334000"/>
            <a:chOff x="755576" y="793576"/>
            <a:chExt cx="7763058" cy="6019800"/>
          </a:xfrm>
        </p:grpSpPr>
        <p:pic>
          <p:nvPicPr>
            <p:cNvPr id="18" name="Picture 6" descr="gldt76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6776" y="793576"/>
              <a:ext cx="5497513" cy="601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AutoShape 9"/>
            <p:cNvSpPr>
              <a:spLocks noChangeArrowheads="1"/>
            </p:cNvSpPr>
            <p:nvPr/>
          </p:nvSpPr>
          <p:spPr bwMode="auto">
            <a:xfrm>
              <a:off x="6927777" y="4298776"/>
              <a:ext cx="1581032" cy="533400"/>
            </a:xfrm>
            <a:prstGeom prst="wedgeEllipseCallout">
              <a:avLst>
                <a:gd name="adj1" fmla="val -46708"/>
                <a:gd name="adj2" fmla="val 12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CentOS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1" name="AutoShape 10"/>
            <p:cNvSpPr>
              <a:spLocks noChangeArrowheads="1"/>
            </p:cNvSpPr>
            <p:nvPr/>
          </p:nvSpPr>
          <p:spPr bwMode="auto">
            <a:xfrm>
              <a:off x="5098976" y="1098376"/>
              <a:ext cx="1447800" cy="381000"/>
            </a:xfrm>
            <a:prstGeom prst="wedgeEllipseCallout">
              <a:avLst>
                <a:gd name="adj1" fmla="val 85963"/>
                <a:gd name="adj2" fmla="val 23750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>
                  <a:latin typeface="+mj-lt"/>
                </a:rPr>
                <a:t>Ubuntu</a:t>
              </a:r>
            </a:p>
          </p:txBody>
        </p:sp>
        <p:sp>
          <p:nvSpPr>
            <p:cNvPr id="22" name="AutoShape 11"/>
            <p:cNvSpPr>
              <a:spLocks noChangeArrowheads="1"/>
            </p:cNvSpPr>
            <p:nvPr/>
          </p:nvSpPr>
          <p:spPr bwMode="auto">
            <a:xfrm>
              <a:off x="4336976" y="1784177"/>
              <a:ext cx="1600200" cy="457200"/>
            </a:xfrm>
            <a:prstGeom prst="wedgeEllipseCallout">
              <a:avLst>
                <a:gd name="adj1" fmla="val 88486"/>
                <a:gd name="adj2" fmla="val 2541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Knoppix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3" name="AutoShape 12"/>
            <p:cNvSpPr>
              <a:spLocks noChangeArrowheads="1"/>
            </p:cNvSpPr>
            <p:nvPr/>
          </p:nvSpPr>
          <p:spPr bwMode="auto">
            <a:xfrm>
              <a:off x="4336976" y="3536776"/>
              <a:ext cx="1447800" cy="381000"/>
            </a:xfrm>
            <a:prstGeom prst="wedgeEllipseCallout">
              <a:avLst>
                <a:gd name="adj1" fmla="val 78727"/>
                <a:gd name="adj2" fmla="val -172500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>
                  <a:latin typeface="+mj-lt"/>
                </a:rPr>
                <a:t>Gentoo</a:t>
              </a:r>
            </a:p>
          </p:txBody>
        </p:sp>
        <p:sp>
          <p:nvSpPr>
            <p:cNvPr id="24" name="AutoShape 16"/>
            <p:cNvSpPr>
              <a:spLocks noChangeArrowheads="1"/>
            </p:cNvSpPr>
            <p:nvPr/>
          </p:nvSpPr>
          <p:spPr bwMode="auto">
            <a:xfrm>
              <a:off x="755576" y="3536776"/>
              <a:ext cx="1905000" cy="381000"/>
            </a:xfrm>
            <a:prstGeom prst="wedgeEllipseCallout">
              <a:avLst>
                <a:gd name="adj1" fmla="val 73917"/>
                <a:gd name="adj2" fmla="val 5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Slackware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5" name="AutoShape 17"/>
            <p:cNvSpPr>
              <a:spLocks noChangeArrowheads="1"/>
            </p:cNvSpPr>
            <p:nvPr/>
          </p:nvSpPr>
          <p:spPr bwMode="auto">
            <a:xfrm>
              <a:off x="984176" y="5060776"/>
              <a:ext cx="1905000" cy="381000"/>
            </a:xfrm>
            <a:prstGeom prst="wedgeEllipseCallout">
              <a:avLst>
                <a:gd name="adj1" fmla="val 80750"/>
                <a:gd name="adj2" fmla="val 8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Redhat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6" name="AutoShape 18"/>
            <p:cNvSpPr>
              <a:spLocks noChangeArrowheads="1"/>
            </p:cNvSpPr>
            <p:nvPr/>
          </p:nvSpPr>
          <p:spPr bwMode="auto">
            <a:xfrm>
              <a:off x="755576" y="1479376"/>
              <a:ext cx="1905000" cy="381000"/>
            </a:xfrm>
            <a:prstGeom prst="wedgeEllipseCallout">
              <a:avLst>
                <a:gd name="adj1" fmla="val 77917"/>
                <a:gd name="adj2" fmla="val 3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Debian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7" name="AutoShape 9"/>
            <p:cNvSpPr>
              <a:spLocks noChangeArrowheads="1"/>
            </p:cNvSpPr>
            <p:nvPr/>
          </p:nvSpPr>
          <p:spPr bwMode="auto">
            <a:xfrm>
              <a:off x="6937602" y="4298776"/>
              <a:ext cx="1581032" cy="533400"/>
            </a:xfrm>
            <a:prstGeom prst="wedgeEllipseCallout">
              <a:avLst>
                <a:gd name="adj1" fmla="val -46708"/>
                <a:gd name="adj2" fmla="val 12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CentOS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8" name="AutoShape 16"/>
            <p:cNvSpPr>
              <a:spLocks noChangeArrowheads="1"/>
            </p:cNvSpPr>
            <p:nvPr/>
          </p:nvSpPr>
          <p:spPr bwMode="auto">
            <a:xfrm>
              <a:off x="765401" y="3536777"/>
              <a:ext cx="1905000" cy="381000"/>
            </a:xfrm>
            <a:prstGeom prst="wedgeEllipseCallout">
              <a:avLst>
                <a:gd name="adj1" fmla="val 73917"/>
                <a:gd name="adj2" fmla="val 5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Slackware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9" name="AutoShape 17"/>
            <p:cNvSpPr>
              <a:spLocks noChangeArrowheads="1"/>
            </p:cNvSpPr>
            <p:nvPr/>
          </p:nvSpPr>
          <p:spPr bwMode="auto">
            <a:xfrm>
              <a:off x="994002" y="5060776"/>
              <a:ext cx="1905000" cy="381000"/>
            </a:xfrm>
            <a:prstGeom prst="wedgeEllipseCallout">
              <a:avLst>
                <a:gd name="adj1" fmla="val 80750"/>
                <a:gd name="adj2" fmla="val 8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Redhat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30" name="AutoShape 18"/>
            <p:cNvSpPr>
              <a:spLocks noChangeArrowheads="1"/>
            </p:cNvSpPr>
            <p:nvPr/>
          </p:nvSpPr>
          <p:spPr bwMode="auto">
            <a:xfrm>
              <a:off x="765401" y="1479376"/>
              <a:ext cx="1905000" cy="381000"/>
            </a:xfrm>
            <a:prstGeom prst="wedgeEllipseCallout">
              <a:avLst>
                <a:gd name="adj1" fmla="val 77917"/>
                <a:gd name="adj2" fmla="val 3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Debian</a:t>
              </a:r>
              <a:endParaRPr lang="en-US" altLang="nl-BE" sz="1800" dirty="0">
                <a:latin typeface="+mj-lt"/>
              </a:endParaRPr>
            </a:p>
          </p:txBody>
        </p:sp>
      </p:grpSp>
      <p:sp>
        <p:nvSpPr>
          <p:cNvPr id="31" name="Rectangle 2"/>
          <p:cNvSpPr>
            <a:spLocks noGrp="1" noChangeArrowheads="1"/>
          </p:cNvSpPr>
          <p:nvPr/>
        </p:nvSpPr>
        <p:spPr bwMode="auto">
          <a:xfrm>
            <a:off x="61091" y="5632666"/>
            <a:ext cx="3070749" cy="1684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341313" indent="-341313" algn="l" defTabSz="457200" rtl="0" fontAlgn="base">
              <a:spcBef>
                <a:spcPts val="8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32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741363" indent="-284163" algn="l" defTabSz="457200" rtl="0" fontAlgn="base">
              <a:spcBef>
                <a:spcPts val="7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fontAlgn="base"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600" dirty="0">
                <a:latin typeface="+mj-lt"/>
              </a:rPr>
              <a:t>Red Hat (Enterprise) Linux is</a:t>
            </a:r>
            <a:r>
              <a:rPr lang="pl-PL" altLang="nl-BE" sz="1600" dirty="0">
                <a:latin typeface="+mj-lt"/>
              </a:rPr>
              <a:t> </a:t>
            </a:r>
            <a:r>
              <a:rPr lang="en-US" altLang="nl-BE" sz="1600" dirty="0">
                <a:latin typeface="+mj-lt"/>
              </a:rPr>
              <a:t>the largest commercial Linux vendor.  Focus on stability and long term support.  </a:t>
            </a:r>
          </a:p>
        </p:txBody>
      </p:sp>
    </p:spTree>
    <p:extLst>
      <p:ext uri="{BB962C8B-B14F-4D97-AF65-F5344CB8AC3E}">
        <p14:creationId xmlns:p14="http://schemas.microsoft.com/office/powerpoint/2010/main" val="2466033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1710" y="3068960"/>
            <a:ext cx="3816690" cy="2016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aka: executive, system monitor.</a:t>
            </a:r>
          </a:p>
          <a:p>
            <a:r>
              <a:rPr lang="en-US" dirty="0"/>
              <a:t>The kernel provides a layer between the computer hardware and user applications. </a:t>
            </a:r>
          </a:p>
          <a:p>
            <a:r>
              <a:rPr lang="en-US" dirty="0"/>
              <a:t>Provides an interface for software to use hardware (no direct access)</a:t>
            </a:r>
          </a:p>
          <a:p>
            <a:r>
              <a:rPr lang="en-US" dirty="0"/>
              <a:t>Planning and assigning: </a:t>
            </a:r>
          </a:p>
          <a:p>
            <a:pPr lvl="1"/>
            <a:r>
              <a:rPr lang="en-US" dirty="0"/>
              <a:t>memory, CPU, disk, etc. </a:t>
            </a:r>
          </a:p>
          <a:p>
            <a:pPr lvl="1"/>
            <a:r>
              <a:rPr lang="en-US" dirty="0"/>
              <a:t>security aspects </a:t>
            </a:r>
          </a:p>
          <a:p>
            <a:pPr lvl="1"/>
            <a:r>
              <a:rPr lang="en-US" dirty="0"/>
              <a:t>Fulfill user requests (system calls). </a:t>
            </a:r>
          </a:p>
          <a:p>
            <a:pPr lvl="1"/>
            <a:r>
              <a:rPr lang="en-US" dirty="0"/>
              <a:t>File system, networking, ... 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15</a:t>
            </a:fld>
            <a:endParaRPr lang="nl-NL" dirty="0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3FE8DECE-E9A8-A595-5450-0D4EF38CAF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6939" y="2029304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425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jdelijke aanduiding voor dianummer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D1AA9-B83B-4DB3-B2CC-F6F4D61DBE23}" type="slidenum">
              <a:rPr lang="zh-TW" altLang="en-US"/>
              <a:pPr/>
              <a:t>16</a:t>
            </a:fld>
            <a:endParaRPr lang="en-US" altLang="zh-TW"/>
          </a:p>
        </p:txBody>
      </p:sp>
      <p:grpSp>
        <p:nvGrpSpPr>
          <p:cNvPr id="2" name="Groep 1"/>
          <p:cNvGrpSpPr/>
          <p:nvPr/>
        </p:nvGrpSpPr>
        <p:grpSpPr>
          <a:xfrm>
            <a:off x="3152952" y="55493"/>
            <a:ext cx="5935715" cy="3610377"/>
            <a:chOff x="302840" y="1233264"/>
            <a:chExt cx="8229600" cy="4572000"/>
          </a:xfrm>
        </p:grpSpPr>
        <p:sp>
          <p:nvSpPr>
            <p:cNvPr id="235528" name="Rectangle 8"/>
            <p:cNvSpPr>
              <a:spLocks noChangeArrowheads="1"/>
            </p:cNvSpPr>
            <p:nvPr/>
          </p:nvSpPr>
          <p:spPr bwMode="auto">
            <a:xfrm>
              <a:off x="1445840" y="5043264"/>
              <a:ext cx="7086600" cy="762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>
                  <a:solidFill>
                    <a:schemeClr val="bg1"/>
                  </a:solidFill>
                  <a:ea typeface="新細明體" panose="02020500000000000000" pitchFamily="18" charset="-120"/>
                </a:rPr>
                <a:t>Computer Hardware</a:t>
              </a:r>
            </a:p>
          </p:txBody>
        </p:sp>
        <p:sp>
          <p:nvSpPr>
            <p:cNvPr id="235529" name="Rectangle 9"/>
            <p:cNvSpPr>
              <a:spLocks noChangeArrowheads="1"/>
            </p:cNvSpPr>
            <p:nvPr/>
          </p:nvSpPr>
          <p:spPr bwMode="auto">
            <a:xfrm>
              <a:off x="1445840" y="3595464"/>
              <a:ext cx="7086600" cy="14478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zh-TW" altLang="en-US">
                <a:solidFill>
                  <a:schemeClr val="bg1"/>
                </a:solidFill>
                <a:ea typeface="新細明體" panose="02020500000000000000" pitchFamily="18" charset="-120"/>
              </a:endParaRPr>
            </a:p>
          </p:txBody>
        </p:sp>
        <p:sp>
          <p:nvSpPr>
            <p:cNvPr id="235530" name="Rectangle 10"/>
            <p:cNvSpPr>
              <a:spLocks noChangeArrowheads="1"/>
            </p:cNvSpPr>
            <p:nvPr/>
          </p:nvSpPr>
          <p:spPr bwMode="auto">
            <a:xfrm>
              <a:off x="1445840" y="2757264"/>
              <a:ext cx="7086600" cy="838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System call interface</a:t>
              </a:r>
            </a:p>
          </p:txBody>
        </p:sp>
        <p:sp>
          <p:nvSpPr>
            <p:cNvPr id="235531" name="Rectangle 11"/>
            <p:cNvSpPr>
              <a:spLocks noChangeArrowheads="1"/>
            </p:cNvSpPr>
            <p:nvPr/>
          </p:nvSpPr>
          <p:spPr bwMode="auto">
            <a:xfrm>
              <a:off x="1445840" y="1233264"/>
              <a:ext cx="7086600" cy="6096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Applications: Compilers, word processors, X-based GUI</a:t>
              </a:r>
            </a:p>
          </p:txBody>
        </p:sp>
        <p:sp>
          <p:nvSpPr>
            <p:cNvPr id="235532" name="Text Box 12"/>
            <p:cNvSpPr txBox="1">
              <a:spLocks noChangeArrowheads="1"/>
            </p:cNvSpPr>
            <p:nvPr/>
          </p:nvSpPr>
          <p:spPr bwMode="auto">
            <a:xfrm>
              <a:off x="302840" y="2833464"/>
              <a:ext cx="6762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API</a:t>
              </a:r>
            </a:p>
          </p:txBody>
        </p:sp>
        <p:sp>
          <p:nvSpPr>
            <p:cNvPr id="235533" name="Text Box 13"/>
            <p:cNvSpPr txBox="1">
              <a:spLocks noChangeArrowheads="1"/>
            </p:cNvSpPr>
            <p:nvPr/>
          </p:nvSpPr>
          <p:spPr bwMode="auto">
            <a:xfrm>
              <a:off x="302840" y="1614264"/>
              <a:ext cx="7270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AUI</a:t>
              </a:r>
            </a:p>
          </p:txBody>
        </p:sp>
        <p:sp>
          <p:nvSpPr>
            <p:cNvPr id="235534" name="Rectangle 14"/>
            <p:cNvSpPr>
              <a:spLocks noChangeArrowheads="1"/>
            </p:cNvSpPr>
            <p:nvPr/>
          </p:nvSpPr>
          <p:spPr bwMode="auto">
            <a:xfrm>
              <a:off x="3427040" y="4890865"/>
              <a:ext cx="5105400" cy="3048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BIOS</a:t>
              </a:r>
            </a:p>
          </p:txBody>
        </p:sp>
        <p:sp>
          <p:nvSpPr>
            <p:cNvPr id="235535" name="Rectangle 15"/>
            <p:cNvSpPr>
              <a:spLocks noChangeArrowheads="1"/>
            </p:cNvSpPr>
            <p:nvPr/>
          </p:nvSpPr>
          <p:spPr bwMode="auto">
            <a:xfrm>
              <a:off x="1445840" y="1842864"/>
              <a:ext cx="7086600" cy="914400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b="1">
                  <a:solidFill>
                    <a:schemeClr val="bg1"/>
                  </a:solidFill>
                  <a:ea typeface="新細明體" panose="02020500000000000000" pitchFamily="18" charset="-120"/>
                </a:rPr>
                <a:t>LINUX Shell: Bourne Again (bash), TC, Z, etc.</a:t>
              </a:r>
            </a:p>
          </p:txBody>
        </p:sp>
        <p:sp>
          <p:nvSpPr>
            <p:cNvPr id="235536" name="AutoShape 16"/>
            <p:cNvSpPr>
              <a:spLocks/>
            </p:cNvSpPr>
            <p:nvPr/>
          </p:nvSpPr>
          <p:spPr bwMode="auto">
            <a:xfrm>
              <a:off x="1141040" y="1309464"/>
              <a:ext cx="152400" cy="1143000"/>
            </a:xfrm>
            <a:prstGeom prst="leftBrace">
              <a:avLst>
                <a:gd name="adj1" fmla="val 62500"/>
                <a:gd name="adj2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235537" name="Rectangle 17"/>
            <p:cNvSpPr>
              <a:spLocks noChangeArrowheads="1"/>
            </p:cNvSpPr>
            <p:nvPr/>
          </p:nvSpPr>
          <p:spPr bwMode="auto">
            <a:xfrm>
              <a:off x="1445840" y="2528664"/>
              <a:ext cx="37338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Language libraries</a:t>
              </a:r>
            </a:p>
          </p:txBody>
        </p:sp>
        <p:sp>
          <p:nvSpPr>
            <p:cNvPr id="235538" name="Rectangle 18"/>
            <p:cNvSpPr>
              <a:spLocks noChangeArrowheads="1"/>
            </p:cNvSpPr>
            <p:nvPr/>
          </p:nvSpPr>
          <p:spPr bwMode="auto">
            <a:xfrm>
              <a:off x="3427040" y="4586064"/>
              <a:ext cx="51054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ea typeface="新細明體" panose="02020500000000000000" pitchFamily="18" charset="-120"/>
                </a:rPr>
                <a:t>Device Drives</a:t>
              </a:r>
            </a:p>
          </p:txBody>
        </p:sp>
        <p:sp>
          <p:nvSpPr>
            <p:cNvPr id="235539" name="AutoShape 19"/>
            <p:cNvSpPr>
              <a:spLocks/>
            </p:cNvSpPr>
            <p:nvPr/>
          </p:nvSpPr>
          <p:spPr bwMode="auto">
            <a:xfrm>
              <a:off x="1141040" y="2528664"/>
              <a:ext cx="152400" cy="1143000"/>
            </a:xfrm>
            <a:prstGeom prst="leftBrace">
              <a:avLst>
                <a:gd name="adj1" fmla="val 62500"/>
                <a:gd name="adj2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235540" name="Text Box 20"/>
            <p:cNvSpPr txBox="1">
              <a:spLocks noChangeArrowheads="1"/>
            </p:cNvSpPr>
            <p:nvPr/>
          </p:nvSpPr>
          <p:spPr bwMode="auto">
            <a:xfrm>
              <a:off x="302840" y="4128864"/>
              <a:ext cx="101282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Kernel</a:t>
              </a:r>
            </a:p>
          </p:txBody>
        </p:sp>
        <p:sp>
          <p:nvSpPr>
            <p:cNvPr id="235541" name="Text Box 21"/>
            <p:cNvSpPr txBox="1">
              <a:spLocks noChangeArrowheads="1"/>
            </p:cNvSpPr>
            <p:nvPr/>
          </p:nvSpPr>
          <p:spPr bwMode="auto">
            <a:xfrm>
              <a:off x="3884240" y="3671664"/>
              <a:ext cx="2057400" cy="689863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b="1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File management</a:t>
              </a:r>
            </a:p>
          </p:txBody>
        </p:sp>
        <p:sp>
          <p:nvSpPr>
            <p:cNvPr id="235542" name="Text Box 22"/>
            <p:cNvSpPr txBox="1">
              <a:spLocks noChangeArrowheads="1"/>
            </p:cNvSpPr>
            <p:nvPr/>
          </p:nvSpPr>
          <p:spPr bwMode="auto">
            <a:xfrm>
              <a:off x="1598240" y="3671664"/>
              <a:ext cx="1828800" cy="68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dirty="0">
                  <a:ea typeface="新細明體" panose="02020500000000000000" pitchFamily="18" charset="-120"/>
                </a:rPr>
                <a:t>Memory management</a:t>
              </a:r>
            </a:p>
          </p:txBody>
        </p:sp>
        <p:sp>
          <p:nvSpPr>
            <p:cNvPr id="235543" name="Text Box 23"/>
            <p:cNvSpPr txBox="1">
              <a:spLocks noChangeArrowheads="1"/>
            </p:cNvSpPr>
            <p:nvPr/>
          </p:nvSpPr>
          <p:spPr bwMode="auto">
            <a:xfrm>
              <a:off x="6398840" y="3671664"/>
              <a:ext cx="1905000" cy="689863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b="1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Process Management</a:t>
              </a:r>
              <a:r>
                <a:rPr lang="en-US" altLang="zh-TW" sz="1500" dirty="0">
                  <a:ea typeface="新細明體" panose="02020500000000000000" pitchFamily="18" charset="-120"/>
                </a:rPr>
                <a:t> </a:t>
              </a:r>
            </a:p>
          </p:txBody>
        </p:sp>
      </p:grpSp>
      <p:sp>
        <p:nvSpPr>
          <p:cNvPr id="30" name="Titel 1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Linux </a:t>
            </a:r>
            <a:r>
              <a:rPr lang="pl-PL" dirty="0"/>
              <a:t>OS</a:t>
            </a:r>
            <a:r>
              <a:rPr lang="nl-BE" dirty="0"/>
              <a:t>	</a:t>
            </a:r>
          </a:p>
        </p:txBody>
      </p:sp>
      <p:sp>
        <p:nvSpPr>
          <p:cNvPr id="21" name="Tijdelijke aanduiding voor inhoud 2"/>
          <p:cNvSpPr txBox="1">
            <a:spLocks/>
          </p:cNvSpPr>
          <p:nvPr/>
        </p:nvSpPr>
        <p:spPr>
          <a:xfrm>
            <a:off x="107504" y="3356992"/>
            <a:ext cx="8928992" cy="2656893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Kernel</a:t>
            </a:r>
          </a:p>
          <a:p>
            <a:pPr lvl="1"/>
            <a:r>
              <a:rPr lang="en-US" sz="1600" dirty="0"/>
              <a:t>The part of an OS where the real work is done</a:t>
            </a:r>
          </a:p>
          <a:p>
            <a:r>
              <a:rPr lang="en-US" sz="1600" dirty="0"/>
              <a:t>System call interface</a:t>
            </a:r>
          </a:p>
          <a:p>
            <a:pPr lvl="1"/>
            <a:r>
              <a:rPr lang="en-US" sz="1600" dirty="0"/>
              <a:t>Comprises a set of functions (often known as Application Programmer's Interface API) that can be used by the applications and library routines to use the services provided by the kernel</a:t>
            </a:r>
          </a:p>
          <a:p>
            <a:r>
              <a:rPr lang="en-US" sz="1600" dirty="0"/>
              <a:t>Application User’s Interface</a:t>
            </a:r>
          </a:p>
          <a:p>
            <a:pPr lvl="1"/>
            <a:r>
              <a:rPr lang="en-US" sz="1600" dirty="0"/>
              <a:t>Interface between the kernel and user</a:t>
            </a:r>
          </a:p>
          <a:p>
            <a:pPr lvl="1"/>
            <a:r>
              <a:rPr lang="en-US" sz="1600" dirty="0"/>
              <a:t>Allows user to make commands to the system</a:t>
            </a:r>
          </a:p>
          <a:p>
            <a:pPr lvl="1"/>
            <a:r>
              <a:rPr lang="en-US" sz="1600" dirty="0"/>
              <a:t>Divided into text based and graphical based</a:t>
            </a:r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227F271B-2B78-6DBE-D000-3625584DC2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2486586" y="1461317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752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File Management</a:t>
            </a:r>
          </a:p>
          <a:p>
            <a:pPr lvl="1"/>
            <a:r>
              <a:rPr lang="en-US" sz="1800" dirty="0"/>
              <a:t>Controls the creation, removal of files and provide directory maintenance</a:t>
            </a:r>
          </a:p>
          <a:p>
            <a:pPr lvl="1"/>
            <a:r>
              <a:rPr lang="en-US" sz="1800" dirty="0"/>
              <a:t>For a multiuser system, every user should have its own right to access files and directories</a:t>
            </a:r>
          </a:p>
          <a:p>
            <a:r>
              <a:rPr lang="en-US" sz="1800" dirty="0"/>
              <a:t>Process Management</a:t>
            </a:r>
          </a:p>
          <a:p>
            <a:pPr lvl="1"/>
            <a:r>
              <a:rPr lang="en-US" sz="1800" dirty="0"/>
              <a:t>For a multitask system, multiple programs can be executed simultaneously in the system</a:t>
            </a:r>
          </a:p>
          <a:p>
            <a:pPr lvl="1"/>
            <a:r>
              <a:rPr lang="en-US" sz="1800" dirty="0"/>
              <a:t>When a program starts to execute, it becomes a process</a:t>
            </a:r>
          </a:p>
          <a:p>
            <a:pPr lvl="1"/>
            <a:r>
              <a:rPr lang="en-US" sz="1800" dirty="0"/>
              <a:t>The same program executing at two different times will become two different processes</a:t>
            </a:r>
          </a:p>
          <a:p>
            <a:pPr lvl="1"/>
            <a:r>
              <a:rPr lang="en-US" sz="1800" dirty="0"/>
              <a:t>Kernel manages processes in terms of creating, suspending, and terminating them</a:t>
            </a:r>
          </a:p>
          <a:p>
            <a:pPr lvl="1"/>
            <a:r>
              <a:rPr lang="en-US" sz="1800" dirty="0"/>
              <a:t>A process is protected from other processes and can communicate with the others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73549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Memory management</a:t>
            </a:r>
          </a:p>
          <a:p>
            <a:pPr lvl="1"/>
            <a:r>
              <a:rPr lang="en-US" sz="2200" dirty="0"/>
              <a:t>Memory in a computer is divided into main memory (RAM) and secondary storage (usually refer to hard disk) </a:t>
            </a:r>
          </a:p>
          <a:p>
            <a:pPr lvl="1"/>
            <a:r>
              <a:rPr lang="en-US" sz="2200" dirty="0"/>
              <a:t>Memory is small in capacity but fast in speed, and hard disk is vice versa</a:t>
            </a:r>
          </a:p>
          <a:p>
            <a:pPr lvl="1"/>
            <a:r>
              <a:rPr lang="en-US" sz="2200" dirty="0"/>
              <a:t>Data that are not currently used should be saved to hard disk first, while data that are urgently needed should be retrieved and stored in RAM</a:t>
            </a:r>
          </a:p>
          <a:p>
            <a:r>
              <a:rPr lang="en-US" sz="2200" dirty="0"/>
              <a:t>Device drivers</a:t>
            </a:r>
          </a:p>
          <a:p>
            <a:pPr lvl="1"/>
            <a:r>
              <a:rPr lang="en-US" sz="2200" dirty="0"/>
              <a:t>Interfaces between the kernel and the BIOS</a:t>
            </a:r>
          </a:p>
          <a:p>
            <a:pPr lvl="1"/>
            <a:r>
              <a:rPr lang="en-US" sz="2200" dirty="0"/>
              <a:t>Different device has different driver</a:t>
            </a:r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6355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Compatibility Statement</a:t>
            </a:r>
            <a:r>
              <a:rPr lang="nl-BE" dirty="0"/>
              <a:t>	</a:t>
            </a:r>
          </a:p>
        </p:txBody>
      </p:sp>
      <p:sp>
        <p:nvSpPr>
          <p:cNvPr id="5" name="Tekstvak 4"/>
          <p:cNvSpPr txBox="1"/>
          <p:nvPr/>
        </p:nvSpPr>
        <p:spPr>
          <a:xfrm>
            <a:off x="5473084" y="0"/>
            <a:ext cx="3680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200" dirty="0">
                <a:solidFill>
                  <a:schemeClr val="tx1"/>
                </a:solidFill>
                <a:latin typeface="+mn-lt"/>
              </a:rPr>
              <a:t>Source: http://en.wikipedia.org/wiki/GNU_C_Library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19</a:t>
            </a:fld>
            <a:endParaRPr lang="nl-NL"/>
          </a:p>
        </p:txBody>
      </p:sp>
      <p:pic>
        <p:nvPicPr>
          <p:cNvPr id="7" name="Picture 2" descr="http://upload.wikimedia.org/wikipedia/commons/thumb/4/45/Linux_kernel_System_Call_Interface_and_glibc.svg/1024px-Linux_kernel_System_Call_Interface_and_glibc.svg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91253"/>
            <a:ext cx="2840657" cy="2129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jdelijke aanduiding voor inhoud 5"/>
          <p:cNvSpPr>
            <a:spLocks noGrp="1"/>
          </p:cNvSpPr>
          <p:nvPr>
            <p:ph idx="1"/>
          </p:nvPr>
        </p:nvSpPr>
        <p:spPr>
          <a:xfrm>
            <a:off x="107504" y="1340768"/>
            <a:ext cx="8889329" cy="5112568"/>
          </a:xfrm>
        </p:spPr>
        <p:txBody>
          <a:bodyPr/>
          <a:lstStyle/>
          <a:p>
            <a:r>
              <a:rPr lang="en-US" altLang="nl-BE" sz="1800" b="1" dirty="0"/>
              <a:t>Definition of the OS version</a:t>
            </a:r>
          </a:p>
          <a:p>
            <a:pPr marL="359637" lvl="1" indent="0">
              <a:buNone/>
            </a:pPr>
            <a:r>
              <a:rPr lang="en-US" altLang="nl-BE" sz="1800" dirty="0"/>
              <a:t>Kernel + GNU Tools</a:t>
            </a:r>
          </a:p>
          <a:p>
            <a:pPr lvl="1"/>
            <a:r>
              <a:rPr lang="en-US" altLang="nl-BE" sz="1800" dirty="0"/>
              <a:t>Kernel version (</a:t>
            </a:r>
            <a:r>
              <a:rPr lang="pl-PL" altLang="nl-BE" sz="1800" dirty="0"/>
              <a:t>i</a:t>
            </a:r>
            <a:r>
              <a:rPr lang="en-US" altLang="nl-BE" sz="1800" dirty="0"/>
              <a:t>.e. kernel 5.19.7)</a:t>
            </a:r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(</a:t>
            </a:r>
            <a:r>
              <a:rPr lang="pl-PL" altLang="nl-BE" sz="1800" dirty="0"/>
              <a:t>i</a:t>
            </a:r>
            <a:r>
              <a:rPr lang="en-US" altLang="nl-BE" sz="1800" dirty="0"/>
              <a:t>.e. GNU </a:t>
            </a:r>
            <a:r>
              <a:rPr lang="en-US" altLang="nl-BE" sz="1800" dirty="0" err="1"/>
              <a:t>libc</a:t>
            </a:r>
            <a:r>
              <a:rPr lang="en-US" altLang="nl-BE" sz="1800" dirty="0"/>
              <a:t> 2.36) </a:t>
            </a:r>
          </a:p>
          <a:p>
            <a:pPr marL="359637" lvl="1" indent="0">
              <a:buNone/>
            </a:pPr>
            <a:endParaRPr lang="en-US" altLang="nl-BE" sz="1800" dirty="0"/>
          </a:p>
          <a:p>
            <a:r>
              <a:rPr lang="en-US" altLang="nl-BE" sz="1800" b="1" dirty="0"/>
              <a:t>Determining the OS Version</a:t>
            </a:r>
          </a:p>
          <a:p>
            <a:pPr lvl="1"/>
            <a:r>
              <a:rPr lang="pl-PL" altLang="nl-BE" sz="1800" dirty="0"/>
              <a:t>System distribution </a:t>
            </a:r>
            <a:r>
              <a:rPr lang="en-US" altLang="nl-BE" sz="1800" dirty="0"/>
              <a:t>		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uname –a</a:t>
            </a:r>
            <a:endParaRPr lang="en-US" altLang="nl-BE" sz="1800" dirty="0"/>
          </a:p>
          <a:p>
            <a:pPr lvl="1"/>
            <a:r>
              <a:rPr lang="en-US" altLang="nl-BE" sz="1800" dirty="0"/>
              <a:t>Kernel version 		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uname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–r</a:t>
            </a:r>
            <a:endParaRPr lang="pl-PL" altLang="nl-BE" sz="1800" dirty="0"/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		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ldd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en-US" altLang="nl-BE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59637" lvl="1" indent="0">
              <a:buNone/>
            </a:pPr>
            <a:endParaRPr lang="pl-PL" altLang="nl-BE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nl-BE" sz="1800" b="1" dirty="0"/>
              <a:t>Determining the OS </a:t>
            </a:r>
            <a:r>
              <a:rPr lang="pl-PL" altLang="nl-BE" sz="1800" b="1" dirty="0"/>
              <a:t>F</a:t>
            </a:r>
            <a:r>
              <a:rPr lang="en-US" altLang="nl-BE" sz="1800" b="1" dirty="0"/>
              <a:t>l</a:t>
            </a:r>
            <a:r>
              <a:rPr lang="pl-PL" altLang="nl-BE" sz="1800" b="1" dirty="0" err="1"/>
              <a:t>avor</a:t>
            </a:r>
            <a:r>
              <a:rPr lang="pl-PL" altLang="nl-BE" sz="1800" b="1" dirty="0"/>
              <a:t>/</a:t>
            </a:r>
            <a:r>
              <a:rPr lang="pl-PL" altLang="nl-BE" sz="1800" b="1" dirty="0" err="1"/>
              <a:t>release</a:t>
            </a:r>
            <a:endParaRPr lang="pl-PL" altLang="nl-BE" sz="1800" b="1" dirty="0"/>
          </a:p>
          <a:p>
            <a:pPr lvl="1"/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cat /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/*-release</a:t>
            </a:r>
          </a:p>
          <a:p>
            <a:pPr lvl="1"/>
            <a:endParaRPr lang="en-US" altLang="nl-BE" sz="1800" b="1" dirty="0"/>
          </a:p>
          <a:p>
            <a:pPr lvl="1"/>
            <a:endParaRPr lang="en-US" altLang="nl-BE" sz="1800" dirty="0"/>
          </a:p>
          <a:p>
            <a:endParaRPr lang="nl-BE" sz="1800" dirty="0"/>
          </a:p>
        </p:txBody>
      </p:sp>
    </p:spTree>
    <p:extLst>
      <p:ext uri="{BB962C8B-B14F-4D97-AF65-F5344CB8AC3E}">
        <p14:creationId xmlns:p14="http://schemas.microsoft.com/office/powerpoint/2010/main" val="1197401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altLang="nl-BE" dirty="0"/>
              <a:t>User login</a:t>
            </a:r>
            <a:r>
              <a:rPr lang="nl-BE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jdelijke aanduiding voor inhoud 5"/>
          <p:cNvSpPr>
            <a:spLocks noGrp="1"/>
          </p:cNvSpPr>
          <p:nvPr>
            <p:ph idx="1"/>
          </p:nvPr>
        </p:nvSpPr>
        <p:spPr>
          <a:xfrm>
            <a:off x="539552" y="1408024"/>
            <a:ext cx="8280920" cy="2885072"/>
          </a:xfrm>
        </p:spPr>
        <p:txBody>
          <a:bodyPr/>
          <a:lstStyle/>
          <a:p>
            <a:r>
              <a:rPr lang="en-US" altLang="nl-BE" sz="2000" dirty="0"/>
              <a:t>Linux is a multiuser OS </a:t>
            </a:r>
            <a:r>
              <a:rPr lang="pl-PL" altLang="nl-BE" sz="2000" dirty="0"/>
              <a:t>,</a:t>
            </a:r>
            <a:endParaRPr lang="en-US" altLang="nl-BE" sz="2000" dirty="0"/>
          </a:p>
          <a:p>
            <a:r>
              <a:rPr lang="en-US" altLang="nl-BE" sz="2000" dirty="0"/>
              <a:t>Allows multiple users to use the resource of a computer at the same time</a:t>
            </a:r>
          </a:p>
          <a:p>
            <a:r>
              <a:rPr lang="en-US" altLang="nl-BE" sz="2000" dirty="0"/>
              <a:t>Every user needs to login the system with the password provided to identify their right in using the resource</a:t>
            </a:r>
          </a:p>
          <a:p>
            <a:r>
              <a:rPr lang="en-US" altLang="nl-BE" sz="2000" dirty="0"/>
              <a:t>Requires for both client-server based system or desktop</a:t>
            </a:r>
          </a:p>
          <a:p>
            <a:endParaRPr lang="nl-BE" sz="2000" dirty="0"/>
          </a:p>
        </p:txBody>
      </p:sp>
      <p:grpSp>
        <p:nvGrpSpPr>
          <p:cNvPr id="3" name="Groep 2"/>
          <p:cNvGrpSpPr>
            <a:grpSpLocks noChangeAspect="1"/>
          </p:cNvGrpSpPr>
          <p:nvPr/>
        </p:nvGrpSpPr>
        <p:grpSpPr>
          <a:xfrm>
            <a:off x="5364088" y="4205017"/>
            <a:ext cx="3600400" cy="1604750"/>
            <a:chOff x="512366" y="3717031"/>
            <a:chExt cx="5556250" cy="2476501"/>
          </a:xfrm>
        </p:grpSpPr>
        <p:pic>
          <p:nvPicPr>
            <p:cNvPr id="8" name="Picture 9" descr="Server-based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3717032"/>
              <a:ext cx="4953000" cy="2476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 Box 10"/>
            <p:cNvSpPr txBox="1">
              <a:spLocks noChangeArrowheads="1"/>
            </p:cNvSpPr>
            <p:nvPr/>
          </p:nvSpPr>
          <p:spPr bwMode="auto">
            <a:xfrm>
              <a:off x="512366" y="3717031"/>
              <a:ext cx="1444625" cy="9974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Linux Server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0577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Traditional Linux (Unix also) uses command-driven interface (or text-based interface)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User needs to type lines of command to instruct the computer to work, similar to DOS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Advantage: fast in speed. Very few resource is required for its implementation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Disadvantages: user needs to type, hence can easily make error. Besides, user needs to memorize all commands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Suitable for expert users and for the systems that interaction with user is not frequent, such as servers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2787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lnSpc>
                <a:spcPct val="90000"/>
              </a:lnSpc>
              <a:spcBef>
                <a:spcPct val="40000"/>
              </a:spcBef>
              <a:buClr>
                <a:schemeClr val="tx1"/>
              </a:buClr>
              <a:buSzPct val="75000"/>
              <a:buNone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By adopting the X-Window technology, graphical user interface (GUI) is available for Linux: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Uses pointing devices (e.g. mouse) to control the system, similar to Microsoft’s Windows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Provide menu-driven and/or icon-driven interfaces</a:t>
            </a:r>
          </a:p>
          <a:p>
            <a:pPr lvl="2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dirty="0">
                <a:latin typeface="Arial" panose="020B0604020202020204" pitchFamily="34" charset="0"/>
                <a:ea typeface="新細明體" panose="02020500000000000000" pitchFamily="18" charset="-120"/>
              </a:rPr>
              <a:t>menu-driven: user is provided with a menu of choices. Each choice refers to a particular task</a:t>
            </a:r>
          </a:p>
          <a:p>
            <a:pPr lvl="2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dirty="0">
                <a:latin typeface="Arial" panose="020B0604020202020204" pitchFamily="34" charset="0"/>
                <a:ea typeface="新細明體" panose="02020500000000000000" pitchFamily="18" charset="-120"/>
              </a:rPr>
              <a:t>icon-driven: tasks are represented by pictures (icon) and shown to user. Click on an icon invokes one task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Advantages: No need to memorize commands. Always select task from menus or icons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Disadvantages: Slow and require certain resource for its implementation   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Suitable for general users and systems, such as PC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3080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23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92" y="1208004"/>
            <a:ext cx="8766496" cy="471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985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560" y="1440000"/>
            <a:ext cx="4428926" cy="4678362"/>
          </a:xfrm>
        </p:spPr>
        <p:txBody>
          <a:bodyPr/>
          <a:lstStyle/>
          <a:p>
            <a:r>
              <a:rPr lang="en-US" sz="2200" dirty="0"/>
              <a:t>Text mode</a:t>
            </a:r>
          </a:p>
          <a:p>
            <a:r>
              <a:rPr lang="en-US" sz="2200" dirty="0"/>
              <a:t>Provides a way to control the computer via the keyboard.</a:t>
            </a:r>
          </a:p>
          <a:p>
            <a:r>
              <a:rPr lang="en-US" sz="2200" dirty="0"/>
              <a:t>Is common use on HPC</a:t>
            </a:r>
          </a:p>
          <a:p>
            <a:r>
              <a:rPr lang="en-US" sz="2200" dirty="0"/>
              <a:t>Is somewhat archaic, but very powerful. </a:t>
            </a:r>
          </a:p>
          <a:p>
            <a:r>
              <a:rPr lang="en-US" sz="2200" dirty="0"/>
              <a:t>Can be much quicker than a GUI.</a:t>
            </a:r>
          </a:p>
          <a:p>
            <a:r>
              <a:rPr lang="en-US" sz="2200" dirty="0"/>
              <a:t>Implicitly assumes that you know what you are doing</a:t>
            </a:r>
          </a:p>
          <a:p>
            <a:r>
              <a:rPr lang="en-US" sz="2200" dirty="0"/>
              <a:t>Don't be scared!</a:t>
            </a:r>
            <a:endParaRPr lang="pl-PL" sz="2200" dirty="0"/>
          </a:p>
          <a:p>
            <a:r>
              <a:rPr lang="pl-PL" sz="2200" dirty="0" err="1">
                <a:solidFill>
                  <a:srgbClr val="FF0000"/>
                </a:solidFill>
              </a:rPr>
              <a:t>If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anything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goes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wrong</a:t>
            </a:r>
            <a:r>
              <a:rPr lang="pl-PL" sz="2200" dirty="0">
                <a:solidFill>
                  <a:srgbClr val="FF0000"/>
                </a:solidFill>
              </a:rPr>
              <a:t>, </a:t>
            </a:r>
            <a:r>
              <a:rPr lang="pl-PL" sz="2200" dirty="0" err="1">
                <a:solidFill>
                  <a:srgbClr val="FF0000"/>
                </a:solidFill>
              </a:rPr>
              <a:t>you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can</a:t>
            </a:r>
            <a:r>
              <a:rPr lang="pl-PL" sz="2200" dirty="0">
                <a:solidFill>
                  <a:srgbClr val="FF0000"/>
                </a:solidFill>
              </a:rPr>
              <a:t> stop the </a:t>
            </a:r>
            <a:r>
              <a:rPr lang="pl-PL" sz="2200" dirty="0" err="1">
                <a:solidFill>
                  <a:srgbClr val="FF0000"/>
                </a:solidFill>
              </a:rPr>
              <a:t>command</a:t>
            </a:r>
            <a:r>
              <a:rPr lang="pl-PL" sz="2200" dirty="0">
                <a:solidFill>
                  <a:srgbClr val="FF0000"/>
                </a:solidFill>
              </a:rPr>
              <a:t> with </a:t>
            </a:r>
            <a:r>
              <a:rPr lang="pl-PL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Ctrl+C</a:t>
            </a:r>
            <a:endParaRPr lang="en-US" sz="2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292" y="1484784"/>
            <a:ext cx="4065793" cy="4669501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24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DE22533A-8D75-C052-2104-EA8F54111B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84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te</a:t>
            </a:r>
            <a:r>
              <a:rPr lang="pl-PL" dirty="0"/>
              <a:t>x</a:t>
            </a:r>
            <a:r>
              <a:rPr lang="nl-BE" dirty="0"/>
              <a:t>t </a:t>
            </a:r>
            <a:r>
              <a:rPr lang="nl-BE" dirty="0" err="1"/>
              <a:t>based</a:t>
            </a:r>
            <a:r>
              <a:rPr lang="nl-BE" dirty="0"/>
              <a:t> interface: 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7920000" cy="2781088"/>
          </a:xfrm>
        </p:spPr>
        <p:txBody>
          <a:bodyPr/>
          <a:lstStyle/>
          <a:p>
            <a:r>
              <a:rPr lang="en-US" dirty="0"/>
              <a:t>Is the command line interpreter: a program that accepts input from a user (e.g. a command) and performs the requested task. </a:t>
            </a:r>
          </a:p>
          <a:p>
            <a:r>
              <a:rPr lang="en-US" dirty="0"/>
              <a:t>The shell's prompt identifies the type of shell being used. There are two basic types of shell prompts: </a:t>
            </a:r>
          </a:p>
          <a:p>
            <a:pPr lvl="1"/>
            <a:r>
              <a:rPr lang="en-US" b="1" dirty="0"/>
              <a:t>$ </a:t>
            </a:r>
            <a:r>
              <a:rPr lang="en-US" dirty="0"/>
              <a:t>Normal user shell (may also be </a:t>
            </a:r>
            <a:r>
              <a:rPr lang="en-US" b="1" dirty="0"/>
              <a:t>% </a:t>
            </a:r>
            <a:r>
              <a:rPr lang="en-US" dirty="0"/>
              <a:t>or </a:t>
            </a:r>
            <a:r>
              <a:rPr lang="en-US" b="1" dirty="0"/>
              <a:t>&gt; </a:t>
            </a:r>
            <a:r>
              <a:rPr lang="en-US" dirty="0"/>
              <a:t>on some systems) </a:t>
            </a:r>
            <a:endParaRPr lang="pl-PL" dirty="0"/>
          </a:p>
          <a:p>
            <a:pPr lvl="1"/>
            <a:r>
              <a:rPr lang="nl-BE" b="1" dirty="0"/>
              <a:t># </a:t>
            </a:r>
            <a:r>
              <a:rPr lang="nl-BE" dirty="0"/>
              <a:t>Root user shell </a:t>
            </a:r>
            <a:r>
              <a:rPr lang="pl-PL" dirty="0"/>
              <a:t>(login as root or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su</a:t>
            </a:r>
            <a:r>
              <a:rPr lang="pl-PL" dirty="0"/>
              <a:t>)</a:t>
            </a:r>
            <a:endParaRPr lang="nl-BE" dirty="0"/>
          </a:p>
          <a:p>
            <a:endParaRPr lang="en-US" altLang="zh-TW" dirty="0">
              <a:latin typeface="Arial" panose="020B0604020202020204" pitchFamily="34" charset="0"/>
              <a:ea typeface="新細明體" panose="02020500000000000000" pitchFamily="18" charset="-120"/>
            </a:endParaRPr>
          </a:p>
          <a:p>
            <a:endParaRPr lang="en-US" altLang="zh-TW" dirty="0">
              <a:latin typeface="Arial" panose="020B0604020202020204" pitchFamily="34" charset="0"/>
              <a:ea typeface="新細明體" panose="02020500000000000000" pitchFamily="18" charset="-120"/>
            </a:endParaRPr>
          </a:p>
          <a:p>
            <a:pPr marL="0" indent="0">
              <a:buNone/>
            </a:pPr>
            <a:r>
              <a:rPr lang="nl-BE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483C216-96DE-1323-FAF7-74F01CF24EE9}"/>
              </a:ext>
            </a:extLst>
          </p:cNvPr>
          <p:cNvSpPr/>
          <p:nvPr/>
        </p:nvSpPr>
        <p:spPr>
          <a:xfrm>
            <a:off x="475544" y="5013176"/>
            <a:ext cx="6480720" cy="1440160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000" b="1" dirty="0">
                <a:solidFill>
                  <a:srgbClr val="00407A"/>
                </a:solidFill>
              </a:rPr>
              <a:t>Warning:</a:t>
            </a:r>
            <a:r>
              <a:rPr lang="en-US" sz="2000" dirty="0">
                <a:solidFill>
                  <a:srgbClr val="00407A"/>
                </a:solidFill>
              </a:rPr>
              <a:t> The root user can do anything on Linux systems. It is important to know when you are working as root to prevent accidental damage to your system.</a:t>
            </a:r>
            <a:br>
              <a:rPr lang="en-US" sz="2000" dirty="0">
                <a:solidFill>
                  <a:srgbClr val="00407A"/>
                </a:solidFill>
              </a:rPr>
            </a:br>
            <a:r>
              <a:rPr lang="en-US" sz="2000" b="1" dirty="0">
                <a:solidFill>
                  <a:srgbClr val="00407A"/>
                </a:solidFill>
              </a:rPr>
              <a:t>Identify who you are with: </a:t>
            </a:r>
            <a:r>
              <a:rPr lang="pl-PL" sz="2000" b="1" dirty="0">
                <a:solidFill>
                  <a:srgbClr val="0040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whoami</a:t>
            </a:r>
            <a:endParaRPr lang="en-US" sz="2000" b="1" dirty="0">
              <a:solidFill>
                <a:srgbClr val="00407A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1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Using the root account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If you have the root password:</a:t>
            </a:r>
            <a:br>
              <a:rPr lang="en-US" dirty="0">
                <a:latin typeface="+mn-lt"/>
              </a:rPr>
            </a:b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su</a:t>
            </a:r>
            <a:r>
              <a:rPr lang="en-US" dirty="0">
                <a:latin typeface="+mn-lt"/>
              </a:rPr>
              <a:t> - (switch user)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In modern distributions, the </a:t>
            </a:r>
            <a:r>
              <a:rPr lang="en-US" dirty="0" err="1">
                <a:latin typeface="+mn-lt"/>
              </a:rPr>
              <a:t>sudo</a:t>
            </a:r>
            <a:r>
              <a:rPr lang="en-US" dirty="0">
                <a:latin typeface="+mn-lt"/>
              </a:rPr>
              <a:t> (super user do) command gives you access to some root privileges with your own user password.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Example: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mount /dev/hda4 /home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root user privileges are only needed for very specific tasks with security risks: mounting, creating device files, loading drivers, starting networking,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changing file ownership, package upgrades...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Check the prompt </a:t>
            </a:r>
            <a:r>
              <a:rPr lang="en-US" b="1" dirty="0">
                <a:solidFill>
                  <a:srgbClr val="FF0000"/>
                </a:solidFill>
                <a:latin typeface="+mn-lt"/>
              </a:rPr>
              <a:t>#</a:t>
            </a:r>
          </a:p>
          <a:p>
            <a:pPr marL="108000" indent="0">
              <a:buNone/>
            </a:pPr>
            <a:endParaRPr lang="en-US" dirty="0">
              <a:latin typeface="+mn-lt"/>
            </a:endParaRPr>
          </a:p>
          <a:p>
            <a:pPr>
              <a:buFont typeface="Arial" pitchFamily="34" charset="0"/>
              <a:buChar char="•"/>
            </a:pP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016977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Most </a:t>
            </a:r>
            <a:r>
              <a:rPr lang="nl-BE" dirty="0" err="1"/>
              <a:t>popular</a:t>
            </a:r>
            <a:r>
              <a:rPr lang="nl-BE" dirty="0"/>
              <a:t> shells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0" y="1340768"/>
            <a:ext cx="7920000" cy="4678362"/>
          </a:xfrm>
        </p:spPr>
        <p:txBody>
          <a:bodyPr/>
          <a:lstStyle/>
          <a:p>
            <a:r>
              <a:rPr lang="en-US" dirty="0"/>
              <a:t>There are several types of shells for Linux.</a:t>
            </a:r>
          </a:p>
          <a:p>
            <a:r>
              <a:rPr lang="en-US" dirty="0"/>
              <a:t>Check it with: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 echo $SHELL</a:t>
            </a:r>
            <a:r>
              <a:rPr lang="en-US" dirty="0"/>
              <a:t> </a:t>
            </a:r>
          </a:p>
          <a:p>
            <a:endParaRPr lang="en-US" b="1" dirty="0"/>
          </a:p>
          <a:p>
            <a:pPr marL="0" indent="0">
              <a:buNone/>
            </a:pPr>
            <a:endParaRPr lang="nl-BE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968288"/>
              </p:ext>
            </p:extLst>
          </p:nvPr>
        </p:nvGraphicFramePr>
        <p:xfrm>
          <a:off x="540000" y="2373869"/>
          <a:ext cx="6480720" cy="3906029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943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9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17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5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309">
                <a:tc>
                  <a:txBody>
                    <a:bodyPr/>
                    <a:lstStyle/>
                    <a:p>
                      <a:r>
                        <a:rPr lang="nl-BE" dirty="0"/>
                        <a:t>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Note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/>
                        <a:t>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Bourne</a:t>
                      </a:r>
                      <a:r>
                        <a:rPr lang="nl-BE" dirty="0"/>
                        <a:t>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some Unix systems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7892">
                <a:tc>
                  <a:txBody>
                    <a:bodyPr/>
                    <a:lstStyle/>
                    <a:p>
                      <a:r>
                        <a:rPr lang="nl-BE" dirty="0" err="1"/>
                        <a:t>bash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Bourne</a:t>
                      </a:r>
                      <a:r>
                        <a:rPr lang="nl-BE" dirty="0"/>
                        <a:t> </a:t>
                      </a:r>
                      <a:r>
                        <a:rPr lang="nl-BE" dirty="0" err="1"/>
                        <a:t>Again</a:t>
                      </a:r>
                      <a:r>
                        <a:rPr lang="nl-BE" dirty="0"/>
                        <a:t>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Enhanced replacement for the Bourne shell Default on most Linux and Mac OS X systems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 err="1"/>
                        <a:t>csh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C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many BSD systems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 err="1"/>
                        <a:t>tcsh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TC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Enhanced replacement for the C shell 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44">
                <a:tc>
                  <a:txBody>
                    <a:bodyPr/>
                    <a:lstStyle/>
                    <a:p>
                      <a:r>
                        <a:rPr lang="nl-BE" dirty="0" err="1"/>
                        <a:t>ksh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Korn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AIX systems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50089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0517-C2E3-CBFF-D0A3-48FB2D6E3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9FF80D-1185-4DE0-A6C0-0DABBBC82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</a:t>
            </a:r>
            <a:r>
              <a:rPr lang="en-US" dirty="0"/>
              <a:t> 1</a:t>
            </a:r>
            <a:endParaRPr lang="nl-B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545262-F733-04A5-A4BE-21F3F3A3982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3946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line basics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21274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Important </a:t>
            </a:r>
            <a:r>
              <a:rPr lang="nl-BE" dirty="0" err="1"/>
              <a:t>rules</a:t>
            </a:r>
            <a:r>
              <a:rPr lang="nl-BE" dirty="0"/>
              <a:t> on the </a:t>
            </a:r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Linux systems are case (and space) sensitive. </a:t>
            </a:r>
          </a:p>
          <a:p>
            <a:pPr marL="857250" lvl="1" indent="-457200"/>
            <a:r>
              <a:rPr lang="en-US" dirty="0" err="1">
                <a:latin typeface="Courier New" pitchFamily="49" charset="0"/>
                <a:cs typeface="Courier New" pitchFamily="49" charset="0"/>
              </a:rPr>
              <a:t>MyFile</a:t>
            </a:r>
            <a:r>
              <a:rPr lang="en-US" dirty="0"/>
              <a:t> is not same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myfile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There is no "recycle bin" or "trash can" when working in the command line environment. When files are deleted on the command line, they instantly disappear forever.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should always practice new commands on a test system that is not used in a production environment. </a:t>
            </a:r>
            <a:br>
              <a:rPr lang="en-US" dirty="0"/>
            </a:br>
            <a:r>
              <a:rPr lang="en-US" dirty="0"/>
              <a:t>This minimizes the chances of an accident that can take down an important system 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607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Important </a:t>
            </a:r>
            <a:r>
              <a:rPr lang="nl-BE" dirty="0" err="1"/>
              <a:t>rules</a:t>
            </a:r>
            <a:r>
              <a:rPr lang="nl-BE" dirty="0"/>
              <a:t> on the </a:t>
            </a:r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8"/>
            <a:ext cx="8334000" cy="4887313"/>
          </a:xfrm>
        </p:spPr>
        <p:txBody>
          <a:bodyPr/>
          <a:lstStyle/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“\”</a:t>
            </a:r>
            <a:r>
              <a:rPr lang="en-US" sz="2200" dirty="0">
                <a:latin typeface="+mn-lt"/>
              </a:rPr>
              <a:t> vs.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“/”</a:t>
            </a:r>
            <a:r>
              <a:rPr lang="en-US" sz="2200" dirty="0">
                <a:latin typeface="+mn-lt"/>
              </a:rPr>
              <a:t>: </a:t>
            </a:r>
          </a:p>
          <a:p>
            <a:pPr lvl="1"/>
            <a:r>
              <a:rPr lang="en-US" sz="2200" dirty="0">
                <a:latin typeface="+mn-lt"/>
              </a:rPr>
              <a:t>In Linux, the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“/”</a:t>
            </a:r>
            <a:r>
              <a:rPr lang="en-US" sz="2200" dirty="0">
                <a:latin typeface="+mn-lt"/>
              </a:rPr>
              <a:t> is the directory separator, and the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“\”</a:t>
            </a:r>
            <a:r>
              <a:rPr lang="en-US" sz="2200" dirty="0">
                <a:latin typeface="+mn-lt"/>
              </a:rPr>
              <a:t> is an escape character. </a:t>
            </a:r>
          </a:p>
          <a:p>
            <a:pPr lvl="1"/>
            <a:r>
              <a:rPr lang="en-US" sz="2200" dirty="0">
                <a:latin typeface="+mn-lt"/>
              </a:rPr>
              <a:t>In Windows, the forward-slash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“/”</a:t>
            </a:r>
            <a:r>
              <a:rPr lang="en-US" sz="2200" dirty="0">
                <a:latin typeface="+mn-lt"/>
              </a:rPr>
              <a:t> is the command argument delimiter, while the backslash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“\”</a:t>
            </a:r>
            <a:r>
              <a:rPr lang="en-US" sz="2200" dirty="0">
                <a:latin typeface="+mn-lt"/>
              </a:rPr>
              <a:t> is a directory separator</a:t>
            </a:r>
          </a:p>
          <a:p>
            <a:r>
              <a:rPr lang="en-US" sz="2200" dirty="0">
                <a:latin typeface="+mn-lt"/>
              </a:rPr>
              <a:t>Filenames: </a:t>
            </a:r>
          </a:p>
          <a:p>
            <a:pPr lvl="1"/>
            <a:r>
              <a:rPr lang="en-US" sz="2200" dirty="0">
                <a:latin typeface="+mn-lt"/>
              </a:rPr>
              <a:t>In Linux, there is no such thing as a file extension. </a:t>
            </a:r>
            <a:br>
              <a:rPr lang="en-US" sz="2200" dirty="0">
                <a:latin typeface="+mn-lt"/>
              </a:rPr>
            </a:br>
            <a:r>
              <a:rPr lang="en-US" sz="2200" dirty="0">
                <a:latin typeface="+mn-lt"/>
              </a:rPr>
              <a:t>Periods can be placed at any part of the filename, and “extensions” may be interpreted differently by all programs, or not at all.</a:t>
            </a:r>
            <a:endParaRPr lang="nl-BE" sz="2200" dirty="0">
              <a:latin typeface="+mn-lt"/>
            </a:endParaRPr>
          </a:p>
          <a:p>
            <a:pPr lvl="1"/>
            <a:r>
              <a:rPr lang="en-US" sz="2200" dirty="0">
                <a:latin typeface="+mn-lt"/>
              </a:rPr>
              <a:t>Windows uses the “.extension” filename convention, (e.g. FILENAME.TXT).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93991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Auto-</a:t>
            </a:r>
            <a:r>
              <a:rPr lang="nl-BE" dirty="0" err="1"/>
              <a:t>Completion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8"/>
            <a:ext cx="8334000" cy="4815305"/>
          </a:xfrm>
        </p:spPr>
        <p:txBody>
          <a:bodyPr/>
          <a:lstStyle/>
          <a:p>
            <a:r>
              <a:rPr lang="en-US" dirty="0"/>
              <a:t>Have the shell automatically complete commands or file paths. </a:t>
            </a:r>
          </a:p>
          <a:p>
            <a:r>
              <a:rPr lang="en-US" dirty="0"/>
              <a:t>Activated using the </a:t>
            </a:r>
            <a:r>
              <a:rPr lang="en-US" b="1" dirty="0"/>
              <a:t>&lt;TAB&gt; </a:t>
            </a:r>
            <a:r>
              <a:rPr lang="en-US" dirty="0"/>
              <a:t>key on most systems</a:t>
            </a:r>
          </a:p>
          <a:p>
            <a:r>
              <a:rPr lang="en-US" dirty="0"/>
              <a:t>examples 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&lt;TAB&gt;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date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/en&lt;TAB&gt;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/environment 	</a:t>
            </a:r>
          </a:p>
          <a:p>
            <a:r>
              <a:rPr lang="en-US" dirty="0"/>
              <a:t>When more than one match is found, the shell will display all matching results  (use </a:t>
            </a:r>
            <a:r>
              <a:rPr lang="en-US" b="1" dirty="0"/>
              <a:t>&lt;TAB&gt; </a:t>
            </a:r>
            <a:r>
              <a:rPr lang="en-US" dirty="0"/>
              <a:t>twice)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/host&lt;TAB&gt; </a:t>
            </a:r>
            <a:r>
              <a:rPr lang="nl-BE" dirty="0"/>
              <a:t>	</a:t>
            </a:r>
          </a:p>
          <a:p>
            <a:pPr lvl="1"/>
            <a:endParaRPr lang="nl-BE" dirty="0"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65907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</a:t>
            </a:r>
            <a:r>
              <a:rPr lang="nl-BE" dirty="0" err="1"/>
              <a:t>history</a:t>
            </a:r>
            <a:r>
              <a:rPr lang="nl-BE" dirty="0"/>
              <a:t>: Arrow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Previously executed commands can be recalled by using the </a:t>
            </a:r>
            <a:r>
              <a:rPr lang="en-US" sz="2200" b="1" dirty="0"/>
              <a:t>Up Arrow </a:t>
            </a:r>
            <a:r>
              <a:rPr lang="en-US" sz="2200" dirty="0"/>
              <a:t>key on the keyboard.</a:t>
            </a:r>
          </a:p>
          <a:p>
            <a:r>
              <a:rPr lang="nl-BE" sz="2200" dirty="0"/>
              <a:t>Most Linux </a:t>
            </a:r>
            <a:r>
              <a:rPr lang="nl-BE" sz="2200" dirty="0" err="1"/>
              <a:t>distributions</a:t>
            </a:r>
            <a:r>
              <a:rPr lang="nl-BE" sz="2200" dirty="0"/>
              <a:t> </a:t>
            </a:r>
            <a:r>
              <a:rPr lang="en-US" sz="2200" dirty="0"/>
              <a:t>remember the last five hundred commands by default. </a:t>
            </a:r>
          </a:p>
          <a:p>
            <a:r>
              <a:rPr lang="en-US" sz="2200" dirty="0"/>
              <a:t>Display commands that have recently been executed </a:t>
            </a:r>
          </a:p>
          <a:p>
            <a:pPr lvl="1"/>
            <a:r>
              <a:rPr lang="en-US" sz="2200" dirty="0"/>
              <a:t>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history</a:t>
            </a:r>
            <a:r>
              <a:rPr lang="en-US" sz="2200" b="1" dirty="0"/>
              <a:t> </a:t>
            </a:r>
            <a:r>
              <a:rPr lang="en-US" sz="2200" dirty="0"/>
              <a:t>command displays a user's command line history. </a:t>
            </a:r>
          </a:p>
          <a:p>
            <a:pPr lvl="1"/>
            <a:r>
              <a:rPr lang="en-US" sz="2200" dirty="0"/>
              <a:t>You can execute a previous command using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![NUM] </a:t>
            </a:r>
            <a:r>
              <a:rPr lang="en-US" sz="2200" dirty="0"/>
              <a:t>where NUM is the line number in history you want to recall. </a:t>
            </a:r>
          </a:p>
          <a:p>
            <a:r>
              <a:rPr lang="en-US" sz="2200" dirty="0"/>
              <a:t>Your command history is stored in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~/.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bash_history</a:t>
            </a: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2200" dirty="0" err="1"/>
              <a:t>You</a:t>
            </a:r>
            <a:r>
              <a:rPr lang="nl-BE" sz="2200" dirty="0"/>
              <a:t> </a:t>
            </a:r>
            <a:r>
              <a:rPr lang="nl-BE" sz="2200" dirty="0" err="1"/>
              <a:t>can</a:t>
            </a:r>
            <a:r>
              <a:rPr lang="nl-BE" sz="2200" dirty="0"/>
              <a:t> </a:t>
            </a:r>
            <a:r>
              <a:rPr lang="nl-BE" sz="2200" dirty="0" err="1"/>
              <a:t>also</a:t>
            </a:r>
            <a:r>
              <a:rPr lang="nl-BE" sz="2200" dirty="0"/>
              <a:t> search </a:t>
            </a:r>
            <a:r>
              <a:rPr lang="nl-BE" sz="2200" dirty="0" err="1"/>
              <a:t>the</a:t>
            </a:r>
            <a:r>
              <a:rPr lang="nl-BE" sz="2200" dirty="0"/>
              <a:t> </a:t>
            </a:r>
            <a:r>
              <a:rPr lang="nl-BE" sz="2200" dirty="0" err="1"/>
              <a:t>history</a:t>
            </a:r>
            <a:r>
              <a:rPr lang="nl-BE" sz="2200" dirty="0"/>
              <a:t> </a:t>
            </a:r>
            <a:r>
              <a:rPr lang="nl-BE" sz="2200" dirty="0" err="1"/>
              <a:t>with</a:t>
            </a:r>
            <a:r>
              <a:rPr lang="nl-BE" sz="2200" dirty="0"/>
              <a:t> </a:t>
            </a:r>
            <a:r>
              <a:rPr lang="nl-BE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ctrl+R</a:t>
            </a:r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4594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</a:t>
            </a:r>
            <a:r>
              <a:rPr lang="nl-BE" dirty="0" err="1"/>
              <a:t>command</a:t>
            </a:r>
            <a:r>
              <a:rPr lang="nl-BE" dirty="0"/>
              <a:t> built-in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on most Linux commands is typically built  into the command themself</a:t>
            </a:r>
          </a:p>
          <a:p>
            <a:r>
              <a:rPr lang="en-US" dirty="0"/>
              <a:t>These flags usually look like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-h</a:t>
            </a:r>
            <a:r>
              <a:rPr lang="en-US" dirty="0"/>
              <a:t>” or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--help</a:t>
            </a:r>
            <a:r>
              <a:rPr lang="en-US" dirty="0"/>
              <a:t>”.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--help</a:t>
            </a:r>
          </a:p>
          <a:p>
            <a:pPr marL="0" indent="0">
              <a:buNone/>
            </a:pPr>
            <a:endParaRPr lang="nl-BE" dirty="0"/>
          </a:p>
          <a:p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3870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man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 source of information can be found in the online manual pages, “</a:t>
            </a:r>
            <a:r>
              <a:rPr lang="en-US" b="1" dirty="0"/>
              <a:t>man pages</a:t>
            </a:r>
            <a:r>
              <a:rPr lang="en-US" dirty="0"/>
              <a:t>” for short. </a:t>
            </a:r>
            <a:br>
              <a:rPr lang="en-US" dirty="0"/>
            </a:br>
            <a:r>
              <a:rPr lang="en-US" dirty="0"/>
              <a:t>type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man command</a:t>
            </a:r>
            <a:r>
              <a:rPr lang="en-US" dirty="0"/>
              <a:t>”.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	$ man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grep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Tips: </a:t>
            </a:r>
          </a:p>
          <a:p>
            <a:pPr lvl="1"/>
            <a:r>
              <a:rPr lang="en-US" dirty="0"/>
              <a:t>To search for a particular word (e.g. file) within a man page, type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/word</a:t>
            </a:r>
            <a:r>
              <a:rPr lang="en-US" dirty="0"/>
              <a:t>”. </a:t>
            </a:r>
          </a:p>
          <a:p>
            <a:pPr lvl="1"/>
            <a:r>
              <a:rPr lang="en-US" dirty="0"/>
              <a:t>To quit from a man page, </a:t>
            </a:r>
            <a:r>
              <a:rPr lang="nl-BE" dirty="0"/>
              <a:t>type the “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q</a:t>
            </a:r>
            <a:r>
              <a:rPr lang="nl-BE" dirty="0"/>
              <a:t>” </a:t>
            </a:r>
            <a:r>
              <a:rPr lang="nl-BE" dirty="0" err="1"/>
              <a:t>key</a:t>
            </a:r>
            <a:r>
              <a:rPr lang="nl-BE" dirty="0"/>
              <a:t>.</a:t>
            </a:r>
          </a:p>
          <a:p>
            <a:pPr lvl="1"/>
            <a:r>
              <a:rPr lang="en-US" dirty="0"/>
              <a:t>If you do not remember the name of Linux command and you know a keyword relating to the command, search the man pages with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–k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 man -k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20101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info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 pages are similar to man page, but instead of being displayed on one long scrolling screen, they are presented in shorter segments with links to other pieces of information. </a:t>
            </a:r>
          </a:p>
          <a:p>
            <a:r>
              <a:rPr lang="en-US" dirty="0"/>
              <a:t>Access with the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info</a:t>
            </a:r>
            <a:r>
              <a:rPr lang="en-US" dirty="0"/>
              <a:t>” command</a:t>
            </a:r>
            <a:br>
              <a:rPr lang="en-US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info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Tips: </a:t>
            </a:r>
          </a:p>
          <a:p>
            <a:pPr lvl="1"/>
            <a:r>
              <a:rPr lang="en-US" dirty="0"/>
              <a:t>To exit an info page, </a:t>
            </a:r>
            <a:r>
              <a:rPr lang="nl-BE" dirty="0"/>
              <a:t>type the “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q</a:t>
            </a:r>
            <a:r>
              <a:rPr lang="nl-BE" dirty="0"/>
              <a:t>” </a:t>
            </a:r>
            <a:r>
              <a:rPr lang="nl-BE" dirty="0" err="1"/>
              <a:t>key</a:t>
            </a:r>
            <a:r>
              <a:rPr lang="nl-BE" dirty="0"/>
              <a:t>.</a:t>
            </a:r>
          </a:p>
          <a:p>
            <a:pPr lvl="1"/>
            <a:r>
              <a:rPr lang="nl-BE" dirty="0"/>
              <a:t>Type “h” </a:t>
            </a:r>
            <a:r>
              <a:rPr lang="nl-BE" dirty="0" err="1"/>
              <a:t>to</a:t>
            </a:r>
            <a:r>
              <a:rPr lang="nl-BE" dirty="0"/>
              <a:t> get more help on the info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9117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has a built-in help facility available for each of the shell </a:t>
            </a:r>
            <a:r>
              <a:rPr lang="en-US" i="1" dirty="0" err="1"/>
              <a:t>builtins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help cd</a:t>
            </a:r>
            <a:r>
              <a:rPr lang="en-US" dirty="0"/>
              <a:t> 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help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pwd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whatis</a:t>
            </a:r>
            <a:r>
              <a:rPr lang="en-US" dirty="0"/>
              <a:t> displays a very brief description of a command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whatis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pwd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39774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Useful</a:t>
            </a:r>
            <a:r>
              <a:rPr lang="nl-BE" dirty="0"/>
              <a:t> </a:t>
            </a:r>
            <a:r>
              <a:rPr lang="nl-BE" dirty="0" err="1"/>
              <a:t>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Clear the contents of the current screen </a:t>
            </a:r>
            <a:br>
              <a:rPr lang="en-US" sz="2200" dirty="0"/>
            </a:b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clear</a:t>
            </a:r>
            <a:endParaRPr lang="nl-BE" sz="2200" dirty="0">
              <a:latin typeface="Courier New" pitchFamily="49" charset="0"/>
              <a:cs typeface="Courier New" pitchFamily="49" charset="0"/>
            </a:endParaRPr>
          </a:p>
          <a:p>
            <a:r>
              <a:rPr lang="pl-PL" sz="2200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logout</a:t>
            </a:r>
            <a:endParaRPr lang="nl-BE" sz="2200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sz="2200" dirty="0"/>
              <a:t>The logout</a:t>
            </a:r>
            <a:r>
              <a:rPr lang="en-US" sz="2200" b="1" dirty="0"/>
              <a:t> </a:t>
            </a:r>
            <a:r>
              <a:rPr lang="en-US" sz="2200" dirty="0"/>
              <a:t>command logs your account out of the system</a:t>
            </a:r>
            <a:r>
              <a:rPr lang="pl-PL" sz="2200" dirty="0"/>
              <a:t> (in a text mode)</a:t>
            </a:r>
            <a:r>
              <a:rPr lang="en-US" sz="2200" dirty="0"/>
              <a:t>. </a:t>
            </a:r>
          </a:p>
          <a:p>
            <a:pPr lvl="1"/>
            <a:r>
              <a:rPr lang="en-US" sz="2200" dirty="0"/>
              <a:t>This will end your terminal session and return to the login screen. </a:t>
            </a:r>
          </a:p>
          <a:p>
            <a:pPr lvl="1"/>
            <a:r>
              <a:rPr lang="en-US" sz="2200" dirty="0"/>
              <a:t>Some systems may have a file called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.logout </a:t>
            </a:r>
            <a:r>
              <a:rPr lang="en-US" sz="2200" dirty="0"/>
              <a:t>or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bash_logout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200" dirty="0"/>
              <a:t>in each user's home directory. </a:t>
            </a:r>
            <a:endParaRPr lang="nl-BE" sz="2200" dirty="0"/>
          </a:p>
          <a:p>
            <a:r>
              <a:rPr lang="pl-PL" sz="2200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200" dirty="0">
                <a:latin typeface="Courier New" pitchFamily="49" charset="0"/>
                <a:cs typeface="Courier New" pitchFamily="49" charset="0"/>
              </a:rPr>
              <a:t>exit</a:t>
            </a:r>
          </a:p>
          <a:p>
            <a:pPr lvl="1"/>
            <a:r>
              <a:rPr lang="nl-BE" sz="2200" dirty="0">
                <a:cs typeface="Courier New" pitchFamily="49" charset="0"/>
              </a:rPr>
              <a:t>Exit </a:t>
            </a:r>
            <a:r>
              <a:rPr lang="nl-BE" sz="2200" dirty="0"/>
              <a:t>the </a:t>
            </a:r>
            <a:r>
              <a:rPr lang="nl-BE" sz="2200" dirty="0" err="1"/>
              <a:t>current</a:t>
            </a:r>
            <a:r>
              <a:rPr lang="nl-BE" sz="2200" dirty="0"/>
              <a:t> shell. </a:t>
            </a:r>
            <a:r>
              <a:rPr lang="en-US" sz="2200" dirty="0"/>
              <a:t>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exit</a:t>
            </a:r>
            <a:r>
              <a:rPr lang="en-US" sz="2200" b="1" dirty="0"/>
              <a:t> </a:t>
            </a:r>
            <a:r>
              <a:rPr lang="en-US" sz="2200" dirty="0"/>
              <a:t>command is similar to 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logout</a:t>
            </a:r>
            <a:r>
              <a:rPr lang="en-US" sz="2200" b="1" dirty="0"/>
              <a:t> </a:t>
            </a:r>
            <a:r>
              <a:rPr lang="en-US" sz="2200" dirty="0"/>
              <a:t>command with the exception that it does not run the logout script located in the user's home directory. </a:t>
            </a:r>
            <a:endParaRPr lang="nl-BE" sz="2200" dirty="0"/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19446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Standard output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All the commands outputting text on your terminal do it by writing to the </a:t>
            </a:r>
            <a:r>
              <a:rPr lang="en-US" b="1" dirty="0">
                <a:latin typeface="+mn-lt"/>
              </a:rPr>
              <a:t>standard output</a:t>
            </a:r>
            <a:r>
              <a:rPr lang="en-US" dirty="0">
                <a:latin typeface="+mn-lt"/>
              </a:rPr>
              <a:t>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This is where the normal output from a program goes. 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Standard output can be written (</a:t>
            </a:r>
            <a:r>
              <a:rPr lang="en-US" b="1" dirty="0">
                <a:latin typeface="+mn-lt"/>
              </a:rPr>
              <a:t>redirected</a:t>
            </a:r>
            <a:r>
              <a:rPr lang="en-US" dirty="0">
                <a:latin typeface="+mn-lt"/>
              </a:rPr>
              <a:t>) to a file using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>
                <a:latin typeface="+mn-lt"/>
              </a:rPr>
              <a:t> symbol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ls &gt;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/list.txt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date &gt; date.txt	</a:t>
            </a:r>
            <a:r>
              <a:rPr lang="en-US" dirty="0">
                <a:latin typeface="+mj-lt"/>
                <a:cs typeface="Courier New" pitchFamily="49" charset="0"/>
              </a:rPr>
              <a:t>(writes date info to date.txt)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Standard output can be </a:t>
            </a:r>
            <a:r>
              <a:rPr lang="en-US" b="1" dirty="0">
                <a:latin typeface="+mn-lt"/>
              </a:rPr>
              <a:t>appended</a:t>
            </a:r>
            <a:r>
              <a:rPr lang="en-US" dirty="0">
                <a:latin typeface="+mn-lt"/>
              </a:rPr>
              <a:t> to an existing file using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dirty="0">
                <a:latin typeface="+mn-lt"/>
              </a:rPr>
              <a:t> symbol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ls &gt;&gt;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/list.txt</a:t>
            </a:r>
          </a:p>
          <a:p>
            <a:pPr>
              <a:buSzPct val="100000"/>
              <a:buFont typeface="Arial" pitchFamily="34" charset="0"/>
              <a:buChar char="•"/>
            </a:pPr>
            <a:endParaRPr lang="en-US" dirty="0">
              <a:latin typeface="+mn-lt"/>
            </a:endParaRPr>
          </a:p>
          <a:p>
            <a:pPr>
              <a:buSzPct val="100000"/>
              <a:buFont typeface="Arial" pitchFamily="34" charset="0"/>
              <a:buChar char="•"/>
            </a:pPr>
            <a:endParaRPr lang="en-US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9626702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8173342" cy="4678362"/>
          </a:xfrm>
        </p:spPr>
        <p:txBody>
          <a:bodyPr/>
          <a:lstStyle/>
          <a:p>
            <a:r>
              <a:rPr lang="en-US" dirty="0"/>
              <a:t>There are two different types of output: </a:t>
            </a:r>
          </a:p>
          <a:p>
            <a:pPr lvl="1"/>
            <a:r>
              <a:rPr lang="nl-BE" dirty="0"/>
              <a:t>1. Standard output (STDOUT) </a:t>
            </a:r>
          </a:p>
          <a:p>
            <a:pPr lvl="1"/>
            <a:r>
              <a:rPr lang="nl-BE" dirty="0"/>
              <a:t>2. Error output (STDERR) </a:t>
            </a:r>
          </a:p>
          <a:p>
            <a:pPr lvl="1"/>
            <a:endParaRPr lang="nl-BE" dirty="0"/>
          </a:p>
          <a:p>
            <a:pPr marL="0" indent="0">
              <a:buNone/>
            </a:pP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NonExi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File 1&gt;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ls.out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2&gt;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ls.err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0" indent="0">
              <a:buNone/>
            </a:pP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* 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cat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.out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cat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.err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ls: cannot access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NonExistFile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 No such file or directory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lvl="1" indent="0">
              <a:buNone/>
            </a:pP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40</a:t>
            </a:fld>
            <a:endParaRPr lang="nl-NL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17D63634-07E4-5B6C-1CF5-5B18CD01FB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r>
              <a:rPr lang="nl-BE" dirty="0"/>
              <a:t>Standard output</a:t>
            </a:r>
          </a:p>
        </p:txBody>
      </p:sp>
    </p:spTree>
    <p:extLst>
      <p:ext uri="{BB962C8B-B14F-4D97-AF65-F5344CB8AC3E}">
        <p14:creationId xmlns:p14="http://schemas.microsoft.com/office/powerpoint/2010/main" val="12749094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addition to </a:t>
            </a:r>
            <a:r>
              <a:rPr lang="en-US" i="1" dirty="0"/>
              <a:t>STDOUT </a:t>
            </a:r>
            <a:r>
              <a:rPr lang="en-US" dirty="0"/>
              <a:t>and </a:t>
            </a:r>
            <a:r>
              <a:rPr lang="en-US" i="1" dirty="0"/>
              <a:t>STDERR </a:t>
            </a:r>
            <a:r>
              <a:rPr lang="en-US" dirty="0"/>
              <a:t>you can also redirect input from another location (such as a file) to a command. This is known as standard input or </a:t>
            </a:r>
            <a:r>
              <a:rPr lang="en-US" i="1" dirty="0"/>
              <a:t>STDIN</a:t>
            </a:r>
            <a:r>
              <a:rPr lang="en-US" dirty="0"/>
              <a:t>.</a:t>
            </a:r>
          </a:p>
          <a:p>
            <a:r>
              <a:rPr lang="en-US" dirty="0"/>
              <a:t>the source of input data for command line programs</a:t>
            </a:r>
          </a:p>
          <a:p>
            <a:r>
              <a:rPr lang="en-US" dirty="0"/>
              <a:t>STDIN: usually keyboard</a:t>
            </a:r>
          </a:p>
          <a:p>
            <a:r>
              <a:rPr lang="en-US" dirty="0"/>
              <a:t>redirect also possible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&lt; tabel.dat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41</a:t>
            </a:fld>
            <a:endParaRPr lang="nl-NL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6DE92786-6D27-4429-4B6B-94092A2934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r>
              <a:rPr lang="nl-BE" dirty="0"/>
              <a:t>Standard input</a:t>
            </a:r>
          </a:p>
        </p:txBody>
      </p:sp>
    </p:spTree>
    <p:extLst>
      <p:ext uri="{BB962C8B-B14F-4D97-AF65-F5344CB8AC3E}">
        <p14:creationId xmlns:p14="http://schemas.microsoft.com/office/powerpoint/2010/main" val="29859034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Pipes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Pipes (also referred to as pipelines) can be used to direct the output of one command to the input of another. </a:t>
            </a:r>
            <a:br>
              <a:rPr lang="en-US" dirty="0"/>
            </a:br>
            <a:r>
              <a:rPr lang="en-US" dirty="0"/>
              <a:t>The Shell arranges it so that the standard output of one command is fed to another command</a:t>
            </a:r>
          </a:p>
          <a:p>
            <a:r>
              <a:rPr lang="en-US" dirty="0"/>
              <a:t>use the </a:t>
            </a:r>
            <a:r>
              <a:rPr lang="en-US" b="1" dirty="0"/>
              <a:t>| </a:t>
            </a:r>
            <a:r>
              <a:rPr lang="en-US" dirty="0"/>
              <a:t>key on the keyboard</a:t>
            </a:r>
            <a:endParaRPr lang="nl-BE" dirty="0"/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>
                <a:latin typeface="+mj-lt"/>
                <a:cs typeface="Courier New" pitchFamily="49" charset="0"/>
              </a:rPr>
              <a:t>sorts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 err="1">
                <a:latin typeface="+mj-lt"/>
                <a:cs typeface="Courier New" pitchFamily="49" charset="0"/>
              </a:rPr>
              <a:t>ls</a:t>
            </a:r>
            <a:r>
              <a:rPr lang="nl-BE" dirty="0">
                <a:latin typeface="+mj-lt"/>
                <a:cs typeface="Courier New" pitchFamily="49" charset="0"/>
              </a:rPr>
              <a:t> output </a:t>
            </a:r>
            <a:r>
              <a:rPr lang="nl-BE" dirty="0" err="1">
                <a:latin typeface="+mj-lt"/>
                <a:cs typeface="Courier New" pitchFamily="49" charset="0"/>
              </a:rPr>
              <a:t>alphabetically</a:t>
            </a:r>
            <a:br>
              <a:rPr lang="nl-BE" b="1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+mn-lt"/>
                <a:cs typeface="Courier New" pitchFamily="49" charset="0"/>
              </a:rPr>
              <a:t>(</a:t>
            </a:r>
            <a:r>
              <a:rPr lang="nl-BE" dirty="0" err="1">
                <a:latin typeface="+mn-lt"/>
                <a:cs typeface="Courier New" pitchFamily="49" charset="0"/>
              </a:rPr>
              <a:t>c</a:t>
            </a:r>
            <a:r>
              <a:rPr lang="nl-BE" dirty="0" err="1">
                <a:latin typeface="+mj-lt"/>
                <a:cs typeface="Courier New" pitchFamily="49" charset="0"/>
              </a:rPr>
              <a:t>ompare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 err="1">
                <a:latin typeface="+mj-lt"/>
                <a:cs typeface="Courier New" pitchFamily="49" charset="0"/>
              </a:rPr>
              <a:t>with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&gt;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+mn-lt"/>
                <a:cs typeface="Courier New" pitchFamily="49" charset="0"/>
              </a:rPr>
              <a:t>)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42</a:t>
            </a:fld>
            <a:endParaRPr lang="nl-NL"/>
          </a:p>
        </p:txBody>
      </p:sp>
      <p:pic>
        <p:nvPicPr>
          <p:cNvPr id="3074" name="Picture 2" descr="Pipeline of Mario Bros by MoꓷElos Creaciones | Download free STL model ...">
            <a:extLst>
              <a:ext uri="{FF2B5EF4-FFF2-40B4-BE49-F238E27FC236}">
                <a16:creationId xmlns:a16="http://schemas.microsoft.com/office/drawing/2014/main" id="{F0AB49CE-C66F-4BCC-8507-46B74ACC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250" l="3942" r="96058">
                        <a14:foregroundMark x1="6569" y1="59000" x2="16642" y2="73500"/>
                        <a14:foregroundMark x1="16642" y1="73500" x2="8613" y2="63250"/>
                        <a14:foregroundMark x1="3942" y1="56750" x2="4380" y2="87250"/>
                        <a14:foregroundMark x1="51533" y1="42500" x2="69927" y2="47000"/>
                        <a14:foregroundMark x1="69927" y1="47000" x2="65109" y2="74250"/>
                        <a14:foregroundMark x1="65109" y1="74250" x2="58832" y2="54750"/>
                        <a14:foregroundMark x1="58832" y1="54750" x2="54453" y2="76500"/>
                        <a14:foregroundMark x1="54453" y1="76500" x2="66569" y2="88500"/>
                        <a14:foregroundMark x1="66569" y1="88500" x2="68467" y2="88500"/>
                        <a14:foregroundMark x1="5693" y1="51750" x2="12409" y2="52250"/>
                        <a14:foregroundMark x1="27007" y1="26250" x2="27299" y2="25750"/>
                        <a14:foregroundMark x1="26715" y1="25500" x2="26861" y2="17500"/>
                        <a14:foregroundMark x1="4088" y1="61250" x2="4234" y2="72750"/>
                        <a14:foregroundMark x1="77372" y1="73750" x2="90511" y2="75500"/>
                        <a14:foregroundMark x1="90511" y1="75500" x2="80000" y2="89500"/>
                        <a14:foregroundMark x1="80000" y1="89500" x2="78832" y2="85750"/>
                        <a14:foregroundMark x1="93577" y1="64500" x2="95620" y2="87250"/>
                        <a14:foregroundMark x1="95620" y1="87250" x2="96204" y2="68000"/>
                        <a14:foregroundMark x1="28613" y1="90250" x2="43504" y2="90000"/>
                        <a14:foregroundMark x1="43504" y1="90000" x2="47007" y2="90000"/>
                        <a14:foregroundMark x1="78978" y1="64000" x2="86131" y2="64250"/>
                        <a14:foregroundMark x1="54599" y1="38500" x2="60438" y2="38500"/>
                        <a14:foregroundMark x1="28613" y1="17000" x2="44526" y2="17750"/>
                        <a14:foregroundMark x1="96058" y1="71250" x2="94891" y2="83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4427881"/>
            <a:ext cx="3699410" cy="216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8A11123-3E90-E15D-892B-3E3CC97201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0596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Globbing</a:t>
            </a:r>
            <a:r>
              <a:rPr lang="nl-BE" dirty="0"/>
              <a:t>: </a:t>
            </a:r>
            <a:r>
              <a:rPr lang="nl-BE" dirty="0" err="1"/>
              <a:t>use</a:t>
            </a:r>
            <a:r>
              <a:rPr lang="nl-BE"/>
              <a:t> wildcard</a:t>
            </a:r>
            <a:endParaRPr lang="nl-B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719138" y="1439863"/>
          <a:ext cx="7920038" cy="33223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960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00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2400" u="none" strike="noStrike" baseline="0" dirty="0"/>
                        <a:t>Wildcard 	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2400" u="none" strike="noStrike" baseline="0" dirty="0" err="1"/>
                        <a:t>Function</a:t>
                      </a:r>
                      <a:r>
                        <a:rPr lang="nl-BE" sz="2400" u="none" strike="noStrike" baseline="0" dirty="0"/>
                        <a:t> </a:t>
                      </a:r>
                      <a:endParaRPr lang="nl-BE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0 or more characters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800" u="none" strike="noStrike" baseline="0" dirty="0"/>
                        <a:t>Matches 1 </a:t>
                      </a:r>
                      <a:r>
                        <a:rPr lang="nl-BE" sz="1800" u="none" strike="noStrike" baseline="0" dirty="0" err="1"/>
                        <a:t>character</a:t>
                      </a:r>
                      <a:r>
                        <a:rPr lang="nl-BE" sz="1800" u="none" strike="noStrike" baseline="0" dirty="0"/>
                        <a:t>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</a:t>
                      </a:r>
                      <a:r>
                        <a:rPr lang="en-US" sz="1800" u="none" strike="noStrike" baseline="0" dirty="0" err="1"/>
                        <a:t>abc</a:t>
                      </a:r>
                      <a:r>
                        <a:rPr lang="en-US" sz="1800" u="none" strike="noStrike" baseline="0" dirty="0"/>
                        <a:t>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u="none" strike="noStrike" baseline="0" dirty="0"/>
                        <a:t>Matches one of the characters listed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[a-c]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one character in the range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[!</a:t>
                      </a:r>
                      <a:r>
                        <a:rPr lang="en-US" sz="1800" u="none" strike="noStrike" baseline="0" dirty="0" err="1"/>
                        <a:t>abc</a:t>
                      </a:r>
                      <a:r>
                        <a:rPr lang="en-US" sz="1800" u="none" strike="noStrike" baseline="0" dirty="0"/>
                        <a:t>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any character not listed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[!a-c]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any character not listed in the range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{</a:t>
                      </a:r>
                      <a:r>
                        <a:rPr lang="en-US" sz="1800" u="none" strike="noStrike" baseline="0" dirty="0" err="1"/>
                        <a:t>tacos,nachos</a:t>
                      </a:r>
                      <a:r>
                        <a:rPr lang="en-US" sz="1800" u="none" strike="noStrike" baseline="0" dirty="0"/>
                        <a:t>}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one word in the list 	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55576" y="5013176"/>
            <a:ext cx="480131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/host*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/host.{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conf,allow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} 	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/host[!s]* 	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/host? 	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43</a:t>
            </a:fld>
            <a:endParaRPr lang="nl-NL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87DB6851-A4C3-2936-F93F-93CD4EAAF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9343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2987824" y="2304000"/>
            <a:ext cx="5886176" cy="1800200"/>
          </a:xfrm>
        </p:spPr>
        <p:txBody>
          <a:bodyPr/>
          <a:lstStyle/>
          <a:p>
            <a:r>
              <a:rPr lang="nl-BE" dirty="0"/>
              <a:t>The Linux file system</a:t>
            </a:r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44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74155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268760"/>
            <a:ext cx="7920000" cy="4678362"/>
          </a:xfrm>
        </p:spPr>
        <p:txBody>
          <a:bodyPr/>
          <a:lstStyle/>
          <a:p>
            <a:r>
              <a:rPr lang="en-US" sz="1800" i="1" dirty="0"/>
              <a:t>hierarchical directory structure</a:t>
            </a:r>
            <a:r>
              <a:rPr lang="en-US" sz="1800" dirty="0"/>
              <a:t>: files are organized in a tree-like pattern of directories (folders), which may contain files and other directories, etc.</a:t>
            </a:r>
          </a:p>
          <a:p>
            <a:r>
              <a:rPr lang="en-US" sz="1800" dirty="0">
                <a:ea typeface="HG Mincho Light J"/>
                <a:cs typeface="Tahoma" pitchFamily="34" charset="0"/>
              </a:rPr>
              <a:t>Everything is a file: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Regular files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Directories: files listing a set of files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Symbolic links: files referring to the name of another file</a:t>
            </a:r>
          </a:p>
          <a:p>
            <a:r>
              <a:rPr lang="en-US" sz="1800" i="1" dirty="0"/>
              <a:t>root </a:t>
            </a:r>
            <a:r>
              <a:rPr lang="en-US" sz="1800" b="1" i="1" dirty="0">
                <a:solidFill>
                  <a:schemeClr val="accent1"/>
                </a:solidFill>
              </a:rPr>
              <a:t>/</a:t>
            </a:r>
            <a:r>
              <a:rPr lang="en-US" sz="1800" i="1" dirty="0"/>
              <a:t>: th</a:t>
            </a:r>
            <a:r>
              <a:rPr lang="en-US" sz="1800" dirty="0"/>
              <a:t>e first directory in the file system. </a:t>
            </a:r>
          </a:p>
          <a:p>
            <a:r>
              <a:rPr lang="en-US" sz="1800" dirty="0"/>
              <a:t>Note: comparison with Windows, </a:t>
            </a:r>
          </a:p>
          <a:p>
            <a:pPr lvl="1"/>
            <a:r>
              <a:rPr lang="en-US" sz="1800" dirty="0"/>
              <a:t>Windows has a separate file system tree for each storage device (e.g. C-drive, D-drive, I-drive, …)</a:t>
            </a:r>
          </a:p>
          <a:p>
            <a:pPr lvl="1"/>
            <a:r>
              <a:rPr lang="en-US" sz="1800" dirty="0"/>
              <a:t>Linux has a single file system tree, regardless of how many drives or storage devices are attached to the computer. </a:t>
            </a:r>
            <a:br>
              <a:rPr lang="en-US" sz="1800" dirty="0"/>
            </a:br>
            <a:r>
              <a:rPr lang="en-US" sz="1800" dirty="0"/>
              <a:t>Storage devices are attached (or </a:t>
            </a:r>
            <a:r>
              <a:rPr lang="en-US" sz="1800" i="1" dirty="0"/>
              <a:t>mounted</a:t>
            </a:r>
            <a:r>
              <a:rPr lang="en-US" sz="1800" dirty="0"/>
              <a:t>) at various points on the tree.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79007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</a:p>
        </p:txBody>
      </p:sp>
      <p:sp>
        <p:nvSpPr>
          <p:cNvPr id="5" name="Rechthoek 4"/>
          <p:cNvSpPr/>
          <p:nvPr/>
        </p:nvSpPr>
        <p:spPr>
          <a:xfrm>
            <a:off x="323528" y="6104329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solidFill>
                  <a:schemeClr val="tx1"/>
                </a:solidFill>
              </a:rPr>
              <a:t>Source: http://linuxsuperuser07.blogspot.be/2011/09/rhel-6-file-system.html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46</a:t>
            </a:fld>
            <a:endParaRPr lang="nl-NL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3167DF4-6D55-4708-40DE-4841C871F1E6}"/>
              </a:ext>
            </a:extLst>
          </p:cNvPr>
          <p:cNvGrpSpPr/>
          <p:nvPr/>
        </p:nvGrpSpPr>
        <p:grpSpPr>
          <a:xfrm>
            <a:off x="705908" y="3176223"/>
            <a:ext cx="4616736" cy="2664056"/>
            <a:chOff x="720000" y="3168000"/>
            <a:chExt cx="4616736" cy="2664056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C9D635A-3A07-1C7C-31C3-A74E8112E71D}"/>
                </a:ext>
              </a:extLst>
            </p:cNvPr>
            <p:cNvSpPr/>
            <p:nvPr/>
          </p:nvSpPr>
          <p:spPr>
            <a:xfrm>
              <a:off x="720000" y="316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Super user home directory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24C3A4A-B358-8D51-1863-1B14D49E42EA}"/>
                </a:ext>
              </a:extLst>
            </p:cNvPr>
            <p:cNvSpPr/>
            <p:nvPr/>
          </p:nvSpPr>
          <p:spPr>
            <a:xfrm>
              <a:off x="1008000" y="388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Kernel image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D2CF0333-1C73-1B17-9AA1-4D35E7C4E1B4}"/>
                </a:ext>
              </a:extLst>
            </p:cNvPr>
            <p:cNvSpPr/>
            <p:nvPr/>
          </p:nvSpPr>
          <p:spPr>
            <a:xfrm>
              <a:off x="1296000" y="460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accent4">
                      <a:lumMod val="50000"/>
                    </a:schemeClr>
                  </a:solidFill>
                </a:rPr>
                <a:t>System configuration files</a:t>
              </a:r>
              <a:endParaRPr lang="nl-BE" sz="12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472DF476-8BEC-00E3-F8D4-96F0FEB7C6CE}"/>
                </a:ext>
              </a:extLst>
            </p:cNvPr>
            <p:cNvSpPr/>
            <p:nvPr/>
          </p:nvSpPr>
          <p:spPr>
            <a:xfrm>
              <a:off x="1584000" y="532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User home directories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001F18A-1FF2-B797-D8F0-F23B0651BBC1}"/>
                </a:ext>
              </a:extLst>
            </p:cNvPr>
            <p:cNvSpPr/>
            <p:nvPr/>
          </p:nvSpPr>
          <p:spPr>
            <a:xfrm>
              <a:off x="2960568" y="316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accent4">
                      <a:lumMod val="50000"/>
                    </a:schemeClr>
                  </a:solidFill>
                </a:rPr>
                <a:t>General purpose mount point</a:t>
              </a:r>
              <a:endParaRPr lang="nl-BE" sz="12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DDDB5C4-5560-8580-7C23-F42CEC4D0C80}"/>
                </a:ext>
              </a:extLst>
            </p:cNvPr>
            <p:cNvSpPr/>
            <p:nvPr/>
          </p:nvSpPr>
          <p:spPr>
            <a:xfrm>
              <a:off x="3248568" y="388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View of internal kernel data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37725439-F828-9B77-BB83-BCAF2CADD800}"/>
                </a:ext>
              </a:extLst>
            </p:cNvPr>
            <p:cNvSpPr/>
            <p:nvPr/>
          </p:nvSpPr>
          <p:spPr>
            <a:xfrm>
              <a:off x="3536568" y="460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Kernel view of the hardware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6E2F5729-A191-58EB-3312-090DFE90681E}"/>
                </a:ext>
              </a:extLst>
            </p:cNvPr>
            <p:cNvSpPr/>
            <p:nvPr/>
          </p:nvSpPr>
          <p:spPr>
            <a:xfrm>
              <a:off x="3824568" y="532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Special device files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</p:grp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D7EE74D-962B-24C7-4682-2EBD4574DE7C}"/>
              </a:ext>
            </a:extLst>
          </p:cNvPr>
          <p:cNvSpPr/>
          <p:nvPr/>
        </p:nvSpPr>
        <p:spPr>
          <a:xfrm>
            <a:off x="5546600" y="3526912"/>
            <a:ext cx="1187576" cy="297684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Executables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C067455E-DBF0-6C6F-6859-62F0C2480098}"/>
              </a:ext>
            </a:extLst>
          </p:cNvPr>
          <p:cNvSpPr/>
          <p:nvPr/>
        </p:nvSpPr>
        <p:spPr>
          <a:xfrm>
            <a:off x="6554624" y="3111294"/>
            <a:ext cx="914374" cy="297683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Libraries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127" name="Rectangle: Rounded Corners 5126">
            <a:extLst>
              <a:ext uri="{FF2B5EF4-FFF2-40B4-BE49-F238E27FC236}">
                <a16:creationId xmlns:a16="http://schemas.microsoft.com/office/drawing/2014/main" id="{20E90A72-0162-232B-3783-062EC2F2B2D6}"/>
              </a:ext>
            </a:extLst>
          </p:cNvPr>
          <p:cNvSpPr/>
          <p:nvPr/>
        </p:nvSpPr>
        <p:spPr>
          <a:xfrm>
            <a:off x="5827862" y="4996165"/>
            <a:ext cx="1512168" cy="504056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More Executables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128" name="Rectangle: Rounded Corners 5127">
            <a:extLst>
              <a:ext uri="{FF2B5EF4-FFF2-40B4-BE49-F238E27FC236}">
                <a16:creationId xmlns:a16="http://schemas.microsoft.com/office/drawing/2014/main" id="{F96B2D29-1EB0-88B0-ACE9-EC16A7E49DE0}"/>
              </a:ext>
            </a:extLst>
          </p:cNvPr>
          <p:cNvSpPr/>
          <p:nvPr/>
        </p:nvSpPr>
        <p:spPr>
          <a:xfrm>
            <a:off x="7512122" y="4989862"/>
            <a:ext cx="1187576" cy="504056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More Libraries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5273" name="Group 5272">
            <a:extLst>
              <a:ext uri="{FF2B5EF4-FFF2-40B4-BE49-F238E27FC236}">
                <a16:creationId xmlns:a16="http://schemas.microsoft.com/office/drawing/2014/main" id="{7035CDB8-1F05-BD82-E233-ECA5CE173B4D}"/>
              </a:ext>
            </a:extLst>
          </p:cNvPr>
          <p:cNvGrpSpPr/>
          <p:nvPr/>
        </p:nvGrpSpPr>
        <p:grpSpPr>
          <a:xfrm>
            <a:off x="1097362" y="1315810"/>
            <a:ext cx="7543038" cy="3280107"/>
            <a:chOff x="1097362" y="1315810"/>
            <a:chExt cx="7543038" cy="3280107"/>
          </a:xfrm>
        </p:grpSpPr>
        <p:grpSp>
          <p:nvGrpSpPr>
            <p:cNvPr id="5256" name="Group 5255">
              <a:extLst>
                <a:ext uri="{FF2B5EF4-FFF2-40B4-BE49-F238E27FC236}">
                  <a16:creationId xmlns:a16="http://schemas.microsoft.com/office/drawing/2014/main" id="{EC0AA81A-F9B7-0F65-4D23-DC91E69C6690}"/>
                </a:ext>
              </a:extLst>
            </p:cNvPr>
            <p:cNvGrpSpPr/>
            <p:nvPr/>
          </p:nvGrpSpPr>
          <p:grpSpPr>
            <a:xfrm>
              <a:off x="1101486" y="1315810"/>
              <a:ext cx="7256408" cy="3280107"/>
              <a:chOff x="1101486" y="1315810"/>
              <a:chExt cx="7256408" cy="3280107"/>
            </a:xfrm>
          </p:grpSpPr>
          <p:sp>
            <p:nvSpPr>
              <p:cNvPr id="5120" name="Oval 5119">
                <a:extLst>
                  <a:ext uri="{FF2B5EF4-FFF2-40B4-BE49-F238E27FC236}">
                    <a16:creationId xmlns:a16="http://schemas.microsoft.com/office/drawing/2014/main" id="{855F2CE6-D63E-FCEF-421A-A93A361DC56B}"/>
                  </a:ext>
                </a:extLst>
              </p:cNvPr>
              <p:cNvSpPr/>
              <p:nvPr/>
            </p:nvSpPr>
            <p:spPr>
              <a:xfrm>
                <a:off x="7565806" y="4154935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1" name="Oval 5120">
                <a:extLst>
                  <a:ext uri="{FF2B5EF4-FFF2-40B4-BE49-F238E27FC236}">
                    <a16:creationId xmlns:a16="http://schemas.microsoft.com/office/drawing/2014/main" id="{C1BC0B3D-8AD5-7C36-B129-AFD1276F3029}"/>
                  </a:ext>
                </a:extLst>
              </p:cNvPr>
              <p:cNvSpPr/>
              <p:nvPr/>
            </p:nvSpPr>
            <p:spPr>
              <a:xfrm>
                <a:off x="5762536" y="4163869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3" name="Oval 5122">
                <a:extLst>
                  <a:ext uri="{FF2B5EF4-FFF2-40B4-BE49-F238E27FC236}">
                    <a16:creationId xmlns:a16="http://schemas.microsoft.com/office/drawing/2014/main" id="{A75CC560-C12D-9ADF-B89B-0C7B45A40A42}"/>
                  </a:ext>
                </a:extLst>
              </p:cNvPr>
              <p:cNvSpPr/>
              <p:nvPr/>
            </p:nvSpPr>
            <p:spPr>
              <a:xfrm>
                <a:off x="6651696" y="4163869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70193018-B0CA-F4BB-0778-1E05B16E45E5}"/>
                  </a:ext>
                </a:extLst>
              </p:cNvPr>
              <p:cNvGrpSpPr/>
              <p:nvPr/>
            </p:nvGrpSpPr>
            <p:grpSpPr>
              <a:xfrm>
                <a:off x="1101486" y="1986576"/>
                <a:ext cx="6853700" cy="938368"/>
                <a:chOff x="1101486" y="1986576"/>
                <a:chExt cx="6853700" cy="938368"/>
              </a:xfrm>
            </p:grpSpPr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5816B755-3BE0-DEAD-0EA0-E56FF36B843A}"/>
                    </a:ext>
                  </a:extLst>
                </p:cNvPr>
                <p:cNvSpPr/>
                <p:nvPr/>
              </p:nvSpPr>
              <p:spPr>
                <a:xfrm>
                  <a:off x="1101486" y="1988840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981FBAF-D638-F9DF-DC33-54475A746FD8}"/>
                    </a:ext>
                  </a:extLst>
                </p:cNvPr>
                <p:cNvSpPr/>
                <p:nvPr/>
              </p:nvSpPr>
              <p:spPr>
                <a:xfrm>
                  <a:off x="2699792" y="249289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FD575BC8-96FA-A760-AD91-8A81FBD56AE4}"/>
                    </a:ext>
                  </a:extLst>
                </p:cNvPr>
                <p:cNvSpPr/>
                <p:nvPr/>
              </p:nvSpPr>
              <p:spPr>
                <a:xfrm>
                  <a:off x="2188390" y="199381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A7C9C7FB-3FBE-F616-D139-C64A128FD0C9}"/>
                    </a:ext>
                  </a:extLst>
                </p:cNvPr>
                <p:cNvSpPr/>
                <p:nvPr/>
              </p:nvSpPr>
              <p:spPr>
                <a:xfrm>
                  <a:off x="1624380" y="249176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2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89094984-F5F3-AF4A-340E-B1A3232235B2}"/>
                    </a:ext>
                  </a:extLst>
                </p:cNvPr>
                <p:cNvSpPr/>
                <p:nvPr/>
              </p:nvSpPr>
              <p:spPr>
                <a:xfrm>
                  <a:off x="3406652" y="1987708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27A9D6FE-0328-53A5-ADC2-3E997995379F}"/>
                    </a:ext>
                  </a:extLst>
                </p:cNvPr>
                <p:cNvSpPr/>
                <p:nvPr/>
              </p:nvSpPr>
              <p:spPr>
                <a:xfrm>
                  <a:off x="5004958" y="249176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04293D62-50FB-2465-D02B-B719655D9451}"/>
                    </a:ext>
                  </a:extLst>
                </p:cNvPr>
                <p:cNvSpPr/>
                <p:nvPr/>
              </p:nvSpPr>
              <p:spPr>
                <a:xfrm>
                  <a:off x="4493556" y="199268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3A5822F6-F50A-8835-CB4C-17EA9E98ABD8}"/>
                    </a:ext>
                  </a:extLst>
                </p:cNvPr>
                <p:cNvSpPr/>
                <p:nvPr/>
              </p:nvSpPr>
              <p:spPr>
                <a:xfrm>
                  <a:off x="3929546" y="2490632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71E99C12-BEA0-6AAA-EB38-CB925BFFE732}"/>
                    </a:ext>
                  </a:extLst>
                </p:cNvPr>
                <p:cNvSpPr/>
                <p:nvPr/>
              </p:nvSpPr>
              <p:spPr>
                <a:xfrm>
                  <a:off x="5564792" y="198657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A1BD8CD7-28FE-D585-F3BE-778618E381D8}"/>
                    </a:ext>
                  </a:extLst>
                </p:cNvPr>
                <p:cNvSpPr/>
                <p:nvPr/>
              </p:nvSpPr>
              <p:spPr>
                <a:xfrm>
                  <a:off x="7163098" y="2490632"/>
                  <a:ext cx="792088" cy="432048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74748CA7-B732-3B97-5F9E-CB1A24E6BDD4}"/>
                    </a:ext>
                  </a:extLst>
                </p:cNvPr>
                <p:cNvSpPr/>
                <p:nvPr/>
              </p:nvSpPr>
              <p:spPr>
                <a:xfrm>
                  <a:off x="6651696" y="1991552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081A1106-681A-AED3-DAED-B23CFB6C8A1B}"/>
                    </a:ext>
                  </a:extLst>
                </p:cNvPr>
                <p:cNvSpPr/>
                <p:nvPr/>
              </p:nvSpPr>
              <p:spPr>
                <a:xfrm>
                  <a:off x="6087686" y="2489500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2F02FD5-9AA6-445F-36AA-62E400B04972}"/>
                  </a:ext>
                </a:extLst>
              </p:cNvPr>
              <p:cNvSpPr/>
              <p:nvPr/>
            </p:nvSpPr>
            <p:spPr>
              <a:xfrm>
                <a:off x="4260726" y="1315810"/>
                <a:ext cx="437666" cy="413190"/>
              </a:xfrm>
              <a:prstGeom prst="ellipse">
                <a:avLst/>
              </a:prstGeom>
              <a:solidFill>
                <a:schemeClr val="accent3">
                  <a:lumMod val="75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9" name="Left Brace 5128">
                <a:extLst>
                  <a:ext uri="{FF2B5EF4-FFF2-40B4-BE49-F238E27FC236}">
                    <a16:creationId xmlns:a16="http://schemas.microsoft.com/office/drawing/2014/main" id="{36B041AB-276C-A78A-8AEF-3A4F316A6D03}"/>
                  </a:ext>
                </a:extLst>
              </p:cNvPr>
              <p:cNvSpPr/>
              <p:nvPr/>
            </p:nvSpPr>
            <p:spPr>
              <a:xfrm rot="5400000">
                <a:off x="4387951" y="-1184611"/>
                <a:ext cx="241462" cy="6100914"/>
              </a:xfrm>
              <a:prstGeom prst="leftBrace">
                <a:avLst>
                  <a:gd name="adj1" fmla="val 8333"/>
                  <a:gd name="adj2" fmla="val 5041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0" name="Left Brace 5129">
                <a:extLst>
                  <a:ext uri="{FF2B5EF4-FFF2-40B4-BE49-F238E27FC236}">
                    <a16:creationId xmlns:a16="http://schemas.microsoft.com/office/drawing/2014/main" id="{36693341-8D80-EE34-2BD9-6D9AC4F3B29C}"/>
                  </a:ext>
                </a:extLst>
              </p:cNvPr>
              <p:cNvSpPr/>
              <p:nvPr/>
            </p:nvSpPr>
            <p:spPr>
              <a:xfrm rot="5400000">
                <a:off x="4405293" y="-84622"/>
                <a:ext cx="257570" cy="3899305"/>
              </a:xfrm>
              <a:prstGeom prst="leftBrace">
                <a:avLst>
                  <a:gd name="adj1" fmla="val 8333"/>
                  <a:gd name="adj2" fmla="val 51201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1" name="Left Brace 5130">
                <a:extLst>
                  <a:ext uri="{FF2B5EF4-FFF2-40B4-BE49-F238E27FC236}">
                    <a16:creationId xmlns:a16="http://schemas.microsoft.com/office/drawing/2014/main" id="{0F440CD8-A124-1F8C-9704-274E31B0A508}"/>
                  </a:ext>
                </a:extLst>
              </p:cNvPr>
              <p:cNvSpPr/>
              <p:nvPr/>
            </p:nvSpPr>
            <p:spPr>
              <a:xfrm rot="5400000">
                <a:off x="4470772" y="1056347"/>
                <a:ext cx="241462" cy="1618996"/>
              </a:xfrm>
              <a:prstGeom prst="leftBrace">
                <a:avLst>
                  <a:gd name="adj1" fmla="val 8333"/>
                  <a:gd name="adj2" fmla="val 56354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2" name="Left Brace 5131">
                <a:extLst>
                  <a:ext uri="{FF2B5EF4-FFF2-40B4-BE49-F238E27FC236}">
                    <a16:creationId xmlns:a16="http://schemas.microsoft.com/office/drawing/2014/main" id="{F0A65C90-DE00-A01E-30CC-9739007D1222}"/>
                  </a:ext>
                </a:extLst>
              </p:cNvPr>
              <p:cNvSpPr/>
              <p:nvPr/>
            </p:nvSpPr>
            <p:spPr>
              <a:xfrm rot="5400000">
                <a:off x="4389379" y="-632706"/>
                <a:ext cx="261942" cy="4999847"/>
              </a:xfrm>
              <a:prstGeom prst="leftBrace">
                <a:avLst>
                  <a:gd name="adj1" fmla="val 8333"/>
                  <a:gd name="adj2" fmla="val 50672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3" name="Left Brace 5132">
                <a:extLst>
                  <a:ext uri="{FF2B5EF4-FFF2-40B4-BE49-F238E27FC236}">
                    <a16:creationId xmlns:a16="http://schemas.microsoft.com/office/drawing/2014/main" id="{0FDDE0DB-AE7C-CAFA-3774-5AC5F19C2F62}"/>
                  </a:ext>
                </a:extLst>
              </p:cNvPr>
              <p:cNvSpPr/>
              <p:nvPr/>
            </p:nvSpPr>
            <p:spPr>
              <a:xfrm rot="5400000">
                <a:off x="4387024" y="445061"/>
                <a:ext cx="261940" cy="2844316"/>
              </a:xfrm>
              <a:prstGeom prst="leftBrace">
                <a:avLst>
                  <a:gd name="adj1" fmla="val 8333"/>
                  <a:gd name="adj2" fmla="val 5111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4" name="Left Brace 5133">
                <a:extLst>
                  <a:ext uri="{FF2B5EF4-FFF2-40B4-BE49-F238E27FC236}">
                    <a16:creationId xmlns:a16="http://schemas.microsoft.com/office/drawing/2014/main" id="{30CE2BCA-CB3A-A156-9ABE-6555AE81C52D}"/>
                  </a:ext>
                </a:extLst>
              </p:cNvPr>
              <p:cNvSpPr/>
              <p:nvPr/>
            </p:nvSpPr>
            <p:spPr>
              <a:xfrm rot="5400000">
                <a:off x="4470947" y="1599761"/>
                <a:ext cx="243727" cy="534442"/>
              </a:xfrm>
              <a:prstGeom prst="leftBrace">
                <a:avLst>
                  <a:gd name="adj1" fmla="val 8333"/>
                  <a:gd name="adj2" fmla="val 70055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136" name="Straight Connector 5135">
                <a:extLst>
                  <a:ext uri="{FF2B5EF4-FFF2-40B4-BE49-F238E27FC236}">
                    <a16:creationId xmlns:a16="http://schemas.microsoft.com/office/drawing/2014/main" id="{EFC7CFBF-716B-54C3-52F6-7DE334BE790D}"/>
                  </a:ext>
                </a:extLst>
              </p:cNvPr>
              <p:cNvCxnSpPr>
                <a:cxnSpLocks/>
                <a:stCxn id="48" idx="0"/>
                <a:endCxn id="5132" idx="2"/>
              </p:cNvCxnSpPr>
              <p:nvPr/>
            </p:nvCxnSpPr>
            <p:spPr>
              <a:xfrm flipV="1">
                <a:off x="2020424" y="1998189"/>
                <a:ext cx="3" cy="493575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8" name="Straight Connector 5137">
                <a:extLst>
                  <a:ext uri="{FF2B5EF4-FFF2-40B4-BE49-F238E27FC236}">
                    <a16:creationId xmlns:a16="http://schemas.microsoft.com/office/drawing/2014/main" id="{1AEDC6AC-74D5-12C4-8BA4-5CE02C5718AB}"/>
                  </a:ext>
                </a:extLst>
              </p:cNvPr>
              <p:cNvCxnSpPr>
                <a:cxnSpLocks/>
                <a:stCxn id="46" idx="0"/>
                <a:endCxn id="5133" idx="2"/>
              </p:cNvCxnSpPr>
              <p:nvPr/>
            </p:nvCxnSpPr>
            <p:spPr>
              <a:xfrm flipV="1">
                <a:off x="3095836" y="1998189"/>
                <a:ext cx="0" cy="494707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2" name="Straight Connector 5141">
                <a:extLst>
                  <a:ext uri="{FF2B5EF4-FFF2-40B4-BE49-F238E27FC236}">
                    <a16:creationId xmlns:a16="http://schemas.microsoft.com/office/drawing/2014/main" id="{1A53C3A1-7A0E-4266-28E6-99B910A16567}"/>
                  </a:ext>
                </a:extLst>
              </p:cNvPr>
              <p:cNvCxnSpPr>
                <a:cxnSpLocks/>
                <a:stCxn id="52" idx="0"/>
                <a:endCxn id="5134" idx="2"/>
              </p:cNvCxnSpPr>
              <p:nvPr/>
            </p:nvCxnSpPr>
            <p:spPr>
              <a:xfrm flipV="1">
                <a:off x="4325590" y="1988846"/>
                <a:ext cx="0" cy="501786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5" name="Straight Connector 5144">
                <a:extLst>
                  <a:ext uri="{FF2B5EF4-FFF2-40B4-BE49-F238E27FC236}">
                    <a16:creationId xmlns:a16="http://schemas.microsoft.com/office/drawing/2014/main" id="{9E62C4CA-BBE6-5FA5-720A-0502F4B396A5}"/>
                  </a:ext>
                </a:extLst>
              </p:cNvPr>
              <p:cNvCxnSpPr>
                <a:cxnSpLocks/>
                <a:stCxn id="50" idx="0"/>
                <a:endCxn id="5131" idx="0"/>
              </p:cNvCxnSpPr>
              <p:nvPr/>
            </p:nvCxnSpPr>
            <p:spPr>
              <a:xfrm flipH="1" flipV="1">
                <a:off x="5401001" y="1986576"/>
                <a:ext cx="1" cy="505188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8" name="Straight Connector 5147">
                <a:extLst>
                  <a:ext uri="{FF2B5EF4-FFF2-40B4-BE49-F238E27FC236}">
                    <a16:creationId xmlns:a16="http://schemas.microsoft.com/office/drawing/2014/main" id="{20D1D14E-36A7-1760-A3F5-8D745FFDF954}"/>
                  </a:ext>
                </a:extLst>
              </p:cNvPr>
              <p:cNvCxnSpPr>
                <a:cxnSpLocks/>
                <a:stCxn id="56" idx="0"/>
                <a:endCxn id="5130" idx="0"/>
              </p:cNvCxnSpPr>
              <p:nvPr/>
            </p:nvCxnSpPr>
            <p:spPr>
              <a:xfrm flipV="1">
                <a:off x="6483730" y="1993816"/>
                <a:ext cx="1" cy="495684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8" name="Straight Connector 5217">
                <a:extLst>
                  <a:ext uri="{FF2B5EF4-FFF2-40B4-BE49-F238E27FC236}">
                    <a16:creationId xmlns:a16="http://schemas.microsoft.com/office/drawing/2014/main" id="{87FE7A81-20BA-9AE6-78AB-D2833E718FD7}"/>
                  </a:ext>
                </a:extLst>
              </p:cNvPr>
              <p:cNvCxnSpPr>
                <a:cxnSpLocks/>
                <a:stCxn id="54" idx="0"/>
                <a:endCxn id="5129" idx="0"/>
              </p:cNvCxnSpPr>
              <p:nvPr/>
            </p:nvCxnSpPr>
            <p:spPr>
              <a:xfrm flipH="1" flipV="1">
                <a:off x="7559139" y="1986577"/>
                <a:ext cx="3" cy="504055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46" name="Left Brace 5245">
                <a:extLst>
                  <a:ext uri="{FF2B5EF4-FFF2-40B4-BE49-F238E27FC236}">
                    <a16:creationId xmlns:a16="http://schemas.microsoft.com/office/drawing/2014/main" id="{65A65ADD-D687-F807-2075-23B3F4234EE9}"/>
                  </a:ext>
                </a:extLst>
              </p:cNvPr>
              <p:cNvSpPr/>
              <p:nvPr/>
            </p:nvSpPr>
            <p:spPr>
              <a:xfrm rot="5400000">
                <a:off x="6924711" y="3129004"/>
                <a:ext cx="261940" cy="1799010"/>
              </a:xfrm>
              <a:prstGeom prst="leftBrace">
                <a:avLst>
                  <a:gd name="adj1" fmla="val 8333"/>
                  <a:gd name="adj2" fmla="val 21756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247" name="Left Brace 5246">
                <a:extLst>
                  <a:ext uri="{FF2B5EF4-FFF2-40B4-BE49-F238E27FC236}">
                    <a16:creationId xmlns:a16="http://schemas.microsoft.com/office/drawing/2014/main" id="{D1BCADE0-CBE1-51DF-9B67-965D2167EE1A}"/>
                  </a:ext>
                </a:extLst>
              </p:cNvPr>
              <p:cNvSpPr/>
              <p:nvPr/>
            </p:nvSpPr>
            <p:spPr>
              <a:xfrm rot="5400000">
                <a:off x="7374976" y="3578939"/>
                <a:ext cx="262800" cy="900000"/>
              </a:xfrm>
              <a:prstGeom prst="leftBrace">
                <a:avLst>
                  <a:gd name="adj1" fmla="val 8333"/>
                  <a:gd name="adj2" fmla="val 4345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248" name="Straight Connector 5247">
                <a:extLst>
                  <a:ext uri="{FF2B5EF4-FFF2-40B4-BE49-F238E27FC236}">
                    <a16:creationId xmlns:a16="http://schemas.microsoft.com/office/drawing/2014/main" id="{9A3527DC-2A5C-D9CE-8355-76E13A05FF16}"/>
                  </a:ext>
                </a:extLst>
              </p:cNvPr>
              <p:cNvCxnSpPr>
                <a:cxnSpLocks/>
                <a:stCxn id="5247" idx="1"/>
                <a:endCxn id="54" idx="4"/>
              </p:cNvCxnSpPr>
              <p:nvPr/>
            </p:nvCxnSpPr>
            <p:spPr>
              <a:xfrm flipH="1" flipV="1">
                <a:off x="7559142" y="2922680"/>
                <a:ext cx="6184" cy="974859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57" name="TextBox 5256">
              <a:extLst>
                <a:ext uri="{FF2B5EF4-FFF2-40B4-BE49-F238E27FC236}">
                  <a16:creationId xmlns:a16="http://schemas.microsoft.com/office/drawing/2014/main" id="{1DFB6BBB-E9AC-9CF7-00D1-F76B764A4DF3}"/>
                </a:ext>
              </a:extLst>
            </p:cNvPr>
            <p:cNvSpPr txBox="1"/>
            <p:nvPr/>
          </p:nvSpPr>
          <p:spPr>
            <a:xfrm>
              <a:off x="3908274" y="2527250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/proc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58" name="TextBox 5257">
              <a:extLst>
                <a:ext uri="{FF2B5EF4-FFF2-40B4-BE49-F238E27FC236}">
                  <a16:creationId xmlns:a16="http://schemas.microsoft.com/office/drawing/2014/main" id="{F9B29810-3562-7CB4-29B8-12A739B7272C}"/>
                </a:ext>
              </a:extLst>
            </p:cNvPr>
            <p:cNvSpPr txBox="1"/>
            <p:nvPr/>
          </p:nvSpPr>
          <p:spPr>
            <a:xfrm>
              <a:off x="2686823" y="2529709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/home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59" name="TextBox 5258">
              <a:extLst>
                <a:ext uri="{FF2B5EF4-FFF2-40B4-BE49-F238E27FC236}">
                  <a16:creationId xmlns:a16="http://schemas.microsoft.com/office/drawing/2014/main" id="{CAC25060-6890-9A77-039B-A5D83DCD72C8}"/>
                </a:ext>
              </a:extLst>
            </p:cNvPr>
            <p:cNvSpPr txBox="1"/>
            <p:nvPr/>
          </p:nvSpPr>
          <p:spPr>
            <a:xfrm>
              <a:off x="1603108" y="253133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/boot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0" name="TextBox 5259">
              <a:extLst>
                <a:ext uri="{FF2B5EF4-FFF2-40B4-BE49-F238E27FC236}">
                  <a16:creationId xmlns:a16="http://schemas.microsoft.com/office/drawing/2014/main" id="{84DD2B3E-9FF7-56F9-CAA2-BFAB54F32908}"/>
                </a:ext>
              </a:extLst>
            </p:cNvPr>
            <p:cNvSpPr txBox="1"/>
            <p:nvPr/>
          </p:nvSpPr>
          <p:spPr>
            <a:xfrm>
              <a:off x="1097362" y="203111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/root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1" name="TextBox 5260">
              <a:extLst>
                <a:ext uri="{FF2B5EF4-FFF2-40B4-BE49-F238E27FC236}">
                  <a16:creationId xmlns:a16="http://schemas.microsoft.com/office/drawing/2014/main" id="{F6A545DB-FC19-FA0D-A91A-62C0A9FA4A38}"/>
                </a:ext>
              </a:extLst>
            </p:cNvPr>
            <p:cNvSpPr txBox="1"/>
            <p:nvPr/>
          </p:nvSpPr>
          <p:spPr>
            <a:xfrm>
              <a:off x="2237008" y="2032093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etc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2" name="TextBox 5261">
              <a:extLst>
                <a:ext uri="{FF2B5EF4-FFF2-40B4-BE49-F238E27FC236}">
                  <a16:creationId xmlns:a16="http://schemas.microsoft.com/office/drawing/2014/main" id="{22E3290B-F6B5-FEE9-5FEC-78A6F87409CA}"/>
                </a:ext>
              </a:extLst>
            </p:cNvPr>
            <p:cNvSpPr txBox="1"/>
            <p:nvPr/>
          </p:nvSpPr>
          <p:spPr>
            <a:xfrm>
              <a:off x="3434198" y="2023882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mnt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3" name="TextBox 5262">
              <a:extLst>
                <a:ext uri="{FF2B5EF4-FFF2-40B4-BE49-F238E27FC236}">
                  <a16:creationId xmlns:a16="http://schemas.microsoft.com/office/drawing/2014/main" id="{73D3655E-C037-B7FF-4F8F-A573ED615CB4}"/>
                </a:ext>
              </a:extLst>
            </p:cNvPr>
            <p:cNvSpPr txBox="1"/>
            <p:nvPr/>
          </p:nvSpPr>
          <p:spPr>
            <a:xfrm>
              <a:off x="4553665" y="2026950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/sys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4" name="TextBox 5263">
              <a:extLst>
                <a:ext uri="{FF2B5EF4-FFF2-40B4-BE49-F238E27FC236}">
                  <a16:creationId xmlns:a16="http://schemas.microsoft.com/office/drawing/2014/main" id="{78BEC4BE-0233-2A75-ABF3-A7887420D2D0}"/>
                </a:ext>
              </a:extLst>
            </p:cNvPr>
            <p:cNvSpPr txBox="1"/>
            <p:nvPr/>
          </p:nvSpPr>
          <p:spPr>
            <a:xfrm>
              <a:off x="5610522" y="2025224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5" name="TextBox 5264">
              <a:extLst>
                <a:ext uri="{FF2B5EF4-FFF2-40B4-BE49-F238E27FC236}">
                  <a16:creationId xmlns:a16="http://schemas.microsoft.com/office/drawing/2014/main" id="{E37582A2-BFBC-EBCB-18E5-23692DE87858}"/>
                </a:ext>
              </a:extLst>
            </p:cNvPr>
            <p:cNvSpPr txBox="1"/>
            <p:nvPr/>
          </p:nvSpPr>
          <p:spPr>
            <a:xfrm>
              <a:off x="6083106" y="254449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6" name="TextBox 5265">
              <a:extLst>
                <a:ext uri="{FF2B5EF4-FFF2-40B4-BE49-F238E27FC236}">
                  <a16:creationId xmlns:a16="http://schemas.microsoft.com/office/drawing/2014/main" id="{E2538FCF-538F-0BA8-BEB9-59D896AD81BC}"/>
                </a:ext>
              </a:extLst>
            </p:cNvPr>
            <p:cNvSpPr txBox="1"/>
            <p:nvPr/>
          </p:nvSpPr>
          <p:spPr>
            <a:xfrm>
              <a:off x="5042270" y="254449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/dev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7" name="TextBox 5266">
              <a:extLst>
                <a:ext uri="{FF2B5EF4-FFF2-40B4-BE49-F238E27FC236}">
                  <a16:creationId xmlns:a16="http://schemas.microsoft.com/office/drawing/2014/main" id="{4E073F73-2A48-5284-0BC9-277B9E1DD21D}"/>
                </a:ext>
              </a:extLst>
            </p:cNvPr>
            <p:cNvSpPr txBox="1"/>
            <p:nvPr/>
          </p:nvSpPr>
          <p:spPr>
            <a:xfrm>
              <a:off x="6689859" y="2036824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/lib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8" name="TextBox 5267">
              <a:extLst>
                <a:ext uri="{FF2B5EF4-FFF2-40B4-BE49-F238E27FC236}">
                  <a16:creationId xmlns:a16="http://schemas.microsoft.com/office/drawing/2014/main" id="{9CFDBB6B-C220-E734-3C36-61D8374F536E}"/>
                </a:ext>
              </a:extLst>
            </p:cNvPr>
            <p:cNvSpPr txBox="1"/>
            <p:nvPr/>
          </p:nvSpPr>
          <p:spPr>
            <a:xfrm>
              <a:off x="7209498" y="2538511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9" name="TextBox 5268">
              <a:extLst>
                <a:ext uri="{FF2B5EF4-FFF2-40B4-BE49-F238E27FC236}">
                  <a16:creationId xmlns:a16="http://schemas.microsoft.com/office/drawing/2014/main" id="{C91543AC-CC86-8196-C104-89629796308C}"/>
                </a:ext>
              </a:extLst>
            </p:cNvPr>
            <p:cNvSpPr txBox="1"/>
            <p:nvPr/>
          </p:nvSpPr>
          <p:spPr>
            <a:xfrm>
              <a:off x="7638721" y="4207691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/lib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0" name="TextBox 5269">
              <a:extLst>
                <a:ext uri="{FF2B5EF4-FFF2-40B4-BE49-F238E27FC236}">
                  <a16:creationId xmlns:a16="http://schemas.microsoft.com/office/drawing/2014/main" id="{DDF355B4-BAB9-142A-DB1B-BDAF17E63C97}"/>
                </a:ext>
              </a:extLst>
            </p:cNvPr>
            <p:cNvSpPr txBox="1"/>
            <p:nvPr/>
          </p:nvSpPr>
          <p:spPr>
            <a:xfrm>
              <a:off x="6621623" y="4214559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1" name="TextBox 5270">
              <a:extLst>
                <a:ext uri="{FF2B5EF4-FFF2-40B4-BE49-F238E27FC236}">
                  <a16:creationId xmlns:a16="http://schemas.microsoft.com/office/drawing/2014/main" id="{D4CC1723-2303-BF88-8FEC-FD0CA9FE282A}"/>
                </a:ext>
              </a:extLst>
            </p:cNvPr>
            <p:cNvSpPr txBox="1"/>
            <p:nvPr/>
          </p:nvSpPr>
          <p:spPr>
            <a:xfrm>
              <a:off x="5818698" y="4223942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2" name="TextBox 5271">
              <a:extLst>
                <a:ext uri="{FF2B5EF4-FFF2-40B4-BE49-F238E27FC236}">
                  <a16:creationId xmlns:a16="http://schemas.microsoft.com/office/drawing/2014/main" id="{72EF4911-F4CA-A219-66D0-E1CC7A679F63}"/>
                </a:ext>
              </a:extLst>
            </p:cNvPr>
            <p:cNvSpPr txBox="1"/>
            <p:nvPr/>
          </p:nvSpPr>
          <p:spPr>
            <a:xfrm>
              <a:off x="4311570" y="1361537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5275" name="Straight Arrow Connector 5274">
            <a:extLst>
              <a:ext uri="{FF2B5EF4-FFF2-40B4-BE49-F238E27FC236}">
                <a16:creationId xmlns:a16="http://schemas.microsoft.com/office/drawing/2014/main" id="{AE6123F9-4353-4CA6-0227-C998DFE637EF}"/>
              </a:ext>
            </a:extLst>
          </p:cNvPr>
          <p:cNvCxnSpPr>
            <a:cxnSpLocks/>
          </p:cNvCxnSpPr>
          <p:nvPr/>
        </p:nvCxnSpPr>
        <p:spPr>
          <a:xfrm flipV="1">
            <a:off x="1404000" y="2489500"/>
            <a:ext cx="0" cy="6785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0" name="Straight Arrow Connector 5279">
            <a:extLst>
              <a:ext uri="{FF2B5EF4-FFF2-40B4-BE49-F238E27FC236}">
                <a16:creationId xmlns:a16="http://schemas.microsoft.com/office/drawing/2014/main" id="{EEFF3762-BBC4-F546-C427-A15165E76356}"/>
              </a:ext>
            </a:extLst>
          </p:cNvPr>
          <p:cNvCxnSpPr>
            <a:cxnSpLocks/>
          </p:cNvCxnSpPr>
          <p:nvPr/>
        </p:nvCxnSpPr>
        <p:spPr>
          <a:xfrm flipV="1">
            <a:off x="2300963" y="2924944"/>
            <a:ext cx="0" cy="96369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2" name="Straight Arrow Connector 5281">
            <a:extLst>
              <a:ext uri="{FF2B5EF4-FFF2-40B4-BE49-F238E27FC236}">
                <a16:creationId xmlns:a16="http://schemas.microsoft.com/office/drawing/2014/main" id="{E8C510E4-3C63-0D1B-42F4-45B62CE1ADA2}"/>
              </a:ext>
            </a:extLst>
          </p:cNvPr>
          <p:cNvCxnSpPr>
            <a:cxnSpLocks/>
          </p:cNvCxnSpPr>
          <p:nvPr/>
        </p:nvCxnSpPr>
        <p:spPr>
          <a:xfrm flipV="1">
            <a:off x="2584425" y="2492896"/>
            <a:ext cx="0" cy="2125591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7" name="Straight Arrow Connector 5286">
            <a:extLst>
              <a:ext uri="{FF2B5EF4-FFF2-40B4-BE49-F238E27FC236}">
                <a16:creationId xmlns:a16="http://schemas.microsoft.com/office/drawing/2014/main" id="{A1609B02-B635-7A15-E346-4A5F96FD2004}"/>
              </a:ext>
            </a:extLst>
          </p:cNvPr>
          <p:cNvCxnSpPr>
            <a:cxnSpLocks/>
          </p:cNvCxnSpPr>
          <p:nvPr/>
        </p:nvCxnSpPr>
        <p:spPr>
          <a:xfrm flipV="1">
            <a:off x="2880000" y="2996952"/>
            <a:ext cx="0" cy="2332639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9" name="Straight Arrow Connector 5288">
            <a:extLst>
              <a:ext uri="{FF2B5EF4-FFF2-40B4-BE49-F238E27FC236}">
                <a16:creationId xmlns:a16="http://schemas.microsoft.com/office/drawing/2014/main" id="{ADB29622-C89F-E0DA-A49B-892F3D064129}"/>
              </a:ext>
            </a:extLst>
          </p:cNvPr>
          <p:cNvCxnSpPr>
            <a:cxnSpLocks/>
          </p:cNvCxnSpPr>
          <p:nvPr/>
        </p:nvCxnSpPr>
        <p:spPr>
          <a:xfrm flipV="1">
            <a:off x="5148064" y="2997549"/>
            <a:ext cx="0" cy="2332639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0" name="Straight Arrow Connector 5289">
            <a:extLst>
              <a:ext uri="{FF2B5EF4-FFF2-40B4-BE49-F238E27FC236}">
                <a16:creationId xmlns:a16="http://schemas.microsoft.com/office/drawing/2014/main" id="{D4B7E032-140A-CD3A-E66E-F0CC4C980F23}"/>
              </a:ext>
            </a:extLst>
          </p:cNvPr>
          <p:cNvCxnSpPr>
            <a:cxnSpLocks/>
          </p:cNvCxnSpPr>
          <p:nvPr/>
        </p:nvCxnSpPr>
        <p:spPr>
          <a:xfrm flipV="1">
            <a:off x="4836490" y="2489500"/>
            <a:ext cx="0" cy="2125591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1" name="Straight Arrow Connector 5290">
            <a:extLst>
              <a:ext uri="{FF2B5EF4-FFF2-40B4-BE49-F238E27FC236}">
                <a16:creationId xmlns:a16="http://schemas.microsoft.com/office/drawing/2014/main" id="{781591BB-C126-70B3-48D8-3D4CDE45D1EB}"/>
              </a:ext>
            </a:extLst>
          </p:cNvPr>
          <p:cNvCxnSpPr>
            <a:cxnSpLocks/>
          </p:cNvCxnSpPr>
          <p:nvPr/>
        </p:nvCxnSpPr>
        <p:spPr>
          <a:xfrm flipV="1">
            <a:off x="4553665" y="2946406"/>
            <a:ext cx="0" cy="96369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2" name="Straight Arrow Connector 5291">
            <a:extLst>
              <a:ext uri="{FF2B5EF4-FFF2-40B4-BE49-F238E27FC236}">
                <a16:creationId xmlns:a16="http://schemas.microsoft.com/office/drawing/2014/main" id="{88EEDADD-4D01-AEDC-0F95-596FC43BCBF9}"/>
              </a:ext>
            </a:extLst>
          </p:cNvPr>
          <p:cNvCxnSpPr>
            <a:cxnSpLocks/>
          </p:cNvCxnSpPr>
          <p:nvPr/>
        </p:nvCxnSpPr>
        <p:spPr>
          <a:xfrm flipV="1">
            <a:off x="3702560" y="2497723"/>
            <a:ext cx="0" cy="6785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3" name="Straight Arrow Connector 5292">
            <a:extLst>
              <a:ext uri="{FF2B5EF4-FFF2-40B4-BE49-F238E27FC236}">
                <a16:creationId xmlns:a16="http://schemas.microsoft.com/office/drawing/2014/main" id="{6C630672-95ED-5EDF-CB7B-D28E54D6AD34}"/>
              </a:ext>
            </a:extLst>
          </p:cNvPr>
          <p:cNvCxnSpPr>
            <a:cxnSpLocks/>
          </p:cNvCxnSpPr>
          <p:nvPr/>
        </p:nvCxnSpPr>
        <p:spPr>
          <a:xfrm flipV="1">
            <a:off x="5961095" y="2497723"/>
            <a:ext cx="0" cy="1010463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4" name="Straight Arrow Connector 5293">
            <a:extLst>
              <a:ext uri="{FF2B5EF4-FFF2-40B4-BE49-F238E27FC236}">
                <a16:creationId xmlns:a16="http://schemas.microsoft.com/office/drawing/2014/main" id="{05136368-CD5A-2E4D-7EFA-3BE292764FB5}"/>
              </a:ext>
            </a:extLst>
          </p:cNvPr>
          <p:cNvCxnSpPr>
            <a:cxnSpLocks/>
          </p:cNvCxnSpPr>
          <p:nvPr/>
        </p:nvCxnSpPr>
        <p:spPr>
          <a:xfrm flipV="1">
            <a:off x="6292234" y="2996952"/>
            <a:ext cx="0" cy="52996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7" name="Straight Arrow Connector 5296">
            <a:extLst>
              <a:ext uri="{FF2B5EF4-FFF2-40B4-BE49-F238E27FC236}">
                <a16:creationId xmlns:a16="http://schemas.microsoft.com/office/drawing/2014/main" id="{E61F857F-564B-0C18-B91C-6DF445DA9EAB}"/>
              </a:ext>
            </a:extLst>
          </p:cNvPr>
          <p:cNvCxnSpPr>
            <a:cxnSpLocks/>
          </p:cNvCxnSpPr>
          <p:nvPr/>
        </p:nvCxnSpPr>
        <p:spPr>
          <a:xfrm flipV="1">
            <a:off x="7031642" y="2527250"/>
            <a:ext cx="0" cy="584044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1" name="Straight Arrow Connector 5300">
            <a:extLst>
              <a:ext uri="{FF2B5EF4-FFF2-40B4-BE49-F238E27FC236}">
                <a16:creationId xmlns:a16="http://schemas.microsoft.com/office/drawing/2014/main" id="{7200C8A9-1231-75D7-CB5F-DB1B08AF031A}"/>
              </a:ext>
            </a:extLst>
          </p:cNvPr>
          <p:cNvCxnSpPr>
            <a:cxnSpLocks/>
          </p:cNvCxnSpPr>
          <p:nvPr/>
        </p:nvCxnSpPr>
        <p:spPr>
          <a:xfrm flipV="1">
            <a:off x="7031642" y="46658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5" name="Straight Arrow Connector 5304">
            <a:extLst>
              <a:ext uri="{FF2B5EF4-FFF2-40B4-BE49-F238E27FC236}">
                <a16:creationId xmlns:a16="http://schemas.microsoft.com/office/drawing/2014/main" id="{7756FD2E-A245-023F-3A28-6A1245CBB6C9}"/>
              </a:ext>
            </a:extLst>
          </p:cNvPr>
          <p:cNvCxnSpPr>
            <a:cxnSpLocks/>
          </p:cNvCxnSpPr>
          <p:nvPr/>
        </p:nvCxnSpPr>
        <p:spPr>
          <a:xfrm flipV="1">
            <a:off x="6156176" y="46658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6" name="Straight Arrow Connector 5305">
            <a:extLst>
              <a:ext uri="{FF2B5EF4-FFF2-40B4-BE49-F238E27FC236}">
                <a16:creationId xmlns:a16="http://schemas.microsoft.com/office/drawing/2014/main" id="{44553CA3-FC4F-A4DD-2EB4-D4D3B4E83866}"/>
              </a:ext>
            </a:extLst>
          </p:cNvPr>
          <p:cNvCxnSpPr>
            <a:cxnSpLocks/>
          </p:cNvCxnSpPr>
          <p:nvPr/>
        </p:nvCxnSpPr>
        <p:spPr>
          <a:xfrm flipV="1">
            <a:off x="7961850" y="46562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07" name="Graphic 5306" descr="Key with solid fill">
            <a:extLst>
              <a:ext uri="{FF2B5EF4-FFF2-40B4-BE49-F238E27FC236}">
                <a16:creationId xmlns:a16="http://schemas.microsoft.com/office/drawing/2014/main" id="{7A1051CA-D17A-B06D-0B19-201B5DF0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6540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>
              <a:buSzPct val="45000"/>
            </a:pPr>
            <a:r>
              <a:rPr lang="nl-BE" dirty="0"/>
              <a:t>Linux File System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14339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8245350" cy="4308872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dirty="0">
                <a:ea typeface="HG Mincho Light J"/>
                <a:cs typeface="Tahoma" pitchFamily="34" charset="0"/>
              </a:rPr>
              <a:t>Not imposed by the system. Can vary from one system to the other, even between two GNU/Linux installations!</a:t>
            </a:r>
          </a:p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br>
              <a:rPr sz="2000" dirty="0">
                <a:latin typeface="Courier 10 Pitch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Root directory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/bin/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Basic, essential system commands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/boot/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Kernel images, </a:t>
            </a:r>
            <a:r>
              <a:rPr dirty="0" err="1">
                <a:ea typeface="HG Mincho Light J"/>
                <a:cs typeface="Tahoma" pitchFamily="34" charset="0"/>
              </a:rPr>
              <a:t>initrd</a:t>
            </a:r>
            <a:r>
              <a:rPr lang="nl-BE" dirty="0">
                <a:ea typeface="HG Mincho Light J"/>
                <a:cs typeface="Tahoma" pitchFamily="34" charset="0"/>
              </a:rPr>
              <a:t>, </a:t>
            </a:r>
            <a:r>
              <a:rPr dirty="0">
                <a:ea typeface="HG Mincho Light J"/>
                <a:cs typeface="Tahoma" pitchFamily="34" charset="0"/>
              </a:rPr>
              <a:t>configuration files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/dev/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Files representing devices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/etc/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System configuration files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/home/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User directories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/lib/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Basic system shared libraries</a:t>
            </a:r>
            <a:endParaRPr lang="nl-BE" dirty="0">
              <a:ea typeface="HG Mincho Light J"/>
              <a:cs typeface="Tahoma" pitchFamily="34" charset="0"/>
            </a:endParaRPr>
          </a:p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/media</a:t>
            </a:r>
            <a:r>
              <a:rPr lang="pl-PL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en-US"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lang="en-US" dirty="0">
                <a:ea typeface="HG Mincho Light J"/>
                <a:cs typeface="Tahoma" pitchFamily="34" charset="0"/>
              </a:rPr>
              <a:t>Mount points for removable media</a:t>
            </a:r>
            <a:endParaRPr dirty="0"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7284247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>
              <a:buSzPct val="45000"/>
            </a:pPr>
            <a:r>
              <a:rPr lang="nl-BE" dirty="0"/>
              <a:t>Linux File System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15363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7920000" cy="5663089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97921" indent="0">
              <a:spcBef>
                <a:spcPct val="0"/>
              </a:spcBef>
              <a:buSzPts val="3400"/>
              <a:buNone/>
            </a:pP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lost+found</a:t>
            </a:r>
            <a:r>
              <a:rPr lang="pl-PL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Corrupt files the system tried to </a:t>
            </a:r>
            <a:r>
              <a:rPr lang="nl-BE" dirty="0">
                <a:ea typeface="HG Mincho Light J"/>
                <a:cs typeface="Tahoma" pitchFamily="34" charset="0"/>
              </a:rPr>
              <a:t>				</a:t>
            </a:r>
            <a:r>
              <a:rPr dirty="0">
                <a:ea typeface="HG Mincho Light J"/>
                <a:cs typeface="Tahoma" pitchFamily="34" charset="0"/>
              </a:rPr>
              <a:t>recover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mnt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Mount points for temporarily mounted </a:t>
            </a:r>
            <a:r>
              <a:rPr lang="nl-BE" dirty="0"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file</a:t>
            </a:r>
            <a:r>
              <a:rPr lang="en-US" dirty="0">
                <a:ea typeface="HG Mincho Light J"/>
                <a:cs typeface="Tahoma" pitchFamily="34" charset="0"/>
              </a:rPr>
              <a:t> </a:t>
            </a:r>
            <a:r>
              <a:rPr dirty="0">
                <a:ea typeface="HG Mincho Light J"/>
                <a:cs typeface="Tahoma" pitchFamily="34" charset="0"/>
              </a:rPr>
              <a:t>systems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/opt/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Specific tools installed by the 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				</a:t>
            </a:r>
            <a:r>
              <a:rPr dirty="0" err="1">
                <a:ea typeface="HG Mincho Light J"/>
                <a:cs typeface="Tahoma" pitchFamily="34" charset="0"/>
              </a:rPr>
              <a:t>sysadmin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usr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/local/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 o</a:t>
            </a:r>
            <a:r>
              <a:rPr dirty="0">
                <a:ea typeface="HG Mincho Light J"/>
                <a:cs typeface="Tahoma" pitchFamily="34" charset="0"/>
              </a:rPr>
              <a:t>ften used </a:t>
            </a:r>
            <a:r>
              <a:rPr lang="nl-BE" dirty="0"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instead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/proc/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Access to system information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sbin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Administrator-only commands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/sys/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System and device controls</a:t>
            </a:r>
            <a:endParaRPr lang="pl-PL" dirty="0">
              <a:ea typeface="HG Mincho Light J"/>
              <a:cs typeface="Tahoma" pitchFamily="34" charset="0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pl-PL" dirty="0" err="1">
                <a:latin typeface="Courier New" pitchFamily="49" charset="0"/>
                <a:ea typeface="HG Mincho Light J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en-US" dirty="0">
                <a:latin typeface="Courier 10 Pitch"/>
                <a:ea typeface="HG Mincho Light J"/>
                <a:cs typeface="Tahoma" pitchFamily="34" charset="0"/>
              </a:rPr>
              <a:t>		</a:t>
            </a:r>
            <a:r>
              <a:rPr lang="pl-PL" dirty="0" err="1">
                <a:ea typeface="HG Mincho Light J"/>
                <a:cs typeface="Tahoma" pitchFamily="34" charset="0"/>
              </a:rPr>
              <a:t>Temporary</a:t>
            </a:r>
            <a:r>
              <a:rPr lang="pl-PL" dirty="0">
                <a:ea typeface="HG Mincho Light J"/>
                <a:cs typeface="Tahoma" pitchFamily="34" charset="0"/>
              </a:rPr>
              <a:t> </a:t>
            </a:r>
            <a:r>
              <a:rPr lang="pl-PL" dirty="0" err="1">
                <a:ea typeface="HG Mincho Light J"/>
                <a:cs typeface="Tahoma" pitchFamily="34" charset="0"/>
              </a:rPr>
              <a:t>files</a:t>
            </a:r>
            <a:endParaRPr lang="en-US" dirty="0">
              <a:ea typeface="HG Mincho Light J"/>
              <a:cs typeface="Tahoma" pitchFamily="34" charset="0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sz="1600" dirty="0">
                <a:latin typeface="+mj-lt"/>
                <a:ea typeface="HG Mincho Light J"/>
                <a:cs typeface="Tahoma" pitchFamily="34" charset="0"/>
              </a:rPr>
              <a:t>The Unix file system structure is defined by the File system Hierarchy Standard (FHS): </a:t>
            </a:r>
            <a:r>
              <a:rPr lang="en-US" sz="16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  <a:hlinkClick r:id="rId3"/>
              </a:rPr>
              <a:t>http://www.pathname.com/fhs/</a:t>
            </a:r>
            <a:r>
              <a:rPr lang="pl-PL" sz="16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  <a:hlinkClick r:id="rId3"/>
              </a:rPr>
              <a:t>pub/fhs-2.3.html</a:t>
            </a: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endParaRPr lang="en-US" sz="1400" dirty="0">
              <a:solidFill>
                <a:srgbClr val="000000"/>
              </a:solidFill>
              <a:latin typeface="+mj-lt"/>
              <a:ea typeface="HG Mincho Light J"/>
              <a:cs typeface="Tahoma" pitchFamily="34" charset="0"/>
              <a:hlinkClick r:id="rId3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nl-BE" sz="14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</a:rPr>
              <a:t>http://en.wikipedia.org/wiki/Filesystem_Hierarchy_Standard</a:t>
            </a:r>
            <a:br>
              <a:rPr sz="14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</a:rPr>
            </a:br>
            <a:endParaRPr sz="1400" dirty="0">
              <a:solidFill>
                <a:srgbClr val="000000"/>
              </a:solidFill>
              <a:latin typeface="+mj-lt"/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53048493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  <a:r>
              <a:rPr lang="pl-PL" dirty="0"/>
              <a:t>-home directory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2454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ls command</a:t>
            </a:r>
            <a:endParaRPr lang="nl-BE" dirty="0"/>
          </a:p>
        </p:txBody>
      </p:sp>
      <p:sp>
        <p:nvSpPr>
          <p:cNvPr id="21507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719138" y="1268760"/>
            <a:ext cx="7920000" cy="4678362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+mn-lt"/>
              </a:rPr>
              <a:t>Lists the files in the current directory, in alphanumeric order, except files starting with the “.” character.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-a </a:t>
            </a:r>
            <a:r>
              <a:rPr lang="en-US" sz="2000" dirty="0">
                <a:latin typeface="+mn-lt"/>
              </a:rPr>
              <a:t>(all)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all the files (including .* files)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-l </a:t>
            </a:r>
            <a:r>
              <a:rPr lang="en-US" sz="2000" dirty="0">
                <a:latin typeface="+mn-lt"/>
              </a:rPr>
              <a:t>(long)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Long listing (type, date, size, owner, permissions)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-t </a:t>
            </a:r>
            <a:r>
              <a:rPr lang="en-US" sz="2000" dirty="0">
                <a:latin typeface="+mn-lt"/>
              </a:rPr>
              <a:t>(time)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the most recent files first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-S </a:t>
            </a:r>
            <a:r>
              <a:rPr lang="en-US" sz="2000" dirty="0">
                <a:latin typeface="+mn-lt"/>
              </a:rPr>
              <a:t>(size)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the biggest files first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-r </a:t>
            </a:r>
            <a:r>
              <a:rPr lang="en-US" sz="2000" dirty="0">
                <a:latin typeface="+mn-lt"/>
              </a:rPr>
              <a:t>(reverse)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Reverses the sort order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+mn-lt"/>
              </a:rPr>
              <a:t>(options can be combined)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Long listing, most recent files at the end</a:t>
            </a:r>
          </a:p>
          <a:p>
            <a:endParaRPr lang="en-US" sz="2000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50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91BC4201-7666-95BA-EBA5-23E0216CA9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0086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*txt</a:t>
            </a:r>
            <a:br>
              <a:rPr lang="en-US" sz="2200" b="1" dirty="0">
                <a:latin typeface="+mj-lt"/>
              </a:rPr>
            </a:br>
            <a:r>
              <a:rPr lang="en-US" sz="2200" dirty="0">
                <a:latin typeface="+mj-lt"/>
              </a:rPr>
              <a:t>The shell first replaces *txt by all the file and directory names ending by txt (including .txt), except those starting with ., and then executes the ls command line.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-d .*</a:t>
            </a:r>
            <a:br>
              <a:rPr lang="en-US" sz="2200" b="1" dirty="0">
                <a:latin typeface="+mj-lt"/>
              </a:rPr>
            </a:br>
            <a:r>
              <a:rPr lang="en-US" sz="2200" dirty="0">
                <a:latin typeface="+mj-lt"/>
              </a:rPr>
              <a:t>Lists all the files and directories starting with 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-d tells ls not to display the contents of directories.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-d */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?.log</a:t>
            </a:r>
            <a:b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dirty="0">
                <a:latin typeface="+mj-lt"/>
              </a:rPr>
              <a:t>Lists all the files which names start by 1 character and end by .log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000" dirty="0">
                <a:latin typeface="+mj-lt"/>
                <a:hlinkClick r:id="rId4"/>
              </a:rPr>
              <a:t>http://www.thegeekstuff.com/2009/07/linux-ls-command-examples/</a:t>
            </a:r>
            <a:endParaRPr lang="en-US" sz="20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51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8A8D58C3-DAA9-2393-3A9E-5EF7E65F01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817366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vsc30051@login1:~/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matlab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/test&gt;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-al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total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1156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9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8192 2011-03-29 16:10 .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9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4096 2011-06-20 12:08 ..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3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4096 2010-01-08 10:54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courseAndreas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149326 2011-03-10 15:14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fibonacci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681 2011-03-10 15:09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fibonacci.m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149068 2011-03-10 12:16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ftest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443 2011-03-10 12:17 ftest_compiled.sh</a:t>
            </a: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442 2011-03-10 11:28 ftest_compiled.sh~</a:t>
            </a: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 70 2011-03-10 12:15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ftest.m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nl-BE" sz="14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52</a:t>
            </a:fld>
            <a:endParaRPr lang="nl-NL"/>
          </a:p>
        </p:txBody>
      </p:sp>
      <p:sp>
        <p:nvSpPr>
          <p:cNvPr id="6" name="Titel 1"/>
          <p:cNvSpPr txBox="1">
            <a:spLocks noGrp="1"/>
          </p:cNvSpPr>
          <p:nvPr>
            <p:ph type="title"/>
          </p:nvPr>
        </p:nvSpPr>
        <p:spPr>
          <a:xfrm>
            <a:off x="719138" y="0"/>
            <a:ext cx="7920000" cy="1079500"/>
          </a:xfrm>
        </p:spPr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7" name="Tijdelijke aanduiding voor inhoud 2"/>
          <p:cNvSpPr txBox="1">
            <a:spLocks/>
          </p:cNvSpPr>
          <p:nvPr/>
        </p:nvSpPr>
        <p:spPr>
          <a:xfrm>
            <a:off x="405000" y="4727376"/>
            <a:ext cx="8334000" cy="16108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2200" dirty="0">
                <a:latin typeface="+mj-lt"/>
              </a:rPr>
              <a:t>In Linux, file is defined as simply the thing that deals with a sequence of bytes</a:t>
            </a:r>
          </a:p>
          <a:p>
            <a:pPr>
              <a:lnSpc>
                <a:spcPct val="80000"/>
              </a:lnSpc>
            </a:pPr>
            <a:r>
              <a:rPr lang="en-US" sz="2200" dirty="0">
                <a:latin typeface="+mj-lt"/>
              </a:rPr>
              <a:t>Hence everything are files</a:t>
            </a:r>
            <a:r>
              <a:rPr lang="pl-PL" sz="2200" dirty="0">
                <a:latin typeface="+mj-lt"/>
              </a:rPr>
              <a:t>: a</a:t>
            </a:r>
            <a:r>
              <a:rPr lang="en-US" sz="2200" dirty="0">
                <a:latin typeface="+mj-lt"/>
              </a:rPr>
              <a:t>n ordinary file is a file; a directory is also file; a network card, a hard disk, any device are also files since they deal with a sequence of bytes </a:t>
            </a:r>
          </a:p>
        </p:txBody>
      </p:sp>
      <p:pic>
        <p:nvPicPr>
          <p:cNvPr id="2" name="Graphic 1" descr="Key with solid fill">
            <a:extLst>
              <a:ext uri="{FF2B5EF4-FFF2-40B4-BE49-F238E27FC236}">
                <a16:creationId xmlns:a16="http://schemas.microsoft.com/office/drawing/2014/main" id="{8F1FF8FA-8FF8-B304-34C1-657D115FD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4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Moving</a:t>
            </a:r>
            <a:r>
              <a:rPr lang="nl-BE" dirty="0"/>
              <a:t> </a:t>
            </a:r>
            <a:r>
              <a:rPr lang="nl-BE" dirty="0" err="1"/>
              <a:t>around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nl-BE" sz="2000" b="1" dirty="0" err="1">
                <a:latin typeface="+mj-lt"/>
              </a:rPr>
              <a:t>Symbolic</a:t>
            </a:r>
            <a:r>
              <a:rPr lang="nl-BE" sz="2000" b="1" dirty="0">
                <a:latin typeface="+mj-lt"/>
              </a:rPr>
              <a:t> (soft) link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Not a real file, just a link to another file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Allow</a:t>
            </a:r>
            <a:r>
              <a:rPr lang="pl-PL" sz="2000" dirty="0">
                <a:latin typeface="+mj-lt"/>
              </a:rPr>
              <a:t>s</a:t>
            </a:r>
            <a:r>
              <a:rPr lang="en-US" sz="2000" dirty="0">
                <a:latin typeface="+mj-lt"/>
              </a:rPr>
              <a:t> giving another name to a file without actually </a:t>
            </a:r>
            <a:r>
              <a:rPr lang="en-US" sz="2000" dirty="0" err="1">
                <a:latin typeface="+mj-lt"/>
              </a:rPr>
              <a:t>duplicat</a:t>
            </a:r>
            <a:r>
              <a:rPr lang="pl-PL" sz="2000" dirty="0" err="1">
                <a:latin typeface="+mj-lt"/>
              </a:rPr>
              <a:t>ing</a:t>
            </a:r>
            <a:r>
              <a:rPr lang="en-US" sz="2000" dirty="0">
                <a:latin typeface="+mj-lt"/>
              </a:rPr>
              <a:t> it – hence save</a:t>
            </a:r>
            <a:r>
              <a:rPr lang="pl-PL" sz="2000" dirty="0">
                <a:latin typeface="+mj-lt"/>
              </a:rPr>
              <a:t>s</a:t>
            </a:r>
            <a:r>
              <a:rPr lang="en-US" sz="2000" dirty="0">
                <a:latin typeface="+mj-lt"/>
              </a:rPr>
              <a:t> memory space</a:t>
            </a:r>
            <a:endParaRPr lang="pl-PL" sz="2000" dirty="0">
              <a:latin typeface="+mj-lt"/>
            </a:endParaRPr>
          </a:p>
          <a:p>
            <a:pPr marL="359637" lvl="1" indent="0">
              <a:lnSpc>
                <a:spcPct val="80000"/>
              </a:lnSpc>
              <a:buNone/>
            </a:pPr>
            <a:endParaRPr lang="en-US" sz="2000" dirty="0">
              <a:latin typeface="+mj-lt"/>
            </a:endParaRPr>
          </a:p>
          <a:p>
            <a:pPr>
              <a:lnSpc>
                <a:spcPct val="80000"/>
              </a:lnSpc>
            </a:pPr>
            <a:r>
              <a:rPr lang="nl-BE" sz="2000" b="1" dirty="0">
                <a:latin typeface="+mj-lt"/>
              </a:rPr>
              <a:t>Special file (device)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Each hardware device, e.g. keyboard, hard disk, CD-ROM, etc. is associated with at least one file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Usually store in /</a:t>
            </a:r>
            <a:r>
              <a:rPr lang="en-US" sz="2000" dirty="0" err="1">
                <a:latin typeface="+mj-lt"/>
                <a:cs typeface="Courier New" pitchFamily="49" charset="0"/>
              </a:rPr>
              <a:t>dev</a:t>
            </a:r>
            <a:r>
              <a:rPr lang="en-US" sz="2000" dirty="0">
                <a:latin typeface="+mj-lt"/>
                <a:cs typeface="Courier New" pitchFamily="49" charset="0"/>
              </a:rPr>
              <a:t> directory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Applications can read and write any devices by reading and writing their associate file – hence the access method is known as device independent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Divide into two types: character special files, e.g. keyboard, and block special files, e.g. disk</a:t>
            </a:r>
          </a:p>
          <a:p>
            <a:endParaRPr lang="nl-BE" sz="20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68027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endParaRPr lang="en-US" sz="2000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54</a:t>
            </a:fld>
            <a:endParaRPr lang="nl-NL"/>
          </a:p>
        </p:txBody>
      </p:sp>
      <p:grpSp>
        <p:nvGrpSpPr>
          <p:cNvPr id="5" name="Groep 4"/>
          <p:cNvGrpSpPr/>
          <p:nvPr/>
        </p:nvGrpSpPr>
        <p:grpSpPr>
          <a:xfrm>
            <a:off x="183520" y="1298865"/>
            <a:ext cx="7844864" cy="4650416"/>
            <a:chOff x="543560" y="1298863"/>
            <a:chExt cx="8636952" cy="5384875"/>
          </a:xfrm>
        </p:grpSpPr>
        <p:pic>
          <p:nvPicPr>
            <p:cNvPr id="6" name="Picture 7" descr="CUI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5312" y="1349738"/>
              <a:ext cx="8585200" cy="533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ep 6"/>
            <p:cNvGrpSpPr/>
            <p:nvPr/>
          </p:nvGrpSpPr>
          <p:grpSpPr>
            <a:xfrm>
              <a:off x="543560" y="1298863"/>
              <a:ext cx="8596596" cy="5077132"/>
              <a:chOff x="543560" y="1298863"/>
              <a:chExt cx="8596596" cy="5077132"/>
            </a:xfrm>
          </p:grpSpPr>
          <p:sp>
            <p:nvSpPr>
              <p:cNvPr id="8" name="Oval 8"/>
              <p:cNvSpPr>
                <a:spLocks noChangeArrowheads="1"/>
              </p:cNvSpPr>
              <p:nvPr/>
            </p:nvSpPr>
            <p:spPr bwMode="auto">
              <a:xfrm>
                <a:off x="3078480" y="1844755"/>
                <a:ext cx="2819400" cy="425450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5711156" y="1298863"/>
                <a:ext cx="3429000" cy="10156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altLang="zh-TW" sz="1700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Command that sets a symbolic link to a file called CUI to </a:t>
                </a:r>
                <a:r>
                  <a:rPr lang="en-US" altLang="zh-TW" sz="1700" dirty="0" err="1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anotherCUI</a:t>
                </a:r>
                <a:endParaRPr lang="en-US" altLang="zh-TW" sz="1700" dirty="0">
                  <a:solidFill>
                    <a:srgbClr val="182B52"/>
                  </a:solidFill>
                  <a:ea typeface="新細明體" panose="02020500000000000000" pitchFamily="18" charset="-120"/>
                </a:endParaRPr>
              </a:p>
            </p:txBody>
          </p:sp>
          <p:sp>
            <p:nvSpPr>
              <p:cNvPr id="10" name="Line 10"/>
              <p:cNvSpPr>
                <a:spLocks noChangeShapeType="1"/>
              </p:cNvSpPr>
              <p:nvPr/>
            </p:nvSpPr>
            <p:spPr bwMode="auto">
              <a:xfrm flipH="1">
                <a:off x="4648200" y="1625392"/>
                <a:ext cx="1059112" cy="20340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1" name="Line 11"/>
              <p:cNvSpPr>
                <a:spLocks noChangeShapeType="1"/>
              </p:cNvSpPr>
              <p:nvPr/>
            </p:nvSpPr>
            <p:spPr bwMode="auto">
              <a:xfrm flipH="1">
                <a:off x="7524328" y="2222192"/>
                <a:ext cx="360040" cy="1926887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2" name="Text Box 12"/>
              <p:cNvSpPr txBox="1">
                <a:spLocks noChangeArrowheads="1"/>
              </p:cNvSpPr>
              <p:nvPr/>
            </p:nvSpPr>
            <p:spPr bwMode="auto">
              <a:xfrm>
                <a:off x="1205597" y="5802708"/>
                <a:ext cx="3993466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altLang="zh-TW" sz="1800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A symbolic link begins with a letter </a:t>
                </a:r>
                <a:r>
                  <a:rPr lang="en-US" altLang="zh-TW" sz="1800" i="1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l   </a:t>
                </a:r>
              </a:p>
            </p:txBody>
          </p:sp>
          <p:sp>
            <p:nvSpPr>
              <p:cNvPr id="13" name="Line 13"/>
              <p:cNvSpPr>
                <a:spLocks noChangeShapeType="1"/>
              </p:cNvSpPr>
              <p:nvPr/>
            </p:nvSpPr>
            <p:spPr bwMode="auto">
              <a:xfrm flipH="1" flipV="1">
                <a:off x="1209566" y="4321175"/>
                <a:ext cx="1562234" cy="1479784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4" name="Oval 14"/>
              <p:cNvSpPr>
                <a:spLocks noChangeArrowheads="1"/>
              </p:cNvSpPr>
              <p:nvPr/>
            </p:nvSpPr>
            <p:spPr bwMode="auto">
              <a:xfrm>
                <a:off x="543560" y="4017315"/>
                <a:ext cx="1332012" cy="288925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15" name="Text Box 8"/>
              <p:cNvSpPr txBox="1">
                <a:spLocks noChangeArrowheads="1"/>
              </p:cNvSpPr>
              <p:nvPr/>
            </p:nvSpPr>
            <p:spPr bwMode="auto">
              <a:xfrm>
                <a:off x="5805091" y="5057371"/>
                <a:ext cx="2732880" cy="13186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700" dirty="0">
                    <a:solidFill>
                      <a:srgbClr val="182B52"/>
                    </a:solidFill>
                    <a:latin typeface="+mj-lt"/>
                    <a:ea typeface="新細明體" panose="02020500000000000000" pitchFamily="18" charset="-120"/>
                  </a:rPr>
                  <a:t>Names in blue are directories, indicated by a letter d at the beginning of the line</a:t>
                </a:r>
              </a:p>
            </p:txBody>
          </p:sp>
          <p:sp>
            <p:nvSpPr>
              <p:cNvPr id="16" name="Oval 14"/>
              <p:cNvSpPr>
                <a:spLocks noChangeArrowheads="1"/>
              </p:cNvSpPr>
              <p:nvPr/>
            </p:nvSpPr>
            <p:spPr bwMode="auto">
              <a:xfrm>
                <a:off x="543560" y="3663300"/>
                <a:ext cx="1292136" cy="258736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17" name="Line 13"/>
              <p:cNvSpPr>
                <a:spLocks noChangeShapeType="1"/>
              </p:cNvSpPr>
              <p:nvPr/>
            </p:nvSpPr>
            <p:spPr bwMode="auto">
              <a:xfrm flipH="1" flipV="1">
                <a:off x="1835696" y="3879769"/>
                <a:ext cx="3969394" cy="146557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8" name="Line 11"/>
              <p:cNvSpPr>
                <a:spLocks noChangeShapeType="1"/>
              </p:cNvSpPr>
              <p:nvPr/>
            </p:nvSpPr>
            <p:spPr bwMode="auto">
              <a:xfrm flipH="1" flipV="1">
                <a:off x="6732240" y="3866665"/>
                <a:ext cx="349746" cy="119070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8731513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Moving</a:t>
            </a:r>
            <a:r>
              <a:rPr lang="nl-BE" dirty="0"/>
              <a:t> </a:t>
            </a:r>
            <a:r>
              <a:rPr lang="nl-BE" dirty="0" err="1"/>
              <a:t>around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nl-BE" sz="2000" dirty="0">
                <a:latin typeface="+mj-lt"/>
              </a:rPr>
              <a:t>Display the </a:t>
            </a:r>
            <a:r>
              <a:rPr lang="nl-BE" sz="2000" dirty="0" err="1">
                <a:latin typeface="+mj-lt"/>
              </a:rPr>
              <a:t>current</a:t>
            </a:r>
            <a:r>
              <a:rPr lang="nl-BE" sz="2000" dirty="0">
                <a:latin typeface="+mj-lt"/>
              </a:rPr>
              <a:t>/</a:t>
            </a:r>
            <a:r>
              <a:rPr lang="nl-BE" sz="2000" dirty="0" err="1">
                <a:latin typeface="+mj-lt"/>
              </a:rPr>
              <a:t>working</a:t>
            </a:r>
            <a:r>
              <a:rPr lang="nl-BE" sz="2000" dirty="0">
                <a:latin typeface="+mj-lt"/>
              </a:rPr>
              <a:t> directory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>
              <a:lnSpc>
                <a:spcPct val="80000"/>
              </a:lnSpc>
            </a:pPr>
            <a:r>
              <a:rPr lang="en-US" sz="2000" b="1" dirty="0">
                <a:latin typeface="+mj-lt"/>
              </a:rPr>
              <a:t>P</a:t>
            </a:r>
            <a:r>
              <a:rPr lang="en-US" sz="2000" dirty="0">
                <a:latin typeface="+mj-lt"/>
              </a:rPr>
              <a:t>rint </a:t>
            </a:r>
            <a:r>
              <a:rPr lang="en-US" sz="2000" b="1" dirty="0">
                <a:latin typeface="+mj-lt"/>
              </a:rPr>
              <a:t>W</a:t>
            </a:r>
            <a:r>
              <a:rPr lang="en-US" sz="2000" dirty="0">
                <a:latin typeface="+mj-lt"/>
              </a:rPr>
              <a:t>orking </a:t>
            </a:r>
            <a:r>
              <a:rPr lang="en-US" sz="2000" b="1" dirty="0">
                <a:latin typeface="+mj-lt"/>
              </a:rPr>
              <a:t>D</a:t>
            </a:r>
            <a:r>
              <a:rPr lang="en-US" sz="2000" dirty="0">
                <a:latin typeface="+mj-lt"/>
              </a:rPr>
              <a:t>irectory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displays your current location within the file system.</a:t>
            </a:r>
          </a:p>
          <a:p>
            <a:pPr>
              <a:lnSpc>
                <a:spcPct val="80000"/>
              </a:lnSpc>
            </a:pPr>
            <a:r>
              <a:rPr lang="nl-BE" sz="2000" dirty="0">
                <a:latin typeface="+mj-lt"/>
              </a:rPr>
              <a:t>Change (</a:t>
            </a:r>
            <a:r>
              <a:rPr lang="nl-BE" sz="2000" dirty="0" err="1">
                <a:latin typeface="+mj-lt"/>
              </a:rPr>
              <a:t>navigate</a:t>
            </a:r>
            <a:r>
              <a:rPr lang="nl-BE" sz="2000" dirty="0">
                <a:latin typeface="+mj-lt"/>
              </a:rPr>
              <a:t>) directories.</a:t>
            </a:r>
            <a:endParaRPr lang="en-US" sz="2000" dirty="0">
              <a:latin typeface="+mj-lt"/>
            </a:endParaRP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cd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dir_name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>
              <a:lnSpc>
                <a:spcPct val="80000"/>
              </a:lnSpc>
            </a:pPr>
            <a:r>
              <a:rPr lang="nl-BE" sz="2000" b="1" dirty="0">
                <a:latin typeface="+mj-lt"/>
              </a:rPr>
              <a:t>C</a:t>
            </a:r>
            <a:r>
              <a:rPr lang="nl-BE" sz="2000" dirty="0">
                <a:latin typeface="+mj-lt"/>
              </a:rPr>
              <a:t>hange </a:t>
            </a:r>
            <a:r>
              <a:rPr lang="nl-BE" sz="2000" b="1" dirty="0">
                <a:latin typeface="+mj-lt"/>
              </a:rPr>
              <a:t>D</a:t>
            </a:r>
            <a:r>
              <a:rPr lang="nl-BE" sz="2000" dirty="0">
                <a:latin typeface="+mj-lt"/>
              </a:rPr>
              <a:t>irectories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changes the position to the specific directory</a:t>
            </a:r>
          </a:p>
          <a:p>
            <a:pPr>
              <a:lnSpc>
                <a:spcPct val="80000"/>
              </a:lnSpc>
            </a:pPr>
            <a:r>
              <a:rPr lang="en-US" sz="2000" dirty="0">
                <a:latin typeface="+mj-lt"/>
              </a:rPr>
              <a:t>You can specify directory names in two ways: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Absolute pathname (starts from the root of the tree)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/u/home/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hpc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/test/bin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Relative pathname (relative to your current directory)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.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..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test/bin</a:t>
            </a:r>
          </a:p>
          <a:p>
            <a:endParaRPr lang="nl-BE" sz="20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55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796F5628-FEEF-2208-369A-6D28F6F77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2606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Special directories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124744"/>
            <a:ext cx="7920000" cy="4678362"/>
          </a:xfrm>
        </p:spPr>
        <p:txBody>
          <a:bodyPr/>
          <a:lstStyle/>
          <a:p>
            <a:r>
              <a:rPr lang="nl-BE" sz="1800" b="1" dirty="0">
                <a:latin typeface="+mj-lt"/>
              </a:rPr>
              <a:t>.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The current directory. 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Useful for commands taking a directory argument. 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Useful to run commands in the current directory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  <a:cs typeface="Courier New" pitchFamily="49" charset="0"/>
              </a:rPr>
              <a:t>./readme.txt </a:t>
            </a:r>
            <a:r>
              <a:rPr lang="en-US" sz="1800" dirty="0">
                <a:latin typeface="+mj-lt"/>
              </a:rPr>
              <a:t>and </a:t>
            </a:r>
            <a:r>
              <a:rPr lang="en-US" sz="1800" dirty="0">
                <a:latin typeface="+mj-lt"/>
                <a:cs typeface="Courier New" pitchFamily="49" charset="0"/>
              </a:rPr>
              <a:t>readme.txt</a:t>
            </a:r>
            <a:r>
              <a:rPr lang="en-US" sz="1800" dirty="0">
                <a:latin typeface="+mj-lt"/>
              </a:rPr>
              <a:t> are equivalent.</a:t>
            </a:r>
          </a:p>
          <a:p>
            <a:r>
              <a:rPr lang="nl-BE" sz="1800" b="1" dirty="0">
                <a:latin typeface="+mj-lt"/>
              </a:rPr>
              <a:t>..</a:t>
            </a:r>
          </a:p>
          <a:p>
            <a:pPr lvl="1"/>
            <a:r>
              <a:rPr lang="en-US" sz="1800" dirty="0">
                <a:latin typeface="+mj-lt"/>
              </a:rPr>
              <a:t>The parent (enclosing) directory. Always belongs to the . Directory	</a:t>
            </a:r>
          </a:p>
          <a:p>
            <a:pPr lvl="1"/>
            <a:r>
              <a:rPr lang="en-US" sz="1800" dirty="0">
                <a:latin typeface="+mj-lt"/>
              </a:rPr>
              <a:t>Typical usage:</a:t>
            </a:r>
            <a:br>
              <a:rPr lang="en-US" sz="1800" dirty="0">
                <a:latin typeface="+mj-lt"/>
              </a:rPr>
            </a:br>
            <a:r>
              <a:rPr lang="en-US" sz="1800" dirty="0">
                <a:latin typeface="+mj-lt"/>
                <a:cs typeface="Courier New" pitchFamily="49" charset="0"/>
              </a:rPr>
              <a:t>cd ..</a:t>
            </a:r>
          </a:p>
          <a:p>
            <a:pPr marL="465337" fontAlgn="auto">
              <a:defRPr/>
            </a:pPr>
            <a:r>
              <a:rPr lang="en-US" sz="1800" b="1" dirty="0">
                <a:latin typeface="+mj-lt"/>
                <a:cs typeface="Courier New" pitchFamily="49" charset="0"/>
              </a:rPr>
              <a:t>~</a:t>
            </a:r>
          </a:p>
          <a:p>
            <a:pPr marL="865387" lvl="1" fontAlgn="auto">
              <a:defRPr/>
            </a:pPr>
            <a:r>
              <a:rPr lang="en-US" sz="1800" dirty="0">
                <a:latin typeface="+mj-lt"/>
              </a:rPr>
              <a:t>Shells just substitute it by the home directory of the current user.</a:t>
            </a:r>
          </a:p>
          <a:p>
            <a:pPr marL="465337" fontAlgn="auto">
              <a:defRPr/>
            </a:pPr>
            <a:r>
              <a:rPr lang="en-US" sz="1800" b="1" dirty="0">
                <a:latin typeface="+mj-lt"/>
                <a:cs typeface="Courier New" pitchFamily="49" charset="0"/>
              </a:rPr>
              <a:t>-</a:t>
            </a:r>
          </a:p>
          <a:p>
            <a:pPr marL="865387" lvl="1" fontAlgn="auto">
              <a:defRPr/>
            </a:pPr>
            <a:r>
              <a:rPr lang="en-US" sz="1800" dirty="0">
                <a:latin typeface="+mj-lt"/>
                <a:cs typeface="Courier New" pitchFamily="49" charset="0"/>
              </a:rPr>
              <a:t>cd –</a:t>
            </a:r>
            <a:r>
              <a:rPr lang="en-US" sz="1800" dirty="0">
                <a:latin typeface="+mj-lt"/>
              </a:rPr>
              <a:t> jump back to the previous directory</a:t>
            </a:r>
          </a:p>
          <a:p>
            <a:pPr marL="865387" lvl="1" fontAlgn="auto">
              <a:defRPr/>
            </a:pPr>
            <a:endParaRPr lang="en-US" sz="1800" dirty="0">
              <a:latin typeface="+mj-lt"/>
            </a:endParaRPr>
          </a:p>
          <a:p>
            <a:pPr marL="465337" fontAlgn="auto">
              <a:defRPr/>
            </a:pPr>
            <a:endParaRPr lang="en-US" sz="1800" dirty="0">
              <a:latin typeface="+mj-lt"/>
              <a:cs typeface="Courier New" pitchFamily="49" charset="0"/>
            </a:endParaRPr>
          </a:p>
          <a:p>
            <a:endParaRPr lang="nl-BE" sz="18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61461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57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5565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Afgeronde rechthoek 11"/>
          <p:cNvSpPr/>
          <p:nvPr/>
        </p:nvSpPr>
        <p:spPr>
          <a:xfrm>
            <a:off x="4499608" y="3269711"/>
            <a:ext cx="720464" cy="49693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2408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58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6206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589236" y="2987846"/>
            <a:ext cx="198788" cy="44458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499992" y="2631262"/>
            <a:ext cx="702844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9580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59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562790" y="5030853"/>
            <a:ext cx="813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../..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5425065" y="4629330"/>
            <a:ext cx="743100" cy="4443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707000" y="3717033"/>
            <a:ext cx="306965" cy="499672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602864" y="3344520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 flipV="1">
            <a:off x="4679156" y="4386866"/>
            <a:ext cx="745909" cy="33500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25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60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5565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/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589236" y="2208296"/>
            <a:ext cx="72392" cy="122413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207068" y="1861196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47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61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3552889" y="1873562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-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>
            <a:off x="4349191" y="2225752"/>
            <a:ext cx="329965" cy="11247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207068" y="1861196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3" name="Afgeronde rechthoek 12"/>
          <p:cNvSpPr/>
          <p:nvPr/>
        </p:nvSpPr>
        <p:spPr>
          <a:xfrm>
            <a:off x="4499608" y="3321136"/>
            <a:ext cx="792472" cy="46790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15392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62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562790" y="5030853"/>
            <a:ext cx="6270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~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5425065" y="4629330"/>
            <a:ext cx="743100" cy="4443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H="1" flipV="1">
            <a:off x="5004048" y="3717032"/>
            <a:ext cx="691691" cy="91229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602864" y="3344520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0667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63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104000" y="4459191"/>
            <a:ext cx="15311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350400" y="3656412"/>
            <a:ext cx="581640" cy="4743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hoek 13"/>
          <p:cNvSpPr/>
          <p:nvPr/>
        </p:nvSpPr>
        <p:spPr>
          <a:xfrm>
            <a:off x="323528" y="4077072"/>
            <a:ext cx="15841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Relative path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7E79B44-4BA4-B713-128C-243BDE69C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61331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64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792148" y="4356187"/>
            <a:ext cx="15376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~/Desktop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350400" y="3656412"/>
            <a:ext cx="581640" cy="4743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hoek 12"/>
          <p:cNvSpPr/>
          <p:nvPr/>
        </p:nvSpPr>
        <p:spPr>
          <a:xfrm>
            <a:off x="323528" y="4077072"/>
            <a:ext cx="15841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Relative path</a:t>
            </a:r>
            <a:endParaRPr lang="nl-B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65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850032" y="4393873"/>
            <a:ext cx="36824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/home/sue/Desktop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>
            <a:off x="4497204" y="2266749"/>
            <a:ext cx="434836" cy="44217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echte verbindingslijn met pijl 12"/>
          <p:cNvCxnSpPr/>
          <p:nvPr/>
        </p:nvCxnSpPr>
        <p:spPr>
          <a:xfrm>
            <a:off x="4865628" y="2916027"/>
            <a:ext cx="0" cy="5091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hoek 14"/>
          <p:cNvSpPr/>
          <p:nvPr/>
        </p:nvSpPr>
        <p:spPr>
          <a:xfrm>
            <a:off x="3779912" y="1537377"/>
            <a:ext cx="115212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Full path</a:t>
            </a:r>
            <a:endParaRPr lang="nl-B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3455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File </a:t>
            </a:r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paths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path is a sequence of nested directories with a file or directory at the end, separated by the / character</a:t>
            </a:r>
          </a:p>
          <a:p>
            <a:r>
              <a:rPr lang="en-US" b="1" dirty="0"/>
              <a:t>Relative path</a:t>
            </a:r>
            <a:r>
              <a:rPr lang="en-US" dirty="0"/>
              <a:t>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documents/fun/file1</a:t>
            </a:r>
            <a:br>
              <a:rPr lang="en-US" dirty="0"/>
            </a:br>
            <a:r>
              <a:rPr lang="en-US" dirty="0"/>
              <a:t>Relative to the current directory</a:t>
            </a:r>
            <a:endParaRPr lang="pl-PL" dirty="0"/>
          </a:p>
          <a:p>
            <a:r>
              <a:rPr lang="pl-PL" dirty="0">
                <a:solidFill>
                  <a:srgbClr val="FF0000"/>
                </a:solidFill>
              </a:rPr>
              <a:t>To </a:t>
            </a:r>
            <a:r>
              <a:rPr lang="pl-PL" dirty="0" err="1">
                <a:solidFill>
                  <a:srgbClr val="FF0000"/>
                </a:solidFill>
              </a:rPr>
              <a:t>work</a:t>
            </a:r>
            <a:r>
              <a:rPr lang="pl-PL" dirty="0">
                <a:solidFill>
                  <a:srgbClr val="FF0000"/>
                </a:solidFill>
              </a:rPr>
              <a:t> with </a:t>
            </a:r>
            <a:r>
              <a:rPr lang="pl-PL" dirty="0" err="1">
                <a:solidFill>
                  <a:srgbClr val="FF0000"/>
                </a:solidFill>
              </a:rPr>
              <a:t>relative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paths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they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need</a:t>
            </a:r>
            <a:r>
              <a:rPr lang="pl-PL" dirty="0">
                <a:solidFill>
                  <a:srgbClr val="FF0000"/>
                </a:solidFill>
              </a:rPr>
              <a:t> to </a:t>
            </a:r>
            <a:r>
              <a:rPr lang="pl-PL" dirty="0" err="1">
                <a:solidFill>
                  <a:srgbClr val="FF0000"/>
                </a:solidFill>
              </a:rPr>
              <a:t>have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connection</a:t>
            </a:r>
            <a:r>
              <a:rPr lang="pl-PL" dirty="0">
                <a:solidFill>
                  <a:srgbClr val="FF0000"/>
                </a:solidFill>
              </a:rPr>
              <a:t> on the </a:t>
            </a:r>
            <a:r>
              <a:rPr lang="pl-PL" dirty="0" err="1">
                <a:solidFill>
                  <a:srgbClr val="FF0000"/>
                </a:solidFill>
              </a:rPr>
              <a:t>linux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tree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b="1" dirty="0"/>
              <a:t>Absolute path</a:t>
            </a:r>
            <a:r>
              <a:rPr lang="en-US" dirty="0"/>
              <a:t>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/home/user/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/file2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/>
              <a:t> : root directory.</a:t>
            </a:r>
            <a:br>
              <a:rPr lang="en-US" dirty="0"/>
            </a:br>
            <a:r>
              <a:rPr lang="en-US" dirty="0"/>
              <a:t>Start of absolute paths for all files on the system</a:t>
            </a:r>
            <a:endParaRPr lang="pl-PL" dirty="0"/>
          </a:p>
          <a:p>
            <a:pPr marL="3600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Not a </a:t>
            </a:r>
            <a:r>
              <a:rPr lang="pl-PL" dirty="0" err="1">
                <a:solidFill>
                  <a:srgbClr val="FF0000"/>
                </a:solidFill>
              </a:rPr>
              <a:t>superuser’s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home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directory</a:t>
            </a:r>
            <a:r>
              <a:rPr lang="pl-PL" dirty="0">
                <a:solidFill>
                  <a:srgbClr val="FF0000"/>
                </a:solidFill>
              </a:rPr>
              <a:t> (-&gt; /</a:t>
            </a:r>
            <a:r>
              <a:rPr lang="pl-PL" dirty="0" err="1">
                <a:solidFill>
                  <a:srgbClr val="FF0000"/>
                </a:solidFill>
              </a:rPr>
              <a:t>root</a:t>
            </a:r>
            <a:r>
              <a:rPr lang="pl-PL" dirty="0">
                <a:solidFill>
                  <a:srgbClr val="FF0000"/>
                </a:solidFill>
              </a:rPr>
              <a:t>)</a:t>
            </a:r>
            <a:endParaRPr lang="en-US" dirty="0">
              <a:solidFill>
                <a:srgbClr val="FF0000"/>
              </a:solidFill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153994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700" dirty="0">
                <a:latin typeface="+mj-lt"/>
              </a:rPr>
              <a:t>What does a file contain? </a:t>
            </a:r>
          </a:p>
          <a:p>
            <a:pPr lvl="1"/>
            <a:r>
              <a:rPr lang="en-US" sz="1700" dirty="0">
                <a:latin typeface="+mj-lt"/>
              </a:rPr>
              <a:t>Determine a file's type: 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</a:p>
          <a:p>
            <a:pPr lvl="1"/>
            <a:r>
              <a:rPr lang="en-US" sz="1700" dirty="0">
                <a:latin typeface="+mj-lt"/>
              </a:rPr>
              <a:t>will print a brief description of the file's contents</a:t>
            </a:r>
            <a:endParaRPr lang="en-US" sz="1700" dirty="0">
              <a:latin typeface="+mj-lt"/>
              <a:cs typeface="Courier New" pitchFamily="49" charset="0"/>
            </a:endParaRPr>
          </a:p>
          <a:p>
            <a:pPr lvl="1"/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file  filename</a:t>
            </a:r>
          </a:p>
          <a:p>
            <a:r>
              <a:rPr lang="en-US" sz="1700" dirty="0">
                <a:latin typeface="+mj-lt"/>
              </a:rPr>
              <a:t>Search for files and directories </a:t>
            </a:r>
          </a:p>
          <a:p>
            <a:pPr lvl="1"/>
            <a:r>
              <a:rPr lang="en-US" sz="1700" dirty="0">
                <a:latin typeface="+mj-lt"/>
              </a:rPr>
              <a:t>The </a:t>
            </a:r>
            <a:r>
              <a:rPr lang="en-US" sz="1700" b="1" dirty="0">
                <a:latin typeface="+mj-lt"/>
                <a:cs typeface="Courier New" pitchFamily="49" charset="0"/>
              </a:rPr>
              <a:t>find</a:t>
            </a:r>
            <a:r>
              <a:rPr lang="en-US" sz="1700" b="1" dirty="0">
                <a:latin typeface="+mj-lt"/>
              </a:rPr>
              <a:t> </a:t>
            </a:r>
            <a:r>
              <a:rPr lang="en-US" sz="1700" dirty="0">
                <a:latin typeface="+mj-lt"/>
              </a:rPr>
              <a:t>command performs a raw search on a file system to locate the specified items.</a:t>
            </a:r>
            <a:endParaRPr lang="pl-PL" sz="1700" dirty="0">
              <a:latin typeface="+mj-lt"/>
            </a:endParaRPr>
          </a:p>
          <a:p>
            <a:pPr lvl="1"/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–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some-name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59637" lvl="1" indent="0">
              <a:buNone/>
            </a:pP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 ($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/student -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*desktop)</a:t>
            </a:r>
            <a:endParaRPr lang="en-US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700" dirty="0">
                <a:latin typeface="+mj-lt"/>
              </a:rPr>
              <a:t>Be careful: results can sometimes be slow 	</a:t>
            </a:r>
          </a:p>
          <a:p>
            <a:r>
              <a:rPr lang="en-US" sz="1700" dirty="0">
                <a:latin typeface="+mj-lt"/>
              </a:rPr>
              <a:t>Search the locate database for files and directories </a:t>
            </a:r>
          </a:p>
          <a:p>
            <a:pPr lvl="1"/>
            <a:r>
              <a:rPr lang="en-US" sz="1700" dirty="0">
                <a:latin typeface="+mj-lt"/>
              </a:rPr>
              <a:t>The 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locate</a:t>
            </a:r>
            <a:r>
              <a:rPr lang="en-US" sz="1700" b="1" dirty="0">
                <a:latin typeface="+mj-lt"/>
              </a:rPr>
              <a:t> </a:t>
            </a:r>
            <a:r>
              <a:rPr lang="en-US" sz="1700" dirty="0">
                <a:latin typeface="+mj-lt"/>
              </a:rPr>
              <a:t>command displays the location of files that match the specified name. </a:t>
            </a:r>
          </a:p>
          <a:p>
            <a:pPr lvl="1"/>
            <a:r>
              <a:rPr lang="en-US" sz="1700" dirty="0">
                <a:latin typeface="+mj-lt"/>
              </a:rPr>
              <a:t>Faster than find because it searches a database of indexed filenames.</a:t>
            </a:r>
          </a:p>
          <a:p>
            <a:pPr lvl="1"/>
            <a:r>
              <a:rPr lang="en-US" sz="1700" dirty="0">
                <a:latin typeface="+mj-lt"/>
              </a:rPr>
              <a:t>Disadvantage: lacks the ability to search for advanced characteristics such as file owner, size, and modification time. </a:t>
            </a:r>
            <a:endParaRPr lang="nl-BE" sz="17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85754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Display extended information about a file system, file, or directory </a:t>
            </a:r>
          </a:p>
          <a:p>
            <a:r>
              <a:rPr lang="en-US" dirty="0"/>
              <a:t>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stat</a:t>
            </a:r>
            <a:r>
              <a:rPr lang="en-US" b="1" dirty="0"/>
              <a:t> </a:t>
            </a:r>
            <a:r>
              <a:rPr lang="en-US" dirty="0"/>
              <a:t>command displays extended information about files. It includes helpful information not available when using 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b="1" dirty="0"/>
              <a:t> </a:t>
            </a:r>
            <a:r>
              <a:rPr lang="en-US" dirty="0"/>
              <a:t>command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024597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File names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540000" y="1349999"/>
            <a:ext cx="8496496" cy="4428000"/>
          </a:xfrm>
        </p:spPr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 marL="108000" indent="0">
              <a:buNone/>
            </a:pPr>
            <a:r>
              <a:rPr lang="en-US" dirty="0">
                <a:latin typeface="+mn-lt"/>
              </a:rPr>
              <a:t>File name features: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Case sensitive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No obvious length limit (255 characters)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Can contain any character (including whitespace, except /).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File name extensions not needed and not interpreted. Just used for user convenience. (File types stored in the file)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/>
              <a:t>a hidden file is any file that begins with a “.” (not seen with the bare </a:t>
            </a:r>
            <a:r>
              <a:rPr lang="en-US" i="1" dirty="0"/>
              <a:t>ls</a:t>
            </a:r>
            <a:r>
              <a:rPr lang="en-US" dirty="0"/>
              <a:t>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69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B81A791C-C7CC-D4E1-D9EB-E3170CF117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44383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8377-4639-77FC-63E4-36DEA6AC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>
            <a:extLst>
              <a:ext uri="{FF2B5EF4-FFF2-40B4-BE49-F238E27FC236}">
                <a16:creationId xmlns:a16="http://schemas.microsoft.com/office/drawing/2014/main" id="{9FC07ECD-47DF-C604-139C-95744461DF5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names</a:t>
            </a:r>
            <a:r>
              <a:rPr lang="nl-BE" dirty="0"/>
              <a:t> – Best </a:t>
            </a:r>
            <a:r>
              <a:rPr lang="nl-BE" dirty="0" err="1"/>
              <a:t>Practices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F21C6A7-F576-05A3-452F-FD4AE687A6C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Be concise, you don’t want to type long file names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Try to stick to alphanumeric characters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[0-9A-z]</a:t>
            </a:r>
            <a:r>
              <a:rPr lang="en-US" dirty="0">
                <a:latin typeface="+mn-lt"/>
              </a:rPr>
              <a:t>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Avoid spaces in file names,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“_”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“-”</a:t>
            </a:r>
            <a:r>
              <a:rPr lang="en-US" dirty="0">
                <a:latin typeface="+mn-lt"/>
              </a:rPr>
              <a:t> instead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dirty="0">
                <a:latin typeface="+mn-lt"/>
              </a:rPr>
              <a:t>Good file names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A4BD7B-59E3-7A69-814B-8C5C7C1D2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70</a:t>
            </a:fld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D57888-C92B-978B-D0B5-6D839820F1A2}"/>
              </a:ext>
            </a:extLst>
          </p:cNvPr>
          <p:cNvSpPr txBox="1"/>
          <p:nvPr/>
        </p:nvSpPr>
        <p:spPr>
          <a:xfrm>
            <a:off x="660400" y="3391760"/>
            <a:ext cx="10104288" cy="230832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bashrc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project_report_2025.pdf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backup_2025-01-01.tar.gz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image_001.png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user_data.csv</a:t>
            </a:r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DCD5316B-DE1B-8FB1-793C-0ED31BF252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700018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B2C5-E2D1-E130-F4A2-6F6EE3729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>
            <a:extLst>
              <a:ext uri="{FF2B5EF4-FFF2-40B4-BE49-F238E27FC236}">
                <a16:creationId xmlns:a16="http://schemas.microsoft.com/office/drawing/2014/main" id="{2313F6DA-8202-C6BC-1535-09213AC8612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names</a:t>
            </a:r>
            <a:r>
              <a:rPr lang="nl-BE" dirty="0"/>
              <a:t> – Best </a:t>
            </a:r>
            <a:r>
              <a:rPr lang="nl-BE" dirty="0" err="1"/>
              <a:t>Practices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FF28708-76B6-65B1-9B8D-70CB0F972DC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40000" y="1349999"/>
            <a:ext cx="8496496" cy="4428000"/>
          </a:xfrm>
        </p:spPr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Be concise, you don’t want to type long file names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Try to stick to alphanumeric characters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[0-9A-z]</a:t>
            </a:r>
            <a:r>
              <a:rPr lang="en-US" dirty="0">
                <a:latin typeface="+mn-lt"/>
              </a:rPr>
              <a:t>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Avoid spaces in file names,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“_”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“-”</a:t>
            </a:r>
            <a:r>
              <a:rPr lang="en-US" dirty="0">
                <a:latin typeface="+mn-lt"/>
              </a:rPr>
              <a:t> instead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dirty="0">
                <a:latin typeface="+mn-lt"/>
              </a:rPr>
              <a:t>Bad file names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04282F-6075-EB0B-3E82-15D99FAE7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71</a:t>
            </a:fld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1406F9-C9CF-4112-3F37-43E1C5AEA015}"/>
              </a:ext>
            </a:extLst>
          </p:cNvPr>
          <p:cNvSpPr txBox="1"/>
          <p:nvPr/>
        </p:nvSpPr>
        <p:spPr>
          <a:xfrm>
            <a:off x="660400" y="3391760"/>
            <a:ext cx="8213600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Why spaces in file names are the worst.pdf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Tabs\tAndOtherStr@ngeCharacters.txt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932066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usage</a:t>
            </a:r>
          </a:p>
        </p:txBody>
      </p:sp>
      <p:sp>
        <p:nvSpPr>
          <p:cNvPr id="3" name="Tijdelijke aanduiding voor inhoud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180632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-h &lt;file&gt; </a:t>
            </a:r>
            <a:br>
              <a:rPr lang="en-US" sz="2600" b="1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-h: returns size on disk of the given file, in </a:t>
            </a:r>
            <a:r>
              <a:rPr lang="en-US" sz="2600" u="sng" dirty="0">
                <a:latin typeface="Arial" pitchFamily="34" charset="0"/>
                <a:cs typeface="Arial" pitchFamily="34" charset="0"/>
              </a:rPr>
              <a:t>h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uman readable format: K (kilobytes), M (megabytes) or G (gigabytes), 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Without -h, du returns the raw number of disk blocks used by the file (hard to read).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Note that the -h option only exists in GNU </a:t>
            </a:r>
            <a:r>
              <a:rPr lang="en-US" sz="2600" dirty="0" err="1">
                <a:latin typeface="Arial" pitchFamily="34" charset="0"/>
                <a:cs typeface="Arial" pitchFamily="34" charset="0"/>
              </a:rPr>
              <a:t>du.</a:t>
            </a:r>
            <a:endParaRPr lang="en-US" sz="2600" dirty="0">
              <a:latin typeface="Arial" pitchFamily="34" charset="0"/>
              <a:cs typeface="Arial" pitchFamily="34" charset="0"/>
            </a:endParaRPr>
          </a:p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-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sh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-s: returns the </a:t>
            </a:r>
            <a:r>
              <a:rPr lang="en-US" sz="2600" u="sng" dirty="0">
                <a:latin typeface="Arial" pitchFamily="34" charset="0"/>
                <a:cs typeface="Arial" pitchFamily="34" charset="0"/>
              </a:rPr>
              <a:t>s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um of disk usage of all the files in the given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6006492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90F7-EC4C-92C2-1F29-CC56BD72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1F452F4-9BD3-998B-7099-F9646C3D7BD4}"/>
              </a:ext>
            </a:extLst>
          </p:cNvPr>
          <p:cNvGrpSpPr/>
          <p:nvPr/>
        </p:nvGrpSpPr>
        <p:grpSpPr>
          <a:xfrm>
            <a:off x="6732240" y="150042"/>
            <a:ext cx="2016224" cy="1772505"/>
            <a:chOff x="6732240" y="150042"/>
            <a:chExt cx="2016224" cy="1772505"/>
          </a:xfrm>
        </p:grpSpPr>
        <p:pic>
          <p:nvPicPr>
            <p:cNvPr id="2052" name="Picture 4" descr="Duck On White Background Free Stock Photo - Public Domain Pictures">
              <a:extLst>
                <a:ext uri="{FF2B5EF4-FFF2-40B4-BE49-F238E27FC236}">
                  <a16:creationId xmlns:a16="http://schemas.microsoft.com/office/drawing/2014/main" id="{A9A2EE58-38BD-F54E-4401-5B63578FA4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6336" y="150042"/>
              <a:ext cx="1152128" cy="1772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 descr="White Duck Close Up Free Stock Photo - Public Domain Pictures">
              <a:extLst>
                <a:ext uri="{FF2B5EF4-FFF2-40B4-BE49-F238E27FC236}">
                  <a16:creationId xmlns:a16="http://schemas.microsoft.com/office/drawing/2014/main" id="{0A136ED1-FBEF-597D-F8CE-072852DC22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02" r="8767"/>
            <a:stretch>
              <a:fillRect/>
            </a:stretch>
          </p:blipFill>
          <p:spPr bwMode="auto">
            <a:xfrm>
              <a:off x="6732240" y="190481"/>
              <a:ext cx="1080120" cy="16940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69906D7-ED97-F0FD-BDCB-BEC8B4108E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usage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47E6CF-D0D8-8927-07D6-B3EF9940C29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1600438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–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cks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the total disk usage of the directory and shows a total at the end. 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endParaRPr lang="en-US" sz="2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BD18F-FC73-F0F1-384D-8352B965B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73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A9DED3-453F-E9AD-5200-D3686DCCAD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39" y="3016422"/>
            <a:ext cx="6517158" cy="2638991"/>
          </a:xfrm>
          <a:prstGeom prst="rect">
            <a:avLst/>
          </a:prstGeom>
        </p:spPr>
      </p:pic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98D3854B-D709-4CC6-4152-C979620E22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642840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space</a:t>
            </a:r>
          </a:p>
        </p:txBody>
      </p:sp>
      <p:sp>
        <p:nvSpPr>
          <p:cNvPr id="3" name="Tijdelijke aanduiding voor inhoud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883388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disk usage and free space for the file system containing the given directory.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Similarly, the -h option only exists in GNU </a:t>
            </a:r>
            <a:r>
              <a:rPr lang="en-US" sz="2600" dirty="0" err="1">
                <a:latin typeface="Arial" pitchFamily="34" charset="0"/>
                <a:cs typeface="Arial" pitchFamily="34" charset="0"/>
              </a:rPr>
              <a:t>df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.</a:t>
            </a:r>
          </a:p>
          <a:p>
            <a:pPr marL="354013" lvl="0" indent="-354013"/>
            <a:r>
              <a:rPr lang="en-US" sz="2600" dirty="0">
                <a:latin typeface="Arial" pitchFamily="34" charset="0"/>
                <a:cs typeface="Arial" pitchFamily="34" charset="0"/>
              </a:rPr>
              <a:t>Example:</a:t>
            </a:r>
            <a:br>
              <a:rPr lang="en-US" sz="28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 -h 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.</a:t>
            </a:r>
            <a:br>
              <a:rPr lang="en-US" sz="20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Arial" pitchFamily="34" charset="0"/>
                <a:cs typeface="Arial" pitchFamily="34" charset="0"/>
              </a:rPr>
              <a:t>File system           Size  Used Avail Use% Mounted on</a:t>
            </a:r>
            <a:br>
              <a:rPr lang="en-US" sz="20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Arial" pitchFamily="34" charset="0"/>
                <a:cs typeface="Arial" pitchFamily="34" charset="0"/>
              </a:rPr>
              <a:t>/dev/hda5             9.2G  7.1G  1.8G  81% /</a:t>
            </a:r>
          </a:p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disk space information for all file systems available in the system. When errors happen, useful to look for full file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7086026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2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75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535844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manipulation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76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69115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File </a:t>
            </a:r>
            <a:r>
              <a:rPr lang="pl-PL" dirty="0" err="1"/>
              <a:t>Manipulation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For all file manipulation commands relative o</a:t>
            </a:r>
            <a:r>
              <a:rPr lang="en-US" dirty="0"/>
              <a:t>r</a:t>
            </a:r>
            <a:r>
              <a:rPr lang="pl-PL" dirty="0"/>
              <a:t> absolute paths can be used (or just files in the current directory when no extra path specified)</a:t>
            </a:r>
          </a:p>
          <a:p>
            <a:endParaRPr lang="pl-PL" dirty="0"/>
          </a:p>
          <a:p>
            <a:r>
              <a:rPr lang="pl-PL" dirty="0"/>
              <a:t>Most of the </a:t>
            </a:r>
            <a:r>
              <a:rPr lang="pl-PL" dirty="0" err="1"/>
              <a:t>command</a:t>
            </a:r>
            <a:r>
              <a:rPr lang="en-US" dirty="0"/>
              <a:t>s</a:t>
            </a:r>
            <a:r>
              <a:rPr lang="pl-PL" dirty="0"/>
              <a:t> are intuitive – shortcuts of English names</a:t>
            </a:r>
            <a:endParaRPr lang="nl-BE" b="1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6600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Directories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 err="1"/>
              <a:t>Create</a:t>
            </a:r>
            <a:r>
              <a:rPr lang="nl-BE" dirty="0"/>
              <a:t> directories</a:t>
            </a:r>
          </a:p>
          <a:p>
            <a:pPr lvl="1"/>
            <a:r>
              <a:rPr lang="en-US" dirty="0"/>
              <a:t>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dirty="0"/>
              <a:t> command is used to create directories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dir1 dir2 dir3</a:t>
            </a:r>
          </a:p>
          <a:p>
            <a:r>
              <a:rPr lang="nl-BE" dirty="0" err="1"/>
              <a:t>Create</a:t>
            </a:r>
            <a:r>
              <a:rPr lang="nl-BE" dirty="0"/>
              <a:t> a full </a:t>
            </a:r>
            <a:r>
              <a:rPr lang="nl-BE" dirty="0" err="1"/>
              <a:t>path</a:t>
            </a:r>
            <a:r>
              <a:rPr lang="nl-BE" dirty="0"/>
              <a:t> (-p)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–p dir1/subdir1/subdir2</a:t>
            </a:r>
            <a:endParaRPr lang="nl-BE" dirty="0"/>
          </a:p>
          <a:p>
            <a:r>
              <a:rPr lang="nl-BE" dirty="0" err="1"/>
              <a:t>Remove</a:t>
            </a:r>
            <a:r>
              <a:rPr lang="nl-BE" dirty="0"/>
              <a:t> directories</a:t>
            </a:r>
          </a:p>
          <a:p>
            <a:pPr lvl="1"/>
            <a:r>
              <a:rPr lang="en-US" dirty="0"/>
              <a:t>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en-US" b="1" dirty="0"/>
              <a:t> </a:t>
            </a:r>
            <a:r>
              <a:rPr lang="en-US" dirty="0"/>
              <a:t>command removes directories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dir1</a:t>
            </a:r>
          </a:p>
          <a:p>
            <a:pPr lvl="1"/>
            <a:r>
              <a:rPr lang="en-US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en-US" b="1" dirty="0"/>
              <a:t> </a:t>
            </a:r>
            <a:r>
              <a:rPr lang="en-US" dirty="0"/>
              <a:t>will only remove empty directories. </a:t>
            </a:r>
            <a:br>
              <a:rPr lang="en-US" dirty="0"/>
            </a:br>
            <a:r>
              <a:rPr lang="en-US" dirty="0"/>
              <a:t>To remove a non-empty directory, use </a:t>
            </a:r>
            <a:endParaRPr lang="pl-PL" dirty="0"/>
          </a:p>
          <a:p>
            <a:pPr marL="359637" lvl="1" indent="0">
              <a:buNone/>
            </a:pPr>
            <a:r>
              <a:rPr lang="pl-PL" dirty="0">
                <a:latin typeface="Courier New" pitchFamily="49" charset="0"/>
                <a:cs typeface="Courier New" pitchFamily="49" charset="0"/>
              </a:rPr>
              <a:t>  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-r [DIRECTORY] </a:t>
            </a:r>
            <a:r>
              <a:rPr lang="en-US" dirty="0"/>
              <a:t>instead. 	</a:t>
            </a:r>
          </a:p>
          <a:p>
            <a:endParaRPr lang="nl-BE" b="1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78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3BFDB46E-2198-9AD1-57E5-E787AE80CA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18328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Copy a file</a:t>
            </a:r>
          </a:p>
        </p:txBody>
      </p:sp>
      <p:sp>
        <p:nvSpPr>
          <p:cNvPr id="26627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540000" y="1268760"/>
            <a:ext cx="8334000" cy="4428000"/>
          </a:xfrm>
        </p:spPr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sz="2000" dirty="0">
                <a:latin typeface="+mj-lt"/>
              </a:rPr>
              <a:t>The </a:t>
            </a:r>
            <a:r>
              <a:rPr lang="en-US" sz="2000" dirty="0" err="1">
                <a:latin typeface="Courier"/>
                <a:cs typeface="Courier New" pitchFamily="49" charset="0"/>
              </a:rPr>
              <a:t>cp</a:t>
            </a:r>
            <a:r>
              <a:rPr lang="en-US" sz="2000" b="1" dirty="0">
                <a:latin typeface="+mj-lt"/>
              </a:rPr>
              <a:t> </a:t>
            </a:r>
            <a:r>
              <a:rPr lang="en-US" sz="2000" dirty="0">
                <a:latin typeface="+mj-lt"/>
              </a:rPr>
              <a:t>command copies files and directories 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>
                <a:latin typeface="+mj-lt"/>
              </a:rPr>
              <a:t>The default behavior will overwrite any existing file(s). The </a:t>
            </a:r>
            <a:r>
              <a:rPr lang="en-US" sz="2000" b="1" dirty="0">
                <a:latin typeface="+mj-lt"/>
              </a:rPr>
              <a:t>-i </a:t>
            </a:r>
            <a:r>
              <a:rPr lang="en-US" sz="2000" dirty="0">
                <a:latin typeface="+mj-lt"/>
              </a:rPr>
              <a:t>option overrides this behavior and prompts the user before overwriting the destination file. </a:t>
            </a:r>
            <a:endParaRPr lang="fr-FR" sz="2000" b="1" dirty="0">
              <a:latin typeface="+mj-lt"/>
            </a:endParaRPr>
          </a:p>
          <a:p>
            <a:pPr>
              <a:buFont typeface="Arial" pitchFamily="34" charset="0"/>
              <a:buChar char="•"/>
            </a:pPr>
            <a:r>
              <a:rPr lang="fr-FR" sz="2000" b="1" dirty="0" err="1">
                <a:latin typeface="+mj-lt"/>
              </a:rPr>
              <a:t>syntax</a:t>
            </a:r>
            <a:r>
              <a:rPr lang="fr-FR" sz="2000" b="1" dirty="0">
                <a:latin typeface="+mj-lt"/>
              </a:rPr>
              <a:t>: </a:t>
            </a:r>
            <a:r>
              <a:rPr lang="fr-FR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fr-FR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[OPTIONS] [SOURCE] [DESTINATION]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source_file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target_file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</a:t>
            </a:r>
            <a:br>
              <a:rPr lang="en-US" sz="2000" dirty="0">
                <a:latin typeface="Courier" pitchFamily="49" charset="0"/>
                <a:cs typeface="Courier New" pitchFamily="49" charset="0"/>
              </a:rPr>
            </a:br>
            <a:r>
              <a:rPr lang="en-US" sz="2000" dirty="0">
                <a:latin typeface="+mj-lt"/>
              </a:rPr>
              <a:t>Copies the source file to the target.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file1 file2 file3 ...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dir</a:t>
            </a:r>
            <a:br>
              <a:rPr lang="en-US" sz="2000" dirty="0">
                <a:latin typeface="+mj-lt"/>
              </a:rPr>
            </a:br>
            <a:r>
              <a:rPr lang="en-US" sz="2000" dirty="0">
                <a:latin typeface="+mj-lt"/>
              </a:rPr>
              <a:t>Copies the files to the target directory (last argument).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-i </a:t>
            </a:r>
            <a:r>
              <a:rPr lang="en-US" sz="2000" dirty="0">
                <a:latin typeface="+mj-lt"/>
                <a:cs typeface="Courier New" pitchFamily="49" charset="0"/>
              </a:rPr>
              <a:t>(interactive)</a:t>
            </a:r>
            <a:br>
              <a:rPr lang="en-US" sz="2000" b="1" dirty="0">
                <a:latin typeface="+mj-lt"/>
              </a:rPr>
            </a:br>
            <a:r>
              <a:rPr lang="en-US" sz="2000" dirty="0">
                <a:latin typeface="+mj-lt"/>
              </a:rPr>
              <a:t>Asks for user confirmation if the target file already exists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-r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source_dir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target_dir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</a:t>
            </a:r>
            <a:r>
              <a:rPr lang="en-US" sz="2000" dirty="0">
                <a:latin typeface="+mj-lt"/>
              </a:rPr>
              <a:t>(recursive)</a:t>
            </a:r>
            <a:br>
              <a:rPr lang="en-US" sz="2000" dirty="0">
                <a:latin typeface="+mj-lt"/>
              </a:rPr>
            </a:br>
            <a:r>
              <a:rPr lang="en-US" sz="2000" dirty="0">
                <a:latin typeface="+mj-lt"/>
              </a:rPr>
              <a:t>Copies the whole directory.</a:t>
            </a:r>
            <a:endParaRPr lang="pl-PL" sz="2000" dirty="0">
              <a:latin typeface="+mj-lt"/>
            </a:endParaRPr>
          </a:p>
          <a:p>
            <a:pPr lvl="1">
              <a:buFontTx/>
              <a:buChar char="−"/>
            </a:pP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–v </a:t>
            </a:r>
            <a:r>
              <a:rPr lang="pl-PL" sz="2000" dirty="0">
                <a:latin typeface="+mn-lt"/>
                <a:cs typeface="Courier New" panose="02070309020205020404" pitchFamily="49" charset="0"/>
              </a:rPr>
              <a:t>(</a:t>
            </a:r>
            <a:r>
              <a:rPr lang="pl-PL" sz="2000" dirty="0" err="1">
                <a:latin typeface="+mn-lt"/>
                <a:cs typeface="Courier New" panose="02070309020205020404" pitchFamily="49" charset="0"/>
              </a:rPr>
              <a:t>verbose</a:t>
            </a:r>
            <a:r>
              <a:rPr lang="pl-PL" sz="2000" dirty="0">
                <a:latin typeface="+mn-lt"/>
                <a:cs typeface="Courier New" panose="02070309020205020404" pitchFamily="49" charset="0"/>
              </a:rPr>
              <a:t>)</a:t>
            </a:r>
          </a:p>
          <a:p>
            <a:pPr marL="629637" lvl="2" indent="0">
              <a:spcBef>
                <a:spcPts val="0"/>
              </a:spcBef>
              <a:buNone/>
            </a:pPr>
            <a:r>
              <a:rPr lang="pl-PL" dirty="0">
                <a:latin typeface="+mn-lt"/>
                <a:cs typeface="Courier New" panose="02070309020205020404" pitchFamily="49" charset="0"/>
              </a:rPr>
              <a:t>  Displays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what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has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been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copied</a:t>
            </a:r>
            <a:endParaRPr lang="pl-PL" dirty="0">
              <a:latin typeface="+mn-lt"/>
              <a:cs typeface="Courier New" panose="02070309020205020404" pitchFamily="49" charset="0"/>
            </a:endParaRPr>
          </a:p>
          <a:p>
            <a:pPr lvl="1">
              <a:buFontTx/>
              <a:buChar char="−"/>
            </a:pPr>
            <a:endParaRPr lang="en-US" sz="20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79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473ABE49-6AB1-B400-3FC4-C4372B4CB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361440"/>
      </p:ext>
    </p:extLst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or rename files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Move or rename files and directories: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mv</a:t>
            </a:r>
          </a:p>
          <a:p>
            <a:r>
              <a:rPr lang="en-US" dirty="0"/>
              <a:t>The default behavior will overwrite any existing file(s). </a:t>
            </a:r>
          </a:p>
          <a:p>
            <a:r>
              <a:rPr lang="fr-FR" b="1" dirty="0" err="1"/>
              <a:t>syntax</a:t>
            </a:r>
            <a:r>
              <a:rPr lang="fr-FR" b="1" dirty="0"/>
              <a:t>: </a:t>
            </a:r>
            <a:r>
              <a:rPr lang="fr-FR" b="1" dirty="0">
                <a:latin typeface="Courier New" pitchFamily="49" charset="0"/>
                <a:cs typeface="Courier New" pitchFamily="49" charset="0"/>
              </a:rPr>
              <a:t>mv [OPTIONS] [SOURCE] [DESTINATION]</a:t>
            </a:r>
            <a:r>
              <a:rPr lang="fr-FR" b="1" dirty="0"/>
              <a:t> </a:t>
            </a:r>
            <a:r>
              <a:rPr lang="en-US" b="1" dirty="0"/>
              <a:t> </a:t>
            </a:r>
          </a:p>
          <a:p>
            <a:pPr lvl="1"/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mv </a:t>
            </a:r>
            <a:r>
              <a:rPr lang="en-US" dirty="0" err="1">
                <a:latin typeface="Courier" pitchFamily="49" charset="0"/>
                <a:ea typeface="HG Mincho Light J"/>
                <a:cs typeface="Courier New" pitchFamily="49" charset="0"/>
              </a:rPr>
              <a:t>old_name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 err="1">
                <a:latin typeface="Courier" pitchFamily="49" charset="0"/>
                <a:ea typeface="HG Mincho Light J"/>
                <a:cs typeface="Courier New" pitchFamily="49" charset="0"/>
              </a:rPr>
              <a:t>new_name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br>
              <a:rPr lang="en-US" dirty="0">
                <a:ea typeface="HG Mincho Light J"/>
                <a:cs typeface="Tahoma" pitchFamily="34" charset="0"/>
              </a:rPr>
            </a:br>
            <a:r>
              <a:rPr lang="en-US" dirty="0">
                <a:ea typeface="HG Mincho Light J"/>
                <a:cs typeface="Tahoma" pitchFamily="34" charset="0"/>
              </a:rPr>
              <a:t>Renames the given file or directory.</a:t>
            </a:r>
          </a:p>
          <a:p>
            <a:pPr lvl="1"/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mv -i </a:t>
            </a:r>
            <a:r>
              <a:rPr lang="en-US" dirty="0">
                <a:ea typeface="HG Mincho Light J"/>
                <a:cs typeface="Tahoma" pitchFamily="34" charset="0"/>
              </a:rPr>
              <a:t>(interactive)</a:t>
            </a:r>
            <a:br>
              <a:rPr lang="en-US" dirty="0">
                <a:ea typeface="HG Mincho Light J"/>
                <a:cs typeface="Tahoma" pitchFamily="34" charset="0"/>
              </a:rPr>
            </a:br>
            <a:r>
              <a:rPr lang="en-US" dirty="0">
                <a:ea typeface="HG Mincho Light J"/>
                <a:cs typeface="Tahoma" pitchFamily="34" charset="0"/>
              </a:rPr>
              <a:t>If the new file already exits, asks for user confirm</a:t>
            </a:r>
          </a:p>
          <a:p>
            <a:r>
              <a:rPr lang="en-US" dirty="0"/>
              <a:t>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mv</a:t>
            </a:r>
            <a:r>
              <a:rPr lang="en-US" b="1" dirty="0"/>
              <a:t> </a:t>
            </a:r>
            <a:r>
              <a:rPr lang="en-US" dirty="0"/>
              <a:t>command can also be used to move or rename directories</a:t>
            </a:r>
            <a:r>
              <a:rPr lang="pl-PL" dirty="0"/>
              <a:t> </a:t>
            </a:r>
            <a:endParaRPr lang="en-US" dirty="0"/>
          </a:p>
          <a:p>
            <a:pPr lvl="1"/>
            <a:r>
              <a:rPr lang="nl-BE" dirty="0">
                <a:latin typeface="Courier" pitchFamily="49" charset="0"/>
                <a:cs typeface="Courier New" pitchFamily="49" charset="0"/>
              </a:rPr>
              <a:t>$ mv </a:t>
            </a:r>
            <a:r>
              <a:rPr lang="nl-BE" dirty="0" err="1">
                <a:latin typeface="Courier" pitchFamily="49" charset="0"/>
                <a:cs typeface="Courier New" pitchFamily="49" charset="0"/>
              </a:rPr>
              <a:t>NewFiles</a:t>
            </a:r>
            <a:r>
              <a:rPr lang="nl-BE" dirty="0">
                <a:latin typeface="Courier" pitchFamily="49" charset="0"/>
                <a:cs typeface="Courier New" pitchFamily="49" charset="0"/>
              </a:rPr>
              <a:t>/ </a:t>
            </a:r>
            <a:r>
              <a:rPr lang="nl-BE" dirty="0" err="1">
                <a:latin typeface="Courier" pitchFamily="49" charset="0"/>
                <a:cs typeface="Courier New" pitchFamily="49" charset="0"/>
              </a:rPr>
              <a:t>OldFiles</a:t>
            </a:r>
            <a:r>
              <a:rPr lang="nl-BE" dirty="0">
                <a:latin typeface="Courier" pitchFamily="49" charset="0"/>
                <a:cs typeface="Courier New" pitchFamily="49" charset="0"/>
              </a:rPr>
              <a:t>/</a:t>
            </a:r>
            <a:r>
              <a:rPr lang="nl-BE" dirty="0">
                <a:latin typeface="Courier" pitchFamily="49" charset="0"/>
              </a:rPr>
              <a:t> </a:t>
            </a:r>
            <a:r>
              <a:rPr lang="nl-BE" dirty="0"/>
              <a:t>	</a:t>
            </a:r>
            <a:endParaRPr lang="pl-PL" dirty="0"/>
          </a:p>
          <a:p>
            <a:pPr lvl="1"/>
            <a:r>
              <a:rPr lang="pl-PL" dirty="0"/>
              <a:t>-r </a:t>
            </a:r>
            <a:r>
              <a:rPr lang="pl-PL" dirty="0" err="1"/>
              <a:t>option</a:t>
            </a:r>
            <a:r>
              <a:rPr lang="pl-PL" dirty="0"/>
              <a:t> </a:t>
            </a:r>
            <a:r>
              <a:rPr lang="pl-PL" dirty="0" err="1"/>
              <a:t>is</a:t>
            </a:r>
            <a:r>
              <a:rPr lang="pl-PL" dirty="0"/>
              <a:t> not </a:t>
            </a:r>
            <a:r>
              <a:rPr lang="pl-PL" dirty="0" err="1"/>
              <a:t>necessary</a:t>
            </a:r>
            <a:endParaRPr lang="nl-BE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80</a:t>
            </a:fld>
            <a:endParaRPr lang="nl-NL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6007" y="5595714"/>
            <a:ext cx="720080" cy="634571"/>
          </a:xfrm>
          <a:prstGeom prst="rect">
            <a:avLst/>
          </a:prstGeom>
        </p:spPr>
      </p:pic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DA0DD850-2C4F-89F7-BA42-3875061B7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866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 eaLnBrk="1">
              <a:buSzPct val="45000"/>
              <a:buFont typeface="StarSymbol"/>
              <a:buNone/>
            </a:pPr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Remove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files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27651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7920000" cy="4755148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en-US" sz="2200" dirty="0">
                <a:latin typeface="+mj-lt"/>
              </a:rPr>
              <a:t>The </a:t>
            </a:r>
            <a:r>
              <a:rPr lang="en-US" sz="2200" dirty="0" err="1">
                <a:latin typeface="+mj-lt"/>
                <a:cs typeface="Courier New" pitchFamily="49" charset="0"/>
              </a:rPr>
              <a:t>rm</a:t>
            </a:r>
            <a:r>
              <a:rPr lang="en-US" sz="2200" b="1" dirty="0">
                <a:latin typeface="+mj-lt"/>
              </a:rPr>
              <a:t> </a:t>
            </a:r>
            <a:r>
              <a:rPr lang="en-US" sz="2200" dirty="0">
                <a:latin typeface="+mj-lt"/>
              </a:rPr>
              <a:t>command removes files. 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file1 file2 file3 ...</a:t>
            </a:r>
            <a:r>
              <a:rPr sz="2200" b="1" dirty="0">
                <a:latin typeface="+mj-lt"/>
                <a:ea typeface="HG Mincho Light J"/>
                <a:cs typeface="Tahoma" pitchFamily="34" charset="0"/>
              </a:rPr>
              <a:t>	</a:t>
            </a:r>
            <a:br>
              <a:rPr sz="2200" b="1" dirty="0">
                <a:latin typeface="+mj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Removes the given files.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-i </a:t>
            </a:r>
            <a:r>
              <a:rPr sz="2200" dirty="0">
                <a:latin typeface="+mn-lt"/>
                <a:ea typeface="HG Mincho Light J"/>
                <a:cs typeface="Tahoma" pitchFamily="34" charset="0"/>
              </a:rPr>
              <a:t>(interactive)</a:t>
            </a:r>
            <a:br>
              <a:rPr sz="2200" dirty="0">
                <a:latin typeface="+mj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Always ask for user confirm</a:t>
            </a:r>
            <a:r>
              <a:rPr lang="nl-BE" sz="2200" dirty="0" err="1">
                <a:latin typeface="+mj-lt"/>
                <a:ea typeface="HG Mincho Light J"/>
                <a:cs typeface="Tahoma" pitchFamily="34" charset="0"/>
              </a:rPr>
              <a:t>ation</a:t>
            </a:r>
            <a:r>
              <a:rPr sz="2200" dirty="0">
                <a:latin typeface="+mj-lt"/>
                <a:ea typeface="HG Mincho Light J"/>
                <a:cs typeface="Tahoma" pitchFamily="34" charset="0"/>
              </a:rPr>
              <a:t>.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-r dir1 dir2 dir3 </a:t>
            </a:r>
            <a:r>
              <a:rPr sz="2200" dirty="0">
                <a:latin typeface="+mn-lt"/>
                <a:ea typeface="HG Mincho Light J"/>
                <a:cs typeface="Tahoma" pitchFamily="34" charset="0"/>
              </a:rPr>
              <a:t>(recursive)</a:t>
            </a:r>
            <a:br>
              <a:rPr sz="2200" dirty="0">
                <a:latin typeface="+mn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Removes the given directories with all their contents.</a:t>
            </a:r>
            <a:endParaRPr lang="nl-BE" sz="2200" dirty="0">
              <a:latin typeface="+mj-lt"/>
              <a:ea typeface="HG Mincho Light J"/>
              <a:cs typeface="Tahoma" pitchFamily="34" charset="0"/>
            </a:endParaRPr>
          </a:p>
          <a:p>
            <a:r>
              <a:rPr lang="en-US" sz="2200" dirty="0">
                <a:latin typeface="+mj-lt"/>
              </a:rPr>
              <a:t>Tip:</a:t>
            </a:r>
            <a:br>
              <a:rPr lang="en-US" sz="2200" dirty="0">
                <a:latin typeface="+mj-lt"/>
              </a:rPr>
            </a:br>
            <a:r>
              <a:rPr lang="en-US" sz="2000" dirty="0">
                <a:solidFill>
                  <a:srgbClr val="FF0000"/>
                </a:solidFill>
                <a:latin typeface="+mj-lt"/>
              </a:rPr>
              <a:t>Whenever you use wildcards with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rm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 (besides carefully checking your typing!), test the wildcard first with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ls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. This will let you see the files that will be deleted. Then press the up arrow key to recall the command and replace the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ls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 with </a:t>
            </a:r>
            <a:r>
              <a:rPr lang="en-US" sz="2000" dirty="0">
                <a:solidFill>
                  <a:srgbClr val="FF0000"/>
                </a:solidFill>
                <a:latin typeface="Courier" pitchFamily="49" charset="0"/>
              </a:rPr>
              <a:t>rm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.</a:t>
            </a:r>
            <a:endParaRPr sz="2000" dirty="0">
              <a:solidFill>
                <a:srgbClr val="FF0000"/>
              </a:solidFill>
              <a:latin typeface="+mj-lt"/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81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C1191AD5-A1E3-F218-73A5-9736D9CA0F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8517"/>
      </p:ext>
    </p:extLst>
  </p:cSld>
  <p:clrMapOvr>
    <a:masterClrMapping/>
  </p:clrMapOvr>
  <p:transition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Create</a:t>
            </a:r>
            <a:r>
              <a:rPr lang="nl-BE" dirty="0"/>
              <a:t>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8317358" cy="4678362"/>
          </a:xfrm>
        </p:spPr>
        <p:txBody>
          <a:bodyPr/>
          <a:lstStyle/>
          <a:p>
            <a:r>
              <a:rPr lang="en-US" sz="2200" dirty="0"/>
              <a:t>Create links (shortcuts) to files or directories: 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ln</a:t>
            </a:r>
            <a:endParaRPr lang="en-US" sz="22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2200" dirty="0"/>
              <a:t>Symbolic links are created when using 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-s</a:t>
            </a:r>
            <a:r>
              <a:rPr lang="en-US" sz="2200" b="1" dirty="0"/>
              <a:t> </a:t>
            </a:r>
            <a:r>
              <a:rPr lang="en-US" sz="2200" dirty="0"/>
              <a:t>option with the 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ln</a:t>
            </a:r>
            <a:r>
              <a:rPr lang="en-US" sz="2200" b="1" dirty="0"/>
              <a:t> </a:t>
            </a:r>
            <a:r>
              <a:rPr lang="en-US" sz="2200" dirty="0"/>
              <a:t>command. </a:t>
            </a:r>
          </a:p>
          <a:p>
            <a:r>
              <a:rPr lang="en-US" sz="2200" dirty="0"/>
              <a:t>Allows to jump to other files or locations on the file system</a:t>
            </a:r>
          </a:p>
          <a:p>
            <a:r>
              <a:rPr lang="en-US" sz="2200" dirty="0"/>
              <a:t>Editing a symbolic link file is the same as editing the source file, but deleting the symbolic link does not delete the source file.</a:t>
            </a:r>
          </a:p>
          <a:p>
            <a:pPr lvl="1"/>
            <a:r>
              <a:rPr lang="en-US" sz="22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ln -s file_v5.doc file_final.doc</a:t>
            </a:r>
          </a:p>
          <a:p>
            <a:pPr lvl="1"/>
            <a:r>
              <a:rPr lang="en-US" sz="2200" dirty="0"/>
              <a:t>creates a symbolic link called file_final.doc that points to file_v5.doc </a:t>
            </a:r>
          </a:p>
          <a:p>
            <a:pPr lvl="1"/>
            <a:r>
              <a:rPr lang="nl-BE" sz="22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ln</a:t>
            </a:r>
            <a:r>
              <a:rPr lang="nl-BE" sz="2200" dirty="0">
                <a:latin typeface="Courier New" pitchFamily="49" charset="0"/>
                <a:cs typeface="Courier New" pitchFamily="49" charset="0"/>
              </a:rPr>
              <a:t> -s /home/demo/dir1/dir2/dir3 /home/demo/jump2dir</a:t>
            </a:r>
          </a:p>
          <a:p>
            <a:pPr lvl="1"/>
            <a:r>
              <a:rPr lang="en-US" sz="2200" dirty="0"/>
              <a:t>creates a symbolic link called jump2dir that points to a deep directory - allows for quicker access) 	</a:t>
            </a:r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38240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wget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Instead of downloading files from your browser, just copy and paste their URL and download them with </a:t>
            </a:r>
            <a:r>
              <a:rPr lang="en-US" dirty="0" err="1"/>
              <a:t>wget</a:t>
            </a:r>
            <a:endParaRPr lang="en-US" dirty="0"/>
          </a:p>
          <a:p>
            <a:pPr lvl="0"/>
            <a:r>
              <a:rPr lang="en-US" dirty="0"/>
              <a:t>main features</a:t>
            </a:r>
          </a:p>
          <a:p>
            <a:pPr lvl="1"/>
            <a:r>
              <a:rPr lang="en-US" dirty="0"/>
              <a:t>http, https, ftp and </a:t>
            </a:r>
            <a:r>
              <a:rPr lang="en-US" dirty="0" err="1"/>
              <a:t>ftps</a:t>
            </a:r>
            <a:r>
              <a:rPr lang="en-US" dirty="0"/>
              <a:t> support</a:t>
            </a:r>
          </a:p>
          <a:p>
            <a:pPr lvl="1"/>
            <a:r>
              <a:rPr lang="en-US" dirty="0"/>
              <a:t>Can resume interrupted downloads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Can download entire sites or at least check for bad links</a:t>
            </a:r>
          </a:p>
          <a:p>
            <a:pPr lvl="1"/>
            <a:r>
              <a:rPr lang="en-US" dirty="0"/>
              <a:t>Very useful in scripts or when no graphics are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0076664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latin typeface="Arial" pitchFamily="34" charset="0"/>
                <a:cs typeface="Arial" pitchFamily="34" charset="0"/>
              </a:rPr>
              <a:t>Text edit</a:t>
            </a:r>
            <a:r>
              <a:rPr lang="pl-PL" dirty="0">
                <a:latin typeface="Arial" pitchFamily="34" charset="0"/>
                <a:cs typeface="Arial" pitchFamily="34" charset="0"/>
              </a:rPr>
              <a:t>ing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84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84221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Text editors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Text-only text editors</a:t>
            </a:r>
          </a:p>
          <a:p>
            <a:pPr lvl="1"/>
            <a:r>
              <a:rPr lang="en-US" dirty="0"/>
              <a:t>Often needed for </a:t>
            </a:r>
            <a:r>
              <a:rPr lang="en-US" dirty="0" err="1"/>
              <a:t>sysadmins</a:t>
            </a:r>
            <a:r>
              <a:rPr lang="en-US" dirty="0"/>
              <a:t> and great for power users</a:t>
            </a:r>
          </a:p>
          <a:p>
            <a:pPr lvl="1"/>
            <a:r>
              <a:rPr lang="en-US" dirty="0"/>
              <a:t>vi, vim</a:t>
            </a:r>
          </a:p>
          <a:p>
            <a:pPr lvl="1"/>
            <a:r>
              <a:rPr lang="en-US" dirty="0"/>
              <a:t>nano</a:t>
            </a:r>
          </a:p>
          <a:p>
            <a:r>
              <a:rPr lang="en-US" dirty="0"/>
              <a:t>Graphical text editors</a:t>
            </a:r>
          </a:p>
          <a:p>
            <a:pPr lvl="1"/>
            <a:r>
              <a:rPr lang="en-US" dirty="0"/>
              <a:t>Fine for most needs</a:t>
            </a:r>
          </a:p>
          <a:p>
            <a:pPr lvl="1"/>
            <a:r>
              <a:rPr lang="en-US" dirty="0" err="1"/>
              <a:t>Gedit</a:t>
            </a:r>
            <a:r>
              <a:rPr lang="en-US" dirty="0"/>
              <a:t>,</a:t>
            </a:r>
          </a:p>
          <a:p>
            <a:pPr lvl="1"/>
            <a:r>
              <a:rPr lang="en-US" dirty="0"/>
              <a:t>Kate, </a:t>
            </a:r>
            <a:r>
              <a:rPr lang="en-US" dirty="0" err="1"/>
              <a:t>Nedit</a:t>
            </a:r>
            <a:endParaRPr lang="en-US" dirty="0"/>
          </a:p>
          <a:p>
            <a:pPr lvl="1"/>
            <a:r>
              <a:rPr lang="en-US" dirty="0"/>
              <a:t>Emacs, </a:t>
            </a:r>
            <a:r>
              <a:rPr lang="en-US" dirty="0" err="1"/>
              <a:t>Xemacs</a:t>
            </a:r>
            <a:endParaRPr lang="en-US" dirty="0"/>
          </a:p>
          <a:p>
            <a:r>
              <a:rPr lang="en-US" sz="2000" dirty="0">
                <a:hlinkClick r:id="rId3"/>
              </a:rPr>
              <a:t>http://www.thegeekstuff.com/2009/07/top-5-best-linux-text-editors/</a:t>
            </a:r>
            <a:endParaRPr lang="en-US" sz="2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37519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Text editors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How to start:</a:t>
            </a:r>
          </a:p>
          <a:p>
            <a:r>
              <a:rPr lang="pl-PL" sz="2000" dirty="0"/>
              <a:t>Create a file</a:t>
            </a:r>
          </a:p>
          <a:p>
            <a:pPr lvl="1"/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touch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filename </a:t>
            </a:r>
            <a:r>
              <a:rPr lang="pl-PL" sz="2000" dirty="0"/>
              <a:t>(creates an empty file)</a:t>
            </a:r>
          </a:p>
          <a:p>
            <a:pPr lvl="1"/>
            <a:r>
              <a:rPr lang="pl-PL" sz="2000" dirty="0"/>
              <a:t>start editing (non)-existing file: </a:t>
            </a:r>
          </a:p>
          <a:p>
            <a:pPr marL="0" indent="-363">
              <a:buNone/>
            </a:pPr>
            <a:r>
              <a:rPr lang="pl-PL" sz="2000" dirty="0"/>
              <a:t>	</a:t>
            </a:r>
            <a:r>
              <a:rPr lang="pl-P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vi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-363">
              <a:buNone/>
            </a:pP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 $ nano filename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719360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vi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Text-mode text editor available in all Linux systems.</a:t>
            </a:r>
          </a:p>
          <a:p>
            <a:r>
              <a:rPr lang="en-US" dirty="0"/>
              <a:t>Created before computers with mice appeared.</a:t>
            </a:r>
          </a:p>
          <a:p>
            <a:r>
              <a:rPr lang="en-US" dirty="0"/>
              <a:t>Difficult to learn for beginners used to graphical text editors.</a:t>
            </a:r>
          </a:p>
          <a:p>
            <a:r>
              <a:rPr lang="en-US" dirty="0"/>
              <a:t>Very productive for power users.</a:t>
            </a:r>
          </a:p>
          <a:p>
            <a:r>
              <a:rPr lang="nl-BE" dirty="0"/>
              <a:t>Check the web </a:t>
            </a:r>
            <a:r>
              <a:rPr lang="nl-BE" dirty="0" err="1"/>
              <a:t>for</a:t>
            </a:r>
            <a:r>
              <a:rPr lang="nl-BE" dirty="0"/>
              <a:t> tutorials:</a:t>
            </a:r>
          </a:p>
          <a:p>
            <a:pPr lvl="1"/>
            <a:r>
              <a:rPr lang="nl-BE" dirty="0">
                <a:hlinkClick r:id="rId3"/>
              </a:rPr>
              <a:t>https://upload.wikimedia.org/wikipedia/commons/d/d2/Learning_the_vi_Editor.pdf</a:t>
            </a:r>
            <a:endParaRPr lang="nl-BE" dirty="0"/>
          </a:p>
          <a:p>
            <a:pPr lvl="1"/>
            <a:r>
              <a:rPr lang="nl-BE" dirty="0">
                <a:hlinkClick r:id="rId4"/>
              </a:rPr>
              <a:t>ftp://ftp.vim.org/pub/vim/doc/book/vimbook-OPL.pdf</a:t>
            </a:r>
            <a:endParaRPr lang="nl-BE" dirty="0"/>
          </a:p>
          <a:p>
            <a:pPr lvl="1"/>
            <a:endParaRPr lang="en-US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367753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124744"/>
            <a:ext cx="7920000" cy="4678362"/>
          </a:xfrm>
        </p:spPr>
        <p:txBody>
          <a:bodyPr/>
          <a:lstStyle/>
          <a:p>
            <a:r>
              <a:rPr lang="en-US" sz="2200" dirty="0"/>
              <a:t>2 basic modes of operation: </a:t>
            </a:r>
          </a:p>
          <a:p>
            <a:pPr lvl="1"/>
            <a:r>
              <a:rPr lang="en-US" sz="2200" i="1" dirty="0"/>
              <a:t>command mode </a:t>
            </a:r>
            <a:r>
              <a:rPr lang="en-US" sz="2200" dirty="0"/>
              <a:t>and </a:t>
            </a:r>
            <a:r>
              <a:rPr lang="en-US" sz="2200" i="1" dirty="0"/>
              <a:t>editing mode</a:t>
            </a:r>
            <a:r>
              <a:rPr lang="en-US" sz="2200" dirty="0"/>
              <a:t>.</a:t>
            </a:r>
          </a:p>
          <a:p>
            <a:pPr lvl="1"/>
            <a:r>
              <a:rPr lang="en-US" sz="2200" dirty="0"/>
              <a:t>Within Command Mode, signals from the terminal are interpreted as editing commands. </a:t>
            </a:r>
          </a:p>
          <a:p>
            <a:pPr lvl="1"/>
            <a:r>
              <a:rPr lang="en-US" sz="2200" dirty="0"/>
              <a:t>Editing mode: letters typed at the keyboard are inserted into the editing buffer.  </a:t>
            </a:r>
          </a:p>
          <a:p>
            <a:r>
              <a:rPr lang="en-US" sz="2200" dirty="0"/>
              <a:t>Pressing </a:t>
            </a:r>
            <a:r>
              <a:rPr lang="en-US" sz="2200" b="1" dirty="0"/>
              <a:t>Esc </a:t>
            </a:r>
            <a:r>
              <a:rPr lang="en-US" sz="2200" dirty="0"/>
              <a:t>on the keyboard activates command mode.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606224"/>
              </p:ext>
            </p:extLst>
          </p:nvPr>
        </p:nvGraphicFramePr>
        <p:xfrm>
          <a:off x="661863" y="3857456"/>
          <a:ext cx="7992121" cy="259588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5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Key(s)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Key(s)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Append text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Save and exit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Replace text before cursor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Replace text after cursor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Insert text 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Insert text before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Paste copied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yy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Copy current 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Append text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/[TEXT]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Search for the specified text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90764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vi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nl-BE" sz="2000" dirty="0"/>
              <a:t>2 modes</a:t>
            </a:r>
          </a:p>
          <a:p>
            <a:pPr lvl="1">
              <a:lnSpc>
                <a:spcPct val="90000"/>
              </a:lnSpc>
            </a:pPr>
            <a:r>
              <a:rPr lang="en-US" altLang="nl-BE" sz="2000" dirty="0"/>
              <a:t>Input mode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ESC to back to </a:t>
            </a:r>
            <a:r>
              <a:rPr lang="en-US" altLang="nl-BE" sz="1600" dirty="0" err="1"/>
              <a:t>cmd</a:t>
            </a:r>
            <a:r>
              <a:rPr lang="en-US" altLang="nl-BE" sz="1600" dirty="0"/>
              <a:t> mode</a:t>
            </a:r>
          </a:p>
          <a:p>
            <a:pPr lvl="1">
              <a:lnSpc>
                <a:spcPct val="90000"/>
              </a:lnSpc>
            </a:pPr>
            <a:r>
              <a:rPr lang="en-US" altLang="nl-BE" sz="2000" dirty="0"/>
              <a:t>Command mode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Cursor movement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h (left), j (down), k (up), l (right)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^f (page down)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^b (page up)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 (first char.)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$ (last char.)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G (bottom page)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:1 (</a:t>
            </a:r>
            <a:r>
              <a:rPr lang="en-US" altLang="nl-BE" sz="1400" dirty="0" err="1"/>
              <a:t>goto</a:t>
            </a:r>
            <a:r>
              <a:rPr lang="en-US" altLang="nl-BE" sz="1400" dirty="0"/>
              <a:t> first line)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 err="1"/>
              <a:t>Sw</a:t>
            </a:r>
            <a:r>
              <a:rPr lang="pl-PL" altLang="nl-BE" sz="1600" b="1" dirty="0"/>
              <a:t>i</a:t>
            </a:r>
            <a:r>
              <a:rPr lang="en-US" altLang="nl-BE" sz="1600" b="1" dirty="0" err="1"/>
              <a:t>tch</a:t>
            </a:r>
            <a:r>
              <a:rPr lang="en-US" altLang="nl-BE" sz="1600" b="1" dirty="0"/>
              <a:t> to input mode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a (append)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 err="1"/>
              <a:t>i</a:t>
            </a:r>
            <a:r>
              <a:rPr lang="en-US" altLang="nl-BE" sz="1400" dirty="0"/>
              <a:t> (insert)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o (insert line after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O (insert line before)</a:t>
            </a:r>
          </a:p>
          <a:p>
            <a:pPr lvl="1">
              <a:lnSpc>
                <a:spcPct val="90000"/>
              </a:lnSpc>
            </a:pPr>
            <a:endParaRPr lang="en-US" altLang="nl-BE" sz="2000" dirty="0"/>
          </a:p>
        </p:txBody>
      </p:sp>
      <p:sp>
        <p:nvSpPr>
          <p:cNvPr id="46084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lvl="2">
              <a:lnSpc>
                <a:spcPct val="90000"/>
              </a:lnSpc>
            </a:pPr>
            <a:r>
              <a:rPr lang="en-US" altLang="nl-BE" sz="1600" dirty="0"/>
              <a:t>Delete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dd (delete a line)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d10d (delete 10 lines)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d$ (delete till end of line)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 err="1"/>
              <a:t>dG</a:t>
            </a:r>
            <a:r>
              <a:rPr lang="en-US" altLang="nl-BE" sz="1400" dirty="0"/>
              <a:t> (delete till end of file)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x (current char.)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Paste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p (paste after)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P (paste before)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Undo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u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Search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/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Save/Quit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:w (write)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:q (quit)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</a:t>
            </a:r>
            <a:r>
              <a:rPr lang="en-US" altLang="nl-BE" sz="1400" dirty="0" err="1"/>
              <a:t>wq</a:t>
            </a:r>
            <a:r>
              <a:rPr lang="en-US" altLang="nl-BE" sz="1400" dirty="0"/>
              <a:t> (write and quit)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:q! (give up changes)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70301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07" y="1073621"/>
            <a:ext cx="8010525" cy="5019675"/>
          </a:xfrm>
          <a:prstGeom prst="rect">
            <a:avLst/>
          </a:prstGeom>
        </p:spPr>
      </p:pic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 altLang="nl-BE" dirty="0"/>
              <a:t>Nano</a:t>
            </a: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90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>
            <a:off x="513956" y="4356417"/>
            <a:ext cx="2886344" cy="1662485"/>
            <a:chOff x="1187624" y="4538831"/>
            <a:chExt cx="2886344" cy="1662485"/>
          </a:xfrm>
        </p:grpSpPr>
        <p:sp>
          <p:nvSpPr>
            <p:cNvPr id="7" name="Rounded Rectangle 6"/>
            <p:cNvSpPr/>
            <p:nvPr/>
          </p:nvSpPr>
          <p:spPr>
            <a:xfrm>
              <a:off x="1187624" y="5949280"/>
              <a:ext cx="720080" cy="252036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1804642" y="4538831"/>
              <a:ext cx="2269326" cy="1424175"/>
              <a:chOff x="1804642" y="4538831"/>
              <a:chExt cx="2269326" cy="1424175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 flipH="1">
                <a:off x="1804642" y="4882886"/>
                <a:ext cx="319086" cy="108012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/>
              <p:cNvSpPr txBox="1"/>
              <p:nvPr/>
            </p:nvSpPr>
            <p:spPr>
              <a:xfrm>
                <a:off x="1985736" y="4538831"/>
                <a:ext cx="20882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sz="2000" b="1" dirty="0" err="1">
                    <a:solidFill>
                      <a:srgbClr val="FF0000"/>
                    </a:solidFill>
                  </a:rPr>
                  <a:t>Exit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=</a:t>
                </a:r>
                <a:r>
                  <a:rPr lang="pl-PL" sz="2000" b="1" dirty="0" err="1">
                    <a:solidFill>
                      <a:srgbClr val="FF0000"/>
                    </a:solidFill>
                  </a:rPr>
                  <a:t>Ctrl+X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0862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el 1"/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pPr eaLnBrk="1">
              <a:buSzPct val="45000"/>
              <a:buFont typeface="StarSymbol"/>
              <a:buNone/>
            </a:pPr>
            <a:r>
              <a:rPr dirty="0">
                <a:latin typeface="Nimbus Sans L"/>
                <a:ea typeface="HG Mincho Light J"/>
                <a:cs typeface="Tahoma" pitchFamily="34" charset="0"/>
              </a:rPr>
              <a:t>Displaying file contents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729500"/>
          </a:xfrm>
        </p:spPr>
        <p:txBody>
          <a:bodyPr>
            <a:spAutoFit/>
          </a:bodyPr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 marL="90487" indent="0" eaLnBrk="1" fontAlgn="auto">
              <a:buNone/>
              <a:defRPr/>
            </a:pPr>
            <a:r>
              <a:rPr dirty="0">
                <a:latin typeface="+mn-lt"/>
              </a:rPr>
              <a:t>Several ways of displaying the contents of files.</a:t>
            </a:r>
          </a:p>
          <a:p>
            <a:pPr marL="433387" indent="-342900" fontAlgn="auto">
              <a:buSzPct val="100000"/>
              <a:buFont typeface="Arial" pitchFamily="34" charset="0"/>
              <a:buChar char="•"/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cat file1 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displays the contents of the given file.</a:t>
            </a:r>
          </a:p>
          <a:p>
            <a:pPr marL="433387" indent="-342900" fontAlgn="auto">
              <a:buSzPct val="100000"/>
              <a:buFont typeface="Arial" pitchFamily="34" charset="0"/>
              <a:buChar char="•"/>
              <a:defRPr/>
            </a:pPr>
            <a:r>
              <a:rPr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dirty="0">
                <a:latin typeface="Courier New" pitchFamily="49" charset="0"/>
                <a:cs typeface="Courier New" pitchFamily="49" charset="0"/>
              </a:rPr>
              <a:t>cat file1 file2 file3 ... </a:t>
            </a:r>
            <a:r>
              <a:rPr dirty="0">
                <a:latin typeface="+mn-lt"/>
              </a:rPr>
              <a:t>(concatenate)</a:t>
            </a:r>
            <a:br>
              <a:rPr dirty="0">
                <a:latin typeface="+mn-lt"/>
              </a:rPr>
            </a:br>
            <a:r>
              <a:rPr dirty="0">
                <a:latin typeface="+mn-lt"/>
              </a:rPr>
              <a:t>Concatenates and outputs the contents of the given files.</a:t>
            </a:r>
          </a:p>
          <a:p>
            <a:pPr>
              <a:buFont typeface="Arial" pitchFamily="34" charset="0"/>
              <a:buChar char="•"/>
            </a:pPr>
            <a:r>
              <a:rPr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dirty="0">
                <a:latin typeface="Courier New" pitchFamily="49" charset="0"/>
                <a:cs typeface="Courier New" pitchFamily="49" charset="0"/>
              </a:rPr>
              <a:t>more file1 </a:t>
            </a:r>
            <a:br>
              <a:rPr dirty="0">
                <a:latin typeface="+mn-lt"/>
              </a:rPr>
            </a:br>
            <a:r>
              <a:rPr lang="en-US" dirty="0"/>
              <a:t>Display the output of a command or text file one page at a time. </a:t>
            </a:r>
          </a:p>
          <a:p>
            <a:pPr>
              <a:buFont typeface="Arial" pitchFamily="34" charset="0"/>
              <a:buChar char="•"/>
            </a:pPr>
            <a:r>
              <a:rPr dirty="0">
                <a:latin typeface="+mn-lt"/>
              </a:rPr>
              <a:t>Can also jump to the first occurrence of a keyword</a:t>
            </a:r>
            <a:br>
              <a:rPr dirty="0">
                <a:latin typeface="+mn-lt"/>
              </a:rPr>
            </a:br>
            <a:r>
              <a:rPr dirty="0">
                <a:latin typeface="+mn-lt"/>
              </a:rPr>
              <a:t>(/ command).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91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41962C23-C3F8-DAA8-7E2B-9989CBF02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899688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Displaying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file contents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less file1 </a:t>
            </a:r>
            <a:br>
              <a:rPr lang="en-US" dirty="0"/>
            </a:br>
            <a:r>
              <a:rPr lang="en-US" dirty="0"/>
              <a:t>Does more than more.</a:t>
            </a:r>
            <a:br>
              <a:rPr lang="en-US" dirty="0"/>
            </a:br>
            <a:r>
              <a:rPr lang="en-US" dirty="0"/>
              <a:t>Doesn't read the whole file before starting.</a:t>
            </a:r>
            <a:br>
              <a:rPr lang="en-US" dirty="0"/>
            </a:br>
            <a:r>
              <a:rPr lang="en-US" dirty="0"/>
              <a:t>Supports backward movement in the file (? command).</a:t>
            </a:r>
            <a:br>
              <a:rPr lang="en-US" dirty="0"/>
            </a:br>
            <a:r>
              <a:rPr lang="en-US" dirty="0"/>
              <a:t>Supports searching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/&lt;string to search&gt;</a:t>
            </a:r>
            <a:endParaRPr lang="pl-P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0000" lvl="1" indent="0">
              <a:spcBef>
                <a:spcPts val="0"/>
              </a:spcBef>
              <a:buNone/>
            </a:pPr>
            <a:r>
              <a:rPr lang="pl-PL" dirty="0"/>
              <a:t>Press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q</a:t>
            </a:r>
            <a:r>
              <a:rPr lang="pl-PL" dirty="0"/>
              <a:t> to exit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92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76D9921-6AC8-A563-3333-33434859E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1CED45-7F1F-565E-1452-4014FB94FFB2}"/>
              </a:ext>
            </a:extLst>
          </p:cNvPr>
          <p:cNvSpPr/>
          <p:nvPr/>
        </p:nvSpPr>
        <p:spPr>
          <a:xfrm>
            <a:off x="791063" y="5000169"/>
            <a:ext cx="5688240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Less is more</a:t>
            </a:r>
            <a:endParaRPr lang="pl-PL" sz="6000" b="1" dirty="0">
              <a:ln w="9525">
                <a:solidFill>
                  <a:schemeClr val="tx2">
                    <a:lumMod val="50000"/>
                  </a:schemeClr>
                </a:solidFill>
                <a:prstDash val="solid"/>
              </a:ln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0561361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head and tail commands</a:t>
            </a:r>
          </a:p>
        </p:txBody>
      </p:sp>
      <p:sp>
        <p:nvSpPr>
          <p:cNvPr id="3072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head [-&lt;n&gt;] &lt;file&gt;</a:t>
            </a:r>
            <a:br>
              <a:rPr lang="en-US" sz="2300" dirty="0"/>
            </a:br>
            <a:r>
              <a:rPr lang="en-US" sz="2300" dirty="0"/>
              <a:t>Displays the first &lt;n&gt; lines (or 10 by default) of the given file.</a:t>
            </a:r>
            <a:br>
              <a:rPr lang="en-US" sz="2300" dirty="0"/>
            </a:br>
            <a:r>
              <a:rPr lang="en-US" sz="2300" dirty="0"/>
              <a:t>Doesn't have to open the whole file to do this!</a:t>
            </a:r>
          </a:p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tail [-&lt;n&gt;] &lt;file&gt;</a:t>
            </a:r>
            <a:br>
              <a:rPr lang="en-US" sz="2300" dirty="0"/>
            </a:br>
            <a:r>
              <a:rPr lang="en-US" sz="2300" dirty="0"/>
              <a:t>Displays the last &lt;n&gt; lines (or 10 by default) of the given file.</a:t>
            </a:r>
            <a:br>
              <a:rPr lang="en-US" sz="2300" dirty="0"/>
            </a:br>
            <a:r>
              <a:rPr lang="en-US" sz="2300" dirty="0"/>
              <a:t>No need to load the whole file in RAM! Very useful for huge files.</a:t>
            </a:r>
          </a:p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tail -f &lt;file&gt; </a:t>
            </a:r>
            <a:r>
              <a:rPr lang="en-US" sz="2300" dirty="0"/>
              <a:t>(follow)</a:t>
            </a:r>
            <a:br>
              <a:rPr lang="en-US" sz="2300" dirty="0"/>
            </a:br>
            <a:r>
              <a:rPr lang="en-US" sz="2300" dirty="0"/>
              <a:t>Displays the last 10 lines of the given file and continues to display new lines when they are appended to the file.</a:t>
            </a:r>
            <a:br>
              <a:rPr lang="en-US" sz="2300" dirty="0"/>
            </a:br>
            <a:r>
              <a:rPr lang="en-US" sz="2300" dirty="0"/>
              <a:t>Very useful to follow the changes in a log file, for example.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93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A294931E-DA54-3A45-7599-FE7022DB83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103156"/>
      </p:ext>
    </p:extLst>
  </p:cSld>
  <p:clrMapOvr>
    <a:masterClrMapping/>
  </p:clrMapOvr>
  <p:transition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The grep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1747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&lt;pattern&gt; &lt;files&gt;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Scans the given files and displays the lines which match the given pattern.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error *.log</a:t>
            </a:r>
            <a:br>
              <a:rPr lang="en-US" sz="2200" b="1" dirty="0">
                <a:latin typeface="+mj-lt"/>
                <a:cs typeface="Courier New" pitchFamily="49" charset="0"/>
              </a:rPr>
            </a:br>
            <a:r>
              <a:rPr lang="en-US" sz="2200" dirty="0">
                <a:latin typeface="+mj-lt"/>
              </a:rPr>
              <a:t>Displays all the lines containing error in the *.log files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-i error *.log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Same, but case insensitive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error 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Same, but recursively in all the files in the current directory and its subdirectories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-v info *.log</a:t>
            </a:r>
            <a:br>
              <a:rPr lang="en-US" sz="2200" b="1" dirty="0">
                <a:latin typeface="+mj-lt"/>
                <a:cs typeface="Courier New" pitchFamily="49" charset="0"/>
              </a:rPr>
            </a:br>
            <a:r>
              <a:rPr lang="en-US" sz="2200" dirty="0">
                <a:latin typeface="+mj-lt"/>
              </a:rPr>
              <a:t>Outputs all the lines in the files except those containing info.</a:t>
            </a:r>
          </a:p>
          <a:p>
            <a:r>
              <a:rPr lang="en-US" sz="1600" dirty="0">
                <a:latin typeface="+mj-lt"/>
                <a:hlinkClick r:id="rId3"/>
              </a:rPr>
              <a:t>http://www.thegeekstuff.com/2009/03/15-practical-unix-grep-command-examples/</a:t>
            </a:r>
            <a:endParaRPr lang="en-US" sz="16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65138142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3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95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3621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Archiving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96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471210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File Archiving: tar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Saves and restores multiple files to/from a single file. Directories followed recursively.</a:t>
            </a:r>
          </a:p>
          <a:p>
            <a:pPr eaLnBrk="1" hangingPunct="1"/>
            <a:r>
              <a:rPr lang="en-US" dirty="0"/>
              <a:t>Format: </a:t>
            </a: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tar [options]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options_values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[files]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c – create a new archive</a:t>
            </a:r>
          </a:p>
          <a:p>
            <a:pPr lvl="1"/>
            <a:r>
              <a:rPr lang="en-US" dirty="0"/>
              <a:t>v – verbosely list files which are processed.</a:t>
            </a:r>
          </a:p>
          <a:p>
            <a:pPr lvl="1"/>
            <a:r>
              <a:rPr lang="en-US" dirty="0"/>
              <a:t>f – following is the archive file name</a:t>
            </a:r>
          </a:p>
          <a:p>
            <a:pPr lvl="1"/>
            <a:r>
              <a:rPr lang="en-US" dirty="0"/>
              <a:t>z – filter the archive through </a:t>
            </a:r>
            <a:r>
              <a:rPr lang="en-US" dirty="0" err="1"/>
              <a:t>gzip</a:t>
            </a:r>
            <a:r>
              <a:rPr lang="pl-PL" dirty="0"/>
              <a:t> (</a:t>
            </a:r>
            <a:r>
              <a:rPr lang="pl-PL" dirty="0" err="1"/>
              <a:t>compress</a:t>
            </a:r>
            <a:r>
              <a:rPr lang="pl-PL" dirty="0"/>
              <a:t>)</a:t>
            </a:r>
            <a:endParaRPr lang="en-US" dirty="0"/>
          </a:p>
          <a:p>
            <a:pPr lvl="1"/>
            <a:r>
              <a:rPr lang="en-US" dirty="0"/>
              <a:t>x – extract files from archive</a:t>
            </a:r>
            <a:endParaRPr lang="pl-PL" dirty="0"/>
          </a:p>
          <a:p>
            <a:pPr lvl="1"/>
            <a:r>
              <a:rPr lang="pl-PL" dirty="0"/>
              <a:t>j - </a:t>
            </a:r>
            <a:r>
              <a:rPr lang="en-US" dirty="0"/>
              <a:t>filter the archive through </a:t>
            </a:r>
            <a:r>
              <a:rPr lang="pl-PL" dirty="0"/>
              <a:t>b</a:t>
            </a:r>
            <a:r>
              <a:rPr lang="en-US" dirty="0"/>
              <a:t>zip</a:t>
            </a:r>
            <a:r>
              <a:rPr lang="pl-PL" dirty="0"/>
              <a:t> (</a:t>
            </a:r>
            <a:r>
              <a:rPr lang="pl-PL" dirty="0" err="1"/>
              <a:t>compress</a:t>
            </a:r>
            <a:r>
              <a:rPr lang="pl-PL" dirty="0"/>
              <a:t>)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 eaLnBrk="1" hangingPunct="1"/>
            <a:endParaRPr lang="en-US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101737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reate Ze File, Extrakt Ze File">
            <a:extLst>
              <a:ext uri="{FF2B5EF4-FFF2-40B4-BE49-F238E27FC236}">
                <a16:creationId xmlns:a16="http://schemas.microsoft.com/office/drawing/2014/main" id="{BE29A920-78BA-7754-EC99-19B22031B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100843"/>
            <a:ext cx="3306033" cy="3463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Archiving: 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9"/>
            <a:ext cx="5688184" cy="4428000"/>
          </a:xfrm>
        </p:spPr>
        <p:txBody>
          <a:bodyPr/>
          <a:lstStyle/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Backup the specified item(s)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</a:t>
            </a:r>
            <a:endParaRPr lang="en-US" b="1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/>
          </a:p>
          <a:p>
            <a:pPr lvl="1"/>
            <a:r>
              <a:rPr lang="en-US" dirty="0"/>
              <a:t>Compress the archive to save space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czf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 </a:t>
            </a:r>
            <a:r>
              <a:rPr lang="en-US" dirty="0"/>
              <a:t>	 	</a:t>
            </a:r>
          </a:p>
          <a:p>
            <a:pPr lvl="1"/>
            <a:r>
              <a:rPr lang="en-US" dirty="0"/>
              <a:t>Restore the specified item(s)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xzf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 </a:t>
            </a:r>
            <a:r>
              <a:rPr lang="en-US" dirty="0"/>
              <a:t>	</a:t>
            </a:r>
          </a:p>
          <a:p>
            <a:pPr marL="359637" lvl="1" indent="0">
              <a:buNone/>
            </a:pPr>
            <a:endParaRPr lang="en-US" dirty="0"/>
          </a:p>
          <a:p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98</a:t>
            </a:fld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D13293-12D1-BB81-B4BB-F6B389728867}"/>
              </a:ext>
            </a:extLst>
          </p:cNvPr>
          <p:cNvSpPr txBox="1"/>
          <p:nvPr/>
        </p:nvSpPr>
        <p:spPr>
          <a:xfrm>
            <a:off x="35600" y="6008781"/>
            <a:ext cx="72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http://www.thegeekstuff.com/2010/04/unix-tar-command-examples/</a:t>
            </a:r>
            <a:endParaRPr lang="en-US" dirty="0"/>
          </a:p>
          <a:p>
            <a:endParaRPr lang="nl-BE" dirty="0"/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9CB248C7-9684-171E-61BF-6171BB0E0F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57509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File Compression: gzip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Compressing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filename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 err="1">
                <a:latin typeface="+mn-lt"/>
                <a:cs typeface="Courier New" pitchFamily="49" charset="0"/>
              </a:rPr>
              <a:t>or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bzip2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filename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backup.tar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bzip2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backup.tar</a:t>
            </a:r>
          </a:p>
          <a:p>
            <a:pPr lvl="1">
              <a:buNone/>
            </a:pPr>
            <a:r>
              <a:rPr lang="en-US" dirty="0"/>
              <a:t>The resulted file is backup.tar.gz</a:t>
            </a:r>
            <a:r>
              <a:rPr lang="pl-PL" dirty="0"/>
              <a:t>/</a:t>
            </a:r>
            <a:r>
              <a:rPr lang="en-US" dirty="0"/>
              <a:t> backup.tar.</a:t>
            </a:r>
            <a:r>
              <a:rPr lang="pl-PL" dirty="0"/>
              <a:t>bz2</a:t>
            </a:r>
            <a:endParaRPr lang="en-US" dirty="0"/>
          </a:p>
          <a:p>
            <a:r>
              <a:rPr lang="en-US" dirty="0"/>
              <a:t>Uncompressing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 filename.gz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dirty="0" err="1">
                <a:cs typeface="Courier New" pitchFamily="49" charset="0"/>
              </a:rPr>
              <a:t>or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bzip2 –d filename.bz2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–d backup.tar.gz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bzip2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–d backup.tar.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bz2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>
              <a:buFont typeface="Wingdings" pitchFamily="2" charset="2"/>
              <a:buNone/>
            </a:pPr>
            <a:r>
              <a:rPr lang="en-US" dirty="0"/>
              <a:t>The uncompressed file is backup.tar</a:t>
            </a:r>
          </a:p>
          <a:p>
            <a:pPr marL="457200" lvl="1" indent="0" eaLnBrk="1" hangingPunct="1">
              <a:buNone/>
            </a:pPr>
            <a:endParaRPr lang="en-US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267131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203848" y="2304000"/>
            <a:ext cx="5670152" cy="1800200"/>
          </a:xfrm>
        </p:spPr>
        <p:txBody>
          <a:bodyPr/>
          <a:lstStyle/>
          <a:p>
            <a:r>
              <a:rPr lang="nl-BE" dirty="0"/>
              <a:t>Users, </a:t>
            </a:r>
            <a:r>
              <a:rPr lang="nl-BE" dirty="0" err="1"/>
              <a:t>groups</a:t>
            </a:r>
            <a:r>
              <a:rPr lang="nl-BE" dirty="0"/>
              <a:t> &amp; security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100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35793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B7B45-27B3-499C-9669-C2CDED44166A}" type="slidenum">
              <a:rPr lang="zh-TW" altLang="en-US"/>
              <a:pPr/>
              <a:t>101</a:t>
            </a:fld>
            <a:endParaRPr lang="en-US" altLang="zh-TW"/>
          </a:p>
        </p:txBody>
      </p:sp>
      <p:sp>
        <p:nvSpPr>
          <p:cNvPr id="1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12" name="Content Placeholder 5"/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pl-PL" dirty="0"/>
              <a:t>Linux File Access Privilege</a:t>
            </a:r>
            <a:endParaRPr lang="en-US" b="1" dirty="0"/>
          </a:p>
          <a:p>
            <a:r>
              <a:rPr lang="en-US" dirty="0"/>
              <a:t>Linux is a multiuser system, the files of all users are stored in a single file structure</a:t>
            </a:r>
          </a:p>
          <a:p>
            <a:r>
              <a:rPr lang="en-US" dirty="0"/>
              <a:t>Mechanism is required to restrict one user to access the files of another user, if he is not supposed to</a:t>
            </a:r>
          </a:p>
          <a:p>
            <a:r>
              <a:rPr lang="en-US" dirty="0"/>
              <a:t>User can impose access permission to each file to restrict its access</a:t>
            </a:r>
          </a:p>
          <a:p>
            <a:r>
              <a:rPr lang="en-US" dirty="0"/>
              <a:t>The term “access permission” refers to</a:t>
            </a:r>
          </a:p>
          <a:p>
            <a:pPr lvl="1"/>
            <a:r>
              <a:rPr lang="en-US" dirty="0"/>
              <a:t>read permission</a:t>
            </a:r>
          </a:p>
          <a:p>
            <a:pPr lvl="1"/>
            <a:r>
              <a:rPr lang="en-US" dirty="0"/>
              <a:t>write permission</a:t>
            </a:r>
          </a:p>
          <a:p>
            <a:pPr lvl="1"/>
            <a:r>
              <a:rPr lang="en-US" dirty="0"/>
              <a:t>execute permission</a:t>
            </a:r>
          </a:p>
        </p:txBody>
      </p:sp>
    </p:spTree>
    <p:extLst>
      <p:ext uri="{BB962C8B-B14F-4D97-AF65-F5344CB8AC3E}">
        <p14:creationId xmlns:p14="http://schemas.microsoft.com/office/powerpoint/2010/main" val="25361860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access rights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types of </a:t>
            </a:r>
            <a:r>
              <a:rPr lang="en-US" b="1" dirty="0"/>
              <a:t>access rights</a:t>
            </a:r>
          </a:p>
          <a:p>
            <a:r>
              <a:rPr lang="en-US" dirty="0"/>
              <a:t>Read access (r)</a:t>
            </a:r>
          </a:p>
          <a:p>
            <a:pPr lvl="1"/>
            <a:r>
              <a:rPr lang="en-US" dirty="0"/>
              <a:t>reading, opening, viewing, and copying the file is allowed</a:t>
            </a:r>
          </a:p>
          <a:p>
            <a:r>
              <a:rPr lang="en-US" dirty="0"/>
              <a:t>Write access (w)</a:t>
            </a:r>
          </a:p>
          <a:p>
            <a:pPr lvl="1"/>
            <a:r>
              <a:rPr lang="en-US" dirty="0"/>
              <a:t>writing, changing, deleting, and saving the file is allowed</a:t>
            </a:r>
          </a:p>
          <a:p>
            <a:r>
              <a:rPr lang="en-US" dirty="0"/>
              <a:t>Execute rights (x)</a:t>
            </a:r>
          </a:p>
          <a:p>
            <a:pPr lvl="1"/>
            <a:r>
              <a:rPr lang="en-US" dirty="0"/>
              <a:t>executing and invoking the file is allowed. This is required for directories to allow searching and access.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i="1" dirty="0"/>
              <a:t>Use 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 -l </a:t>
            </a:r>
            <a:r>
              <a:rPr lang="en-US" i="1" dirty="0"/>
              <a:t>to check file access rights</a:t>
            </a:r>
          </a:p>
          <a:p>
            <a:endParaRPr lang="en-US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102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0D7097EC-0411-07FC-7DD3-3936EBBC1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12127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types of </a:t>
            </a:r>
            <a:r>
              <a:rPr lang="en-US" b="1" dirty="0"/>
              <a:t>access levels</a:t>
            </a:r>
          </a:p>
          <a:p>
            <a:r>
              <a:rPr lang="en-US" dirty="0"/>
              <a:t>User (u): for the owner of the file</a:t>
            </a:r>
          </a:p>
          <a:p>
            <a:r>
              <a:rPr lang="en-US" dirty="0"/>
              <a:t>Group (g): each file also has a “group” attribute, corresponding to a given list of users</a:t>
            </a:r>
          </a:p>
          <a:p>
            <a:r>
              <a:rPr lang="en-US" dirty="0"/>
              <a:t>Others (o): for all other users</a:t>
            </a:r>
          </a:p>
          <a:p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3823083"/>
            <a:ext cx="4032448" cy="23666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6476748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6E688-50BB-4B3D-845C-28359C7C54E4}" type="slidenum">
              <a:rPr lang="zh-TW" altLang="en-US"/>
              <a:pPr/>
              <a:t>104</a:t>
            </a:fld>
            <a:endParaRPr lang="en-US" altLang="zh-TW"/>
          </a:p>
        </p:txBody>
      </p:sp>
      <p:sp>
        <p:nvSpPr>
          <p:cNvPr id="264199" name="Text Box 7"/>
          <p:cNvSpPr txBox="1">
            <a:spLocks noChangeArrowheads="1"/>
          </p:cNvSpPr>
          <p:nvPr/>
        </p:nvSpPr>
        <p:spPr bwMode="auto">
          <a:xfrm>
            <a:off x="1676400" y="2133600"/>
            <a:ext cx="593406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d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rwx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r-x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r-x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 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2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wva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wva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4096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Sep 25 2025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Autostart</a:t>
            </a:r>
            <a:endParaRPr lang="en-US" altLang="zh-TW" b="1" u="sng" dirty="0">
              <a:solidFill>
                <a:srgbClr val="FF3300"/>
              </a:solidFill>
              <a:ea typeface="新細明體" panose="02020500000000000000" pitchFamily="18" charset="-120"/>
            </a:endParaRPr>
          </a:p>
        </p:txBody>
      </p:sp>
      <p:grpSp>
        <p:nvGrpSpPr>
          <p:cNvPr id="2" name="Groep 1"/>
          <p:cNvGrpSpPr/>
          <p:nvPr/>
        </p:nvGrpSpPr>
        <p:grpSpPr>
          <a:xfrm>
            <a:off x="228600" y="915764"/>
            <a:ext cx="8486775" cy="4889500"/>
            <a:chOff x="228600" y="914400"/>
            <a:chExt cx="8486775" cy="4889500"/>
          </a:xfrm>
        </p:grpSpPr>
        <p:sp>
          <p:nvSpPr>
            <p:cNvPr id="264200" name="Line 8"/>
            <p:cNvSpPr>
              <a:spLocks noChangeShapeType="1"/>
            </p:cNvSpPr>
            <p:nvPr/>
          </p:nvSpPr>
          <p:spPr bwMode="auto">
            <a:xfrm flipV="1">
              <a:off x="990599" y="2476499"/>
              <a:ext cx="779949" cy="647701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1" name="Text Box 9"/>
            <p:cNvSpPr txBox="1">
              <a:spLocks noChangeArrowheads="1"/>
            </p:cNvSpPr>
            <p:nvPr/>
          </p:nvSpPr>
          <p:spPr bwMode="auto">
            <a:xfrm>
              <a:off x="228600" y="2971800"/>
              <a:ext cx="1295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It is a directory</a:t>
              </a:r>
            </a:p>
          </p:txBody>
        </p:sp>
        <p:sp>
          <p:nvSpPr>
            <p:cNvPr id="264202" name="Line 10"/>
            <p:cNvSpPr>
              <a:spLocks noChangeShapeType="1"/>
            </p:cNvSpPr>
            <p:nvPr/>
          </p:nvSpPr>
          <p:spPr bwMode="auto">
            <a:xfrm flipV="1">
              <a:off x="2123728" y="2514600"/>
              <a:ext cx="0" cy="13716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3" name="Text Box 11"/>
            <p:cNvSpPr txBox="1">
              <a:spLocks noChangeArrowheads="1"/>
            </p:cNvSpPr>
            <p:nvPr/>
          </p:nvSpPr>
          <p:spPr bwMode="auto">
            <a:xfrm>
              <a:off x="533400" y="3886200"/>
              <a:ext cx="2286000" cy="19177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read, written and executed by the user </a:t>
              </a:r>
              <a:r>
                <a:rPr lang="en-US" altLang="zh-TW" dirty="0" err="1">
                  <a:ea typeface="新細明體" panose="02020500000000000000" pitchFamily="18" charset="-120"/>
                </a:rPr>
                <a:t>dlun</a:t>
              </a:r>
              <a:endParaRPr lang="en-US" altLang="zh-TW" dirty="0">
                <a:ea typeface="新細明體" panose="02020500000000000000" pitchFamily="18" charset="-120"/>
              </a:endParaRPr>
            </a:p>
          </p:txBody>
        </p:sp>
        <p:sp>
          <p:nvSpPr>
            <p:cNvPr id="264204" name="Line 12"/>
            <p:cNvSpPr>
              <a:spLocks noChangeShapeType="1"/>
            </p:cNvSpPr>
            <p:nvPr/>
          </p:nvSpPr>
          <p:spPr bwMode="auto">
            <a:xfrm flipH="1" flipV="1">
              <a:off x="2601566" y="2509837"/>
              <a:ext cx="741362" cy="128428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5" name="Text Box 13"/>
            <p:cNvSpPr txBox="1">
              <a:spLocks noChangeArrowheads="1"/>
            </p:cNvSpPr>
            <p:nvPr/>
          </p:nvSpPr>
          <p:spPr bwMode="auto">
            <a:xfrm>
              <a:off x="2819400" y="3844925"/>
              <a:ext cx="2743200" cy="19177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 and executed but not written by other users in the same group of </a:t>
              </a:r>
              <a:r>
                <a:rPr lang="en-US" altLang="zh-TW" dirty="0" err="1">
                  <a:ea typeface="新細明體" panose="02020500000000000000" pitchFamily="18" charset="-120"/>
                </a:rPr>
                <a:t>dlun</a:t>
              </a:r>
              <a:endParaRPr lang="en-US" altLang="zh-TW" dirty="0">
                <a:ea typeface="新細明體" panose="02020500000000000000" pitchFamily="18" charset="-120"/>
              </a:endParaRPr>
            </a:p>
          </p:txBody>
        </p:sp>
        <p:sp>
          <p:nvSpPr>
            <p:cNvPr id="264206" name="Text Box 14"/>
            <p:cNvSpPr txBox="1">
              <a:spLocks noChangeArrowheads="1"/>
            </p:cNvSpPr>
            <p:nvPr/>
          </p:nvSpPr>
          <p:spPr bwMode="auto">
            <a:xfrm>
              <a:off x="5638800" y="3810000"/>
              <a:ext cx="2971800" cy="923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 and executed but not written by any other users</a:t>
              </a:r>
            </a:p>
          </p:txBody>
        </p:sp>
        <p:sp>
          <p:nvSpPr>
            <p:cNvPr id="264207" name="Line 15"/>
            <p:cNvSpPr>
              <a:spLocks noChangeShapeType="1"/>
            </p:cNvSpPr>
            <p:nvPr/>
          </p:nvSpPr>
          <p:spPr bwMode="auto">
            <a:xfrm flipH="1" flipV="1">
              <a:off x="2991612" y="2476499"/>
              <a:ext cx="2799588" cy="1368425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8" name="Text Box 16"/>
            <p:cNvSpPr txBox="1">
              <a:spLocks noChangeArrowheads="1"/>
            </p:cNvSpPr>
            <p:nvPr/>
          </p:nvSpPr>
          <p:spPr bwMode="auto">
            <a:xfrm>
              <a:off x="3048000" y="1295400"/>
              <a:ext cx="12954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Owner</a:t>
              </a:r>
            </a:p>
          </p:txBody>
        </p:sp>
        <p:sp>
          <p:nvSpPr>
            <p:cNvPr id="264209" name="Line 17"/>
            <p:cNvSpPr>
              <a:spLocks noChangeShapeType="1"/>
            </p:cNvSpPr>
            <p:nvPr/>
          </p:nvSpPr>
          <p:spPr bwMode="auto">
            <a:xfrm>
              <a:off x="3429000" y="1613400"/>
              <a:ext cx="266700" cy="54083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0" name="Text Box 18"/>
            <p:cNvSpPr txBox="1">
              <a:spLocks noChangeArrowheads="1"/>
            </p:cNvSpPr>
            <p:nvPr/>
          </p:nvSpPr>
          <p:spPr bwMode="auto">
            <a:xfrm>
              <a:off x="4572000" y="1143000"/>
              <a:ext cx="1295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Owner’s group</a:t>
              </a:r>
            </a:p>
          </p:txBody>
        </p:sp>
        <p:sp>
          <p:nvSpPr>
            <p:cNvPr id="264211" name="Line 19"/>
            <p:cNvSpPr>
              <a:spLocks noChangeShapeType="1"/>
            </p:cNvSpPr>
            <p:nvPr/>
          </p:nvSpPr>
          <p:spPr bwMode="auto">
            <a:xfrm flipH="1">
              <a:off x="4380500" y="1752600"/>
              <a:ext cx="420099" cy="4572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2" name="Text Box 20"/>
            <p:cNvSpPr txBox="1">
              <a:spLocks noChangeArrowheads="1"/>
            </p:cNvSpPr>
            <p:nvPr/>
          </p:nvSpPr>
          <p:spPr bwMode="auto">
            <a:xfrm>
              <a:off x="5775325" y="3013075"/>
              <a:ext cx="1138238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size</a:t>
              </a:r>
            </a:p>
          </p:txBody>
        </p:sp>
        <p:sp>
          <p:nvSpPr>
            <p:cNvPr id="264213" name="Line 21"/>
            <p:cNvSpPr>
              <a:spLocks noChangeShapeType="1"/>
            </p:cNvSpPr>
            <p:nvPr/>
          </p:nvSpPr>
          <p:spPr bwMode="auto">
            <a:xfrm flipH="1" flipV="1">
              <a:off x="4920996" y="2481706"/>
              <a:ext cx="897968" cy="566293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4" name="Text Box 22"/>
            <p:cNvSpPr txBox="1">
              <a:spLocks noChangeArrowheads="1"/>
            </p:cNvSpPr>
            <p:nvPr/>
          </p:nvSpPr>
          <p:spPr bwMode="auto">
            <a:xfrm>
              <a:off x="6553200" y="914400"/>
              <a:ext cx="2057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last modified date</a:t>
              </a:r>
            </a:p>
          </p:txBody>
        </p:sp>
        <p:sp>
          <p:nvSpPr>
            <p:cNvPr id="264215" name="Line 23"/>
            <p:cNvSpPr>
              <a:spLocks noChangeShapeType="1"/>
            </p:cNvSpPr>
            <p:nvPr/>
          </p:nvSpPr>
          <p:spPr bwMode="auto">
            <a:xfrm flipH="1">
              <a:off x="5945599" y="1502275"/>
              <a:ext cx="967963" cy="631325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6" name="Text Box 24"/>
            <p:cNvSpPr txBox="1">
              <a:spLocks noChangeArrowheads="1"/>
            </p:cNvSpPr>
            <p:nvPr/>
          </p:nvSpPr>
          <p:spPr bwMode="auto">
            <a:xfrm>
              <a:off x="1752600" y="1219200"/>
              <a:ext cx="12192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Hard link no</a:t>
              </a:r>
            </a:p>
          </p:txBody>
        </p:sp>
        <p:sp>
          <p:nvSpPr>
            <p:cNvPr id="264217" name="Line 25"/>
            <p:cNvSpPr>
              <a:spLocks noChangeShapeType="1"/>
            </p:cNvSpPr>
            <p:nvPr/>
          </p:nvSpPr>
          <p:spPr bwMode="auto">
            <a:xfrm>
              <a:off x="2286000" y="1600200"/>
              <a:ext cx="914400" cy="536892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8" name="Text Box 26"/>
            <p:cNvSpPr txBox="1">
              <a:spLocks noChangeArrowheads="1"/>
            </p:cNvSpPr>
            <p:nvPr/>
          </p:nvSpPr>
          <p:spPr bwMode="auto">
            <a:xfrm>
              <a:off x="7391400" y="3048000"/>
              <a:ext cx="13239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name</a:t>
              </a:r>
            </a:p>
          </p:txBody>
        </p:sp>
        <p:sp>
          <p:nvSpPr>
            <p:cNvPr id="264219" name="Line 27"/>
            <p:cNvSpPr>
              <a:spLocks noChangeShapeType="1"/>
            </p:cNvSpPr>
            <p:nvPr/>
          </p:nvSpPr>
          <p:spPr bwMode="auto">
            <a:xfrm flipH="1" flipV="1">
              <a:off x="7419164" y="2511552"/>
              <a:ext cx="465204" cy="53644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</p:grpSp>
      <p:sp>
        <p:nvSpPr>
          <p:cNvPr id="264220" name="Text Box 28"/>
          <p:cNvSpPr txBox="1">
            <a:spLocks noChangeArrowheads="1"/>
          </p:cNvSpPr>
          <p:nvPr/>
        </p:nvSpPr>
        <p:spPr bwMode="auto">
          <a:xfrm>
            <a:off x="228600" y="5337175"/>
            <a:ext cx="5638800" cy="64633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1"/>
                </a:solidFill>
                <a:ea typeface="新細明體" panose="02020500000000000000" pitchFamily="18" charset="-120"/>
              </a:rPr>
              <a:t>The group of a user is assigned by the administrator when a user is added to the system</a:t>
            </a:r>
          </a:p>
        </p:txBody>
      </p:sp>
      <p:sp>
        <p:nvSpPr>
          <p:cNvPr id="3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4D7B6FB5-DAAF-33B9-C779-0560017D1F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1609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B7B45-27B3-499C-9669-C2CDED44166A}" type="slidenum">
              <a:rPr lang="zh-TW" altLang="en-US"/>
              <a:pPr/>
              <a:t>105</a:t>
            </a:fld>
            <a:endParaRPr lang="en-US" altLang="zh-TW"/>
          </a:p>
        </p:txBody>
      </p:sp>
      <p:sp>
        <p:nvSpPr>
          <p:cNvPr id="1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12" name="Content Placeholder 5"/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Access permission can also be assigned to a directory</a:t>
            </a:r>
          </a:p>
          <a:p>
            <a:r>
              <a:rPr lang="en-US" sz="2200" dirty="0"/>
              <a:t>Directory is also a file that contains the attributes of the files inside it</a:t>
            </a:r>
          </a:p>
          <a:p>
            <a:r>
              <a:rPr lang="en-US" sz="2200" dirty="0"/>
              <a:t>If read permission is not given to a directory</a:t>
            </a:r>
          </a:p>
          <a:p>
            <a:pPr lvl="1"/>
            <a:r>
              <a:rPr lang="en-US" sz="2200" dirty="0"/>
              <a:t>cannot show the structure of this directory </a:t>
            </a:r>
          </a:p>
          <a:p>
            <a:pPr lvl="1"/>
            <a:r>
              <a:rPr lang="en-US" sz="2200" dirty="0"/>
              <a:t>e.g. cannot use </a:t>
            </a:r>
            <a:r>
              <a:rPr lang="en-US" sz="2200" dirty="0" err="1"/>
              <a:t>ls</a:t>
            </a:r>
            <a:endParaRPr lang="en-US" sz="2200" dirty="0"/>
          </a:p>
          <a:p>
            <a:r>
              <a:rPr lang="en-US" sz="2200" dirty="0"/>
              <a:t>If write permission is not given to a directory</a:t>
            </a:r>
          </a:p>
          <a:p>
            <a:pPr lvl="1"/>
            <a:r>
              <a:rPr lang="en-US" sz="2200" dirty="0"/>
              <a:t>cannot modify anything of the directory structure</a:t>
            </a:r>
          </a:p>
          <a:p>
            <a:pPr lvl="1"/>
            <a:r>
              <a:rPr lang="en-US" sz="2200" dirty="0"/>
              <a:t>e.g. cannot copy a file into this directory since it will modify the directory structure by adding one more file</a:t>
            </a:r>
          </a:p>
          <a:p>
            <a:r>
              <a:rPr lang="en-US" sz="2200" dirty="0"/>
              <a:t>If execute permission is not given to a directory</a:t>
            </a:r>
          </a:p>
          <a:p>
            <a:pPr lvl="1"/>
            <a:r>
              <a:rPr lang="en-US" sz="2200" dirty="0"/>
              <a:t>nearly nothing can be done with this directory, even cd</a:t>
            </a:r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9FE383D3-4405-3E4F-3956-6C4C623D1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5976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Access </a:t>
            </a:r>
            <a:r>
              <a:rPr lang="nl-BE" dirty="0" err="1"/>
              <a:t>rights</a:t>
            </a:r>
            <a:r>
              <a:rPr lang="nl-BE" dirty="0"/>
              <a:t> </a:t>
            </a:r>
            <a:r>
              <a:rPr lang="nl-BE" dirty="0" err="1"/>
              <a:t>examples</a:t>
            </a:r>
            <a:endParaRPr lang="nl-BE" dirty="0"/>
          </a:p>
        </p:txBody>
      </p:sp>
      <p:sp>
        <p:nvSpPr>
          <p:cNvPr id="48131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-</a:t>
            </a:r>
            <a:r>
              <a:rPr lang="en-US" dirty="0" err="1"/>
              <a:t>rw</a:t>
            </a:r>
            <a:r>
              <a:rPr lang="en-US" dirty="0"/>
              <a:t>-r--r--</a:t>
            </a:r>
            <a:br>
              <a:rPr lang="en-US" dirty="0"/>
            </a:br>
            <a:r>
              <a:rPr lang="en-US" dirty="0"/>
              <a:t>Readable and writable for file owner, only readable for others</a:t>
            </a:r>
          </a:p>
          <a:p>
            <a:r>
              <a:rPr lang="en-US" dirty="0"/>
              <a:t>-</a:t>
            </a:r>
            <a:r>
              <a:rPr lang="en-US" dirty="0" err="1"/>
              <a:t>rw</a:t>
            </a:r>
            <a:r>
              <a:rPr lang="en-US" dirty="0"/>
              <a:t>-r-----</a:t>
            </a:r>
            <a:br>
              <a:rPr lang="en-US" dirty="0"/>
            </a:br>
            <a:r>
              <a:rPr lang="en-US" dirty="0"/>
              <a:t>Readable and writable for file owner, only readable for users belonging to the file group.</a:t>
            </a:r>
          </a:p>
          <a:p>
            <a:r>
              <a:rPr lang="en-US" dirty="0" err="1"/>
              <a:t>drwx</a:t>
            </a:r>
            <a:r>
              <a:rPr lang="en-US" dirty="0"/>
              <a:t>------</a:t>
            </a:r>
            <a:br>
              <a:rPr lang="en-US" dirty="0"/>
            </a:br>
            <a:r>
              <a:rPr lang="en-US" dirty="0"/>
              <a:t>Directory only accessible by its owner</a:t>
            </a:r>
          </a:p>
          <a:p>
            <a:r>
              <a:rPr lang="en-US" dirty="0"/>
              <a:t>-------r-x</a:t>
            </a:r>
            <a:br>
              <a:rPr lang="en-US" dirty="0"/>
            </a:br>
            <a:r>
              <a:rPr lang="en-US" dirty="0"/>
              <a:t>File executable by others but neither by your friends nor by yourself. Nice protections for a trap...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9188049"/>
      </p:ext>
    </p:extLst>
  </p:cSld>
  <p:clrMapOvr>
    <a:masterClrMapping/>
  </p:clrMapOvr>
  <p:transition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1C32-06E3-47C7-A729-D238FA5E4B1E}" type="slidenum">
              <a:rPr lang="zh-TW" altLang="en-US"/>
              <a:pPr/>
              <a:t>107</a:t>
            </a:fld>
            <a:endParaRPr lang="en-US" altLang="zh-TW"/>
          </a:p>
        </p:txBody>
      </p:sp>
      <p:grpSp>
        <p:nvGrpSpPr>
          <p:cNvPr id="2" name="Groep 1"/>
          <p:cNvGrpSpPr/>
          <p:nvPr/>
        </p:nvGrpSpPr>
        <p:grpSpPr>
          <a:xfrm>
            <a:off x="76200" y="1066800"/>
            <a:ext cx="8991600" cy="5707063"/>
            <a:chOff x="76200" y="1066800"/>
            <a:chExt cx="8991600" cy="5707063"/>
          </a:xfrm>
        </p:grpSpPr>
        <p:pic>
          <p:nvPicPr>
            <p:cNvPr id="282631" name="Picture 7" descr="chmod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617"/>
            <a:stretch>
              <a:fillRect/>
            </a:stretch>
          </p:blipFill>
          <p:spPr bwMode="auto">
            <a:xfrm>
              <a:off x="76200" y="1066800"/>
              <a:ext cx="8991600" cy="570706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</p:pic>
        <p:sp>
          <p:nvSpPr>
            <p:cNvPr id="282632" name="Text Box 8"/>
            <p:cNvSpPr txBox="1">
              <a:spLocks noChangeArrowheads="1"/>
            </p:cNvSpPr>
            <p:nvPr/>
          </p:nvSpPr>
          <p:spPr bwMode="auto">
            <a:xfrm>
              <a:off x="4022725" y="1336675"/>
              <a:ext cx="4452938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 dirty="0">
                  <a:solidFill>
                    <a:srgbClr val="FF3300"/>
                  </a:solidFill>
                  <a:ea typeface="新細明體" panose="02020500000000000000" pitchFamily="18" charset="-120"/>
                </a:rPr>
                <a:t>temp</a:t>
              </a:r>
              <a:r>
                <a:rPr lang="en-US" altLang="zh-TW" dirty="0">
                  <a:ea typeface="新細明體" panose="02020500000000000000" pitchFamily="18" charset="-120"/>
                </a:rPr>
                <a:t> does not have execution right</a:t>
              </a:r>
            </a:p>
          </p:txBody>
        </p:sp>
        <p:sp>
          <p:nvSpPr>
            <p:cNvPr id="282633" name="Line 9"/>
            <p:cNvSpPr>
              <a:spLocks noChangeShapeType="1"/>
            </p:cNvSpPr>
            <p:nvPr/>
          </p:nvSpPr>
          <p:spPr bwMode="auto">
            <a:xfrm flipH="1">
              <a:off x="762000" y="1905000"/>
              <a:ext cx="3276600" cy="533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4" name="Text Box 10"/>
            <p:cNvSpPr txBox="1">
              <a:spLocks noChangeArrowheads="1"/>
            </p:cNvSpPr>
            <p:nvPr/>
          </p:nvSpPr>
          <p:spPr bwMode="auto">
            <a:xfrm>
              <a:off x="5334000" y="2895600"/>
              <a:ext cx="3076575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even </a:t>
              </a:r>
              <a:r>
                <a:rPr lang="en-US" altLang="zh-TW">
                  <a:solidFill>
                    <a:srgbClr val="FF3300"/>
                  </a:solidFill>
                  <a:ea typeface="新細明體" panose="02020500000000000000" pitchFamily="18" charset="-120"/>
                </a:rPr>
                <a:t>cd</a:t>
              </a:r>
              <a:r>
                <a:rPr lang="en-US" altLang="zh-TW">
                  <a:ea typeface="新細明體" panose="02020500000000000000" pitchFamily="18" charset="-120"/>
                </a:rPr>
                <a:t> is not workable</a:t>
              </a:r>
            </a:p>
          </p:txBody>
        </p:sp>
        <p:sp>
          <p:nvSpPr>
            <p:cNvPr id="282635" name="Line 11"/>
            <p:cNvSpPr>
              <a:spLocks noChangeShapeType="1"/>
            </p:cNvSpPr>
            <p:nvPr/>
          </p:nvSpPr>
          <p:spPr bwMode="auto">
            <a:xfrm flipH="1">
              <a:off x="3657600" y="3200400"/>
              <a:ext cx="1524000" cy="152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6" name="Text Box 12"/>
            <p:cNvSpPr txBox="1">
              <a:spLocks noChangeArrowheads="1"/>
            </p:cNvSpPr>
            <p:nvPr/>
          </p:nvSpPr>
          <p:spPr bwMode="auto">
            <a:xfrm>
              <a:off x="5334000" y="3810000"/>
              <a:ext cx="3100388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execution right is added</a:t>
              </a:r>
            </a:p>
          </p:txBody>
        </p:sp>
        <p:sp>
          <p:nvSpPr>
            <p:cNvPr id="282637" name="Line 13"/>
            <p:cNvSpPr>
              <a:spLocks noChangeShapeType="1"/>
            </p:cNvSpPr>
            <p:nvPr/>
          </p:nvSpPr>
          <p:spPr bwMode="auto">
            <a:xfrm flipH="1">
              <a:off x="4495800" y="3962400"/>
              <a:ext cx="685800" cy="152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8" name="Text Box 14"/>
            <p:cNvSpPr txBox="1">
              <a:spLocks noChangeArrowheads="1"/>
            </p:cNvSpPr>
            <p:nvPr/>
          </p:nvSpPr>
          <p:spPr bwMode="auto">
            <a:xfrm>
              <a:off x="3657600" y="5867400"/>
              <a:ext cx="5197475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now we can change the directory to </a:t>
              </a:r>
              <a:r>
                <a:rPr lang="en-US" altLang="zh-TW">
                  <a:solidFill>
                    <a:srgbClr val="FF3300"/>
                  </a:solidFill>
                  <a:ea typeface="新細明體" panose="02020500000000000000" pitchFamily="18" charset="-120"/>
                </a:rPr>
                <a:t>temp</a:t>
              </a:r>
            </a:p>
          </p:txBody>
        </p:sp>
        <p:sp>
          <p:nvSpPr>
            <p:cNvPr id="282639" name="Line 15"/>
            <p:cNvSpPr>
              <a:spLocks noChangeShapeType="1"/>
            </p:cNvSpPr>
            <p:nvPr/>
          </p:nvSpPr>
          <p:spPr bwMode="auto">
            <a:xfrm flipH="1">
              <a:off x="762000" y="4267200"/>
              <a:ext cx="4419600" cy="8382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0" name="Line 16"/>
            <p:cNvSpPr>
              <a:spLocks noChangeShapeType="1"/>
            </p:cNvSpPr>
            <p:nvPr/>
          </p:nvSpPr>
          <p:spPr bwMode="auto">
            <a:xfrm flipH="1" flipV="1">
              <a:off x="2362200" y="5867400"/>
              <a:ext cx="1143000" cy="3048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1" name="Line 17"/>
            <p:cNvSpPr>
              <a:spLocks noChangeShapeType="1"/>
            </p:cNvSpPr>
            <p:nvPr/>
          </p:nvSpPr>
          <p:spPr bwMode="auto">
            <a:xfrm flipH="1" flipV="1">
              <a:off x="3124200" y="5638800"/>
              <a:ext cx="381000" cy="3810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2" name="Line 18"/>
            <p:cNvSpPr>
              <a:spLocks noChangeShapeType="1"/>
            </p:cNvSpPr>
            <p:nvPr/>
          </p:nvSpPr>
          <p:spPr bwMode="auto">
            <a:xfrm>
              <a:off x="3505200" y="4267200"/>
              <a:ext cx="304800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</p:grpSp>
      <p:sp>
        <p:nvSpPr>
          <p:cNvPr id="20" name="Titel 1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/>
              <a:t>Access rights examples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31373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</a:p>
        </p:txBody>
      </p:sp>
      <p:sp>
        <p:nvSpPr>
          <p:cNvPr id="49155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467544" y="1440000"/>
            <a:ext cx="8424936" cy="4678362"/>
          </a:xfrm>
        </p:spPr>
        <p:txBody>
          <a:bodyPr/>
          <a:lstStyle/>
          <a:p>
            <a:r>
              <a:rPr lang="en-US" dirty="0"/>
              <a:t>Permissions allow you to share </a:t>
            </a:r>
            <a:r>
              <a:rPr lang="en-US" b="1" dirty="0"/>
              <a:t>files and directories </a:t>
            </a:r>
            <a:r>
              <a:rPr lang="en-US" dirty="0"/>
              <a:t>or to lock them down to be private.</a:t>
            </a:r>
          </a:p>
          <a:p>
            <a:r>
              <a:rPr lang="pl-PL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en-US" dirty="0"/>
              <a:t> (change mode)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&lt;permissions&gt; &lt;files&gt;</a:t>
            </a:r>
          </a:p>
          <a:p>
            <a:pPr marL="0" indent="0">
              <a:buNone/>
            </a:pP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/>
              <a:t>2 formats for </a:t>
            </a:r>
            <a:r>
              <a:rPr lang="nl-BE" dirty="0" err="1"/>
              <a:t>permissions</a:t>
            </a:r>
            <a:r>
              <a:rPr lang="nl-BE" dirty="0"/>
              <a:t>:</a:t>
            </a:r>
          </a:p>
          <a:p>
            <a:pPr lvl="1"/>
            <a:r>
              <a:rPr lang="nl-BE" b="1" dirty="0" err="1"/>
              <a:t>symbolic</a:t>
            </a:r>
            <a:r>
              <a:rPr lang="nl-BE" dirty="0"/>
              <a:t> format</a:t>
            </a:r>
          </a:p>
          <a:p>
            <a:pPr lvl="2"/>
            <a:r>
              <a:rPr lang="nl-BE" dirty="0"/>
              <a:t>More practical </a:t>
            </a:r>
            <a:r>
              <a:rPr lang="nl-BE" dirty="0" err="1"/>
              <a:t>for</a:t>
            </a:r>
            <a:r>
              <a:rPr lang="nl-BE" dirty="0"/>
              <a:t> </a:t>
            </a:r>
            <a:r>
              <a:rPr lang="nl-BE" b="1" dirty="0"/>
              <a:t>updating </a:t>
            </a:r>
            <a:r>
              <a:rPr lang="nl-BE" dirty="0" err="1"/>
              <a:t>permissions</a:t>
            </a:r>
            <a:r>
              <a:rPr lang="nl-BE" dirty="0"/>
              <a:t> (</a:t>
            </a:r>
            <a:r>
              <a:rPr lang="nl-BE" dirty="0" err="1"/>
              <a:t>add</a:t>
            </a:r>
            <a:r>
              <a:rPr lang="nl-BE" dirty="0"/>
              <a:t> or </a:t>
            </a:r>
            <a:r>
              <a:rPr lang="nl-BE" dirty="0" err="1"/>
              <a:t>remove</a:t>
            </a:r>
            <a:r>
              <a:rPr lang="nl-BE" dirty="0"/>
              <a:t>)</a:t>
            </a:r>
          </a:p>
          <a:p>
            <a:pPr lvl="1"/>
            <a:r>
              <a:rPr lang="nl-BE" b="1" dirty="0"/>
              <a:t>octal</a:t>
            </a:r>
            <a:r>
              <a:rPr lang="nl-BE" dirty="0"/>
              <a:t> format </a:t>
            </a:r>
            <a:r>
              <a:rPr lang="pl-PL" dirty="0"/>
              <a:t>(3 digit octal </a:t>
            </a:r>
            <a:r>
              <a:rPr lang="en-US" dirty="0"/>
              <a:t>[0-7] </a:t>
            </a:r>
            <a:r>
              <a:rPr lang="pl-PL" dirty="0"/>
              <a:t>form)</a:t>
            </a:r>
            <a:endParaRPr lang="en-US" dirty="0"/>
          </a:p>
          <a:p>
            <a:pPr lvl="2"/>
            <a:r>
              <a:rPr lang="nl-BE" dirty="0"/>
              <a:t>Best </a:t>
            </a:r>
            <a:r>
              <a:rPr lang="nl-BE" dirty="0" err="1"/>
              <a:t>used</a:t>
            </a:r>
            <a:r>
              <a:rPr lang="nl-BE" dirty="0"/>
              <a:t> </a:t>
            </a:r>
            <a:r>
              <a:rPr lang="nl-BE" dirty="0" err="1"/>
              <a:t>when</a:t>
            </a:r>
            <a:r>
              <a:rPr lang="nl-BE" dirty="0"/>
              <a:t> </a:t>
            </a:r>
            <a:r>
              <a:rPr lang="nl-BE" b="1" dirty="0"/>
              <a:t>setting </a:t>
            </a:r>
            <a:r>
              <a:rPr lang="nl-BE" dirty="0" err="1"/>
              <a:t>permissions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108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88AAD329-DF81-5A57-61E1-F8D3F16288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941430"/>
      </p:ext>
    </p:extLst>
  </p:cSld>
  <p:clrMapOvr>
    <a:masterClrMapping/>
  </p:clrMapOvr>
  <p:transition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7E047-2016-C220-FB63-2F9CD2A6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el 1">
            <a:extLst>
              <a:ext uri="{FF2B5EF4-FFF2-40B4-BE49-F238E27FC236}">
                <a16:creationId xmlns:a16="http://schemas.microsoft.com/office/drawing/2014/main" id="{6657FCD9-BB12-241F-E435-62B829DB773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</a:p>
        </p:txBody>
      </p:sp>
      <p:sp>
        <p:nvSpPr>
          <p:cNvPr id="49155" name="Tijdelijke aanduiding voor tekst 2">
            <a:extLst>
              <a:ext uri="{FF2B5EF4-FFF2-40B4-BE49-F238E27FC236}">
                <a16:creationId xmlns:a16="http://schemas.microsoft.com/office/drawing/2014/main" id="{20FEDD31-EB3C-045E-0931-D132046BDC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67544" y="1440000"/>
            <a:ext cx="8424936" cy="4678362"/>
          </a:xfrm>
        </p:spPr>
        <p:txBody>
          <a:bodyPr/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-l</a:t>
            </a:r>
            <a:r>
              <a:rPr lang="nl-BE" dirty="0"/>
              <a:t> shows </a:t>
            </a:r>
            <a:r>
              <a:rPr lang="nl-BE" dirty="0" err="1"/>
              <a:t>the</a:t>
            </a:r>
            <a:r>
              <a:rPr lang="nl-BE" dirty="0"/>
              <a:t> </a:t>
            </a:r>
            <a:r>
              <a:rPr lang="nl-BE" b="1" dirty="0" err="1"/>
              <a:t>symbolic</a:t>
            </a:r>
            <a:r>
              <a:rPr lang="nl-BE" dirty="0"/>
              <a:t> form of </a:t>
            </a:r>
            <a:r>
              <a:rPr lang="nl-BE" dirty="0" err="1"/>
              <a:t>the</a:t>
            </a:r>
            <a:r>
              <a:rPr lang="nl-BE" dirty="0"/>
              <a:t> file </a:t>
            </a:r>
            <a:r>
              <a:rPr lang="nl-BE" dirty="0" err="1"/>
              <a:t>permissions</a:t>
            </a:r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r>
              <a:rPr lang="nl-BE" dirty="0"/>
              <a:t>The </a:t>
            </a:r>
            <a:r>
              <a:rPr lang="nl-BE" dirty="0" err="1"/>
              <a:t>symbolic</a:t>
            </a:r>
            <a:r>
              <a:rPr lang="nl-BE" dirty="0"/>
              <a:t> form </a:t>
            </a:r>
            <a:r>
              <a:rPr lang="nl-BE" dirty="0" err="1"/>
              <a:t>translates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binary</a:t>
            </a:r>
            <a:r>
              <a:rPr lang="nl-BE" dirty="0"/>
              <a:t> </a:t>
            </a:r>
            <a:r>
              <a:rPr lang="nl-BE" dirty="0" err="1"/>
              <a:t>which</a:t>
            </a:r>
            <a:r>
              <a:rPr lang="nl-BE" dirty="0"/>
              <a:t> </a:t>
            </a:r>
            <a:r>
              <a:rPr lang="nl-BE" dirty="0" err="1"/>
              <a:t>corresponds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octal</a:t>
            </a:r>
            <a:r>
              <a:rPr lang="nl-BE" dirty="0"/>
              <a:t> form.</a:t>
            </a:r>
            <a:br>
              <a:rPr lang="nl-BE" dirty="0"/>
            </a:br>
            <a:endParaRPr lang="nl-B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8FC9DA-5260-A140-8B7E-67490139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109</a:t>
            </a:fld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5BC6C-F99E-658A-EE57-3F387491CD67}"/>
              </a:ext>
            </a:extLst>
          </p:cNvPr>
          <p:cNvSpPr txBox="1"/>
          <p:nvPr/>
        </p:nvSpPr>
        <p:spPr>
          <a:xfrm>
            <a:off x="503040" y="2224312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rwxr-xr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–-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sz="20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4096 Sep 25 09:00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myprog</a:t>
            </a:r>
            <a:b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|  |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|  |			     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symbolic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binary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octal</a:t>
            </a:r>
            <a:endParaRPr lang="nl-B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|  |  └──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r--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→  100  →  4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└───── </a:t>
            </a:r>
            <a:r>
              <a:rPr lang="nl-BE" sz="20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r-x  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→  101  →  5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└────────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→  111  →  7</a:t>
            </a:r>
            <a:endParaRPr lang="nl-B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CF4E7135-47B2-CC68-D3D7-A5C75D4C5B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04506"/>
      </p:ext>
    </p:extLst>
  </p:cSld>
  <p:clrMapOvr>
    <a:masterClrMapping/>
  </p:clrMapOvr>
  <p:transition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r>
              <a: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Read = 4	</a:t>
            </a:r>
            <a:r>
              <a:rPr lang="nl-BE" dirty="0"/>
              <a:t>Write = 2	</a:t>
            </a:r>
            <a:r>
              <a:rPr kumimoji="0" lang="nl-BE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Execute</a:t>
            </a:r>
            <a:r>
              <a: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=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rgbClr val="00407A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710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myprog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→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--x---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ugo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110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D402EF-30C8-FFA4-8356-341372C8E0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920160"/>
              </p:ext>
            </p:extLst>
          </p:nvPr>
        </p:nvGraphicFramePr>
        <p:xfrm>
          <a:off x="529744" y="1773558"/>
          <a:ext cx="6634544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878">
                  <a:extLst>
                    <a:ext uri="{9D8B030D-6E8A-4147-A177-3AD203B41FA5}">
                      <a16:colId xmlns:a16="http://schemas.microsoft.com/office/drawing/2014/main" val="1315677803"/>
                    </a:ext>
                  </a:extLst>
                </a:gridCol>
                <a:gridCol w="1406674">
                  <a:extLst>
                    <a:ext uri="{9D8B030D-6E8A-4147-A177-3AD203B41FA5}">
                      <a16:colId xmlns:a16="http://schemas.microsoft.com/office/drawing/2014/main" val="3732167153"/>
                    </a:ext>
                  </a:extLst>
                </a:gridCol>
                <a:gridCol w="1036496">
                  <a:extLst>
                    <a:ext uri="{9D8B030D-6E8A-4147-A177-3AD203B41FA5}">
                      <a16:colId xmlns:a16="http://schemas.microsoft.com/office/drawing/2014/main" val="877666238"/>
                    </a:ext>
                  </a:extLst>
                </a:gridCol>
                <a:gridCol w="1036496">
                  <a:extLst>
                    <a:ext uri="{9D8B030D-6E8A-4147-A177-3AD203B41FA5}">
                      <a16:colId xmlns:a16="http://schemas.microsoft.com/office/drawing/2014/main" val="11816543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Permissions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Symbolic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Binary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Octal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93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None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000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378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001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074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-w-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010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2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016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Execute and 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011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016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r--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100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10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and 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r-x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101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3353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and 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rw</a:t>
                      </a:r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110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6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282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write and 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rwx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111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7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576646"/>
                  </a:ext>
                </a:extLst>
              </a:tr>
            </a:tbl>
          </a:graphicData>
        </a:graphic>
      </p:graphicFrame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1E6CD2A-DFD2-1840-B861-FB9469F0C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2203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1349999"/>
            <a:ext cx="8478464" cy="4428000"/>
          </a:xfrm>
        </p:spPr>
        <p:txBody>
          <a:bodyPr/>
          <a:lstStyle/>
          <a:p>
            <a:r>
              <a:rPr lang="nl-BE" dirty="0" err="1"/>
              <a:t>symbolic</a:t>
            </a:r>
            <a:r>
              <a:rPr lang="nl-BE" dirty="0"/>
              <a:t> format: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go+r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/>
              <a:t>add</a:t>
            </a:r>
            <a:r>
              <a:rPr lang="nl-BE" dirty="0"/>
              <a:t> read permissions to group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others</a:t>
            </a:r>
            <a:r>
              <a:rPr lang="nl-BE" dirty="0"/>
              <a:t>.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u-w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/>
              <a:t>remove</a:t>
            </a:r>
            <a:r>
              <a:rPr lang="nl-BE" dirty="0"/>
              <a:t> write permissions from user.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a-x	</a:t>
            </a:r>
            <a:r>
              <a:rPr lang="nl-BE" dirty="0" err="1"/>
              <a:t>remove</a:t>
            </a:r>
            <a:r>
              <a:rPr lang="nl-BE" dirty="0"/>
              <a:t> execute permission </a:t>
            </a:r>
            <a:r>
              <a:rPr lang="nl-BE" dirty="0" err="1"/>
              <a:t>from</a:t>
            </a:r>
            <a:r>
              <a:rPr lang="nl-BE" dirty="0"/>
              <a:t> </a:t>
            </a:r>
            <a:r>
              <a:rPr lang="nl-BE" dirty="0" err="1"/>
              <a:t>all</a:t>
            </a:r>
            <a:r>
              <a:rPr lang="nl-BE" dirty="0"/>
              <a:t> (a).</a:t>
            </a:r>
          </a:p>
          <a:p>
            <a:pPr marL="0" indent="0">
              <a:buNone/>
            </a:pPr>
            <a:endParaRPr lang="nl-BE" dirty="0">
              <a:latin typeface="+mn-lt"/>
              <a:cs typeface="Courier New" pitchFamily="49" charset="0"/>
            </a:endParaRPr>
          </a:p>
          <a:p>
            <a:r>
              <a:rPr lang="nl-BE" dirty="0" err="1">
                <a:latin typeface="+mn-lt"/>
                <a:cs typeface="Courier New" pitchFamily="49" charset="0"/>
              </a:rPr>
              <a:t>Example</a:t>
            </a:r>
            <a:r>
              <a:rPr lang="nl-BE" dirty="0">
                <a:latin typeface="+mn-lt"/>
                <a:cs typeface="Courier New" pitchFamily="49" charset="0"/>
              </a:rPr>
              <a:t>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o+x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myprog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 err="1">
                <a:latin typeface="Courier New" pitchFamily="49" charset="0"/>
                <a:cs typeface="Courier New" pitchFamily="49" charset="0"/>
              </a:rPr>
              <a:t>rwx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--x--- →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rwx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--x--x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111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6048B319-A969-07F6-1A30-61CCF8A2F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960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Access right constraints</a:t>
            </a:r>
          </a:p>
        </p:txBody>
      </p:sp>
      <p:sp>
        <p:nvSpPr>
          <p:cNvPr id="47107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 is sufficient to execute binaries</a:t>
            </a:r>
            <a:br>
              <a:rPr lang="en-US" dirty="0"/>
            </a:br>
            <a:r>
              <a:rPr lang="en-US" dirty="0"/>
              <a:t>Both x and r and required for shell scripts.</a:t>
            </a:r>
          </a:p>
          <a:p>
            <a:r>
              <a:rPr lang="en-US" dirty="0"/>
              <a:t>Both r and x permissions needed in practice for directories:</a:t>
            </a:r>
            <a:br>
              <a:rPr lang="en-US" dirty="0"/>
            </a:br>
            <a:r>
              <a:rPr lang="en-US" dirty="0"/>
              <a:t>r to list the contents, x to access the contents.</a:t>
            </a:r>
          </a:p>
          <a:p>
            <a:r>
              <a:rPr lang="en-US" dirty="0"/>
              <a:t>You can't rename, remove, copy files in a directory if you don't have w access to this directory.</a:t>
            </a:r>
          </a:p>
          <a:p>
            <a:r>
              <a:rPr lang="en-US" dirty="0"/>
              <a:t>If you have w access to a directory, you can remove a file even if you don't have write access to this file (remember that a directory is just a file describing a list of files). This even lets you modify (remove + recreate) a file even without w access to it.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542318"/>
      </p:ext>
    </p:extLst>
  </p:cSld>
  <p:clrMapOvr>
    <a:masterClrMapping/>
  </p:clrMapOvr>
  <p:transition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sz="4400" kern="1200" dirty="0">
                <a:latin typeface="Arial" pitchFamily="34" charset="0"/>
                <a:cs typeface="Arial" pitchFamily="34" charset="0"/>
              </a:rPr>
              <a:t>Process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28447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BE" dirty="0"/>
              <a:t>time a helpful command for doing simple benchmarking</a:t>
            </a:r>
          </a:p>
          <a:p>
            <a:pPr lvl="0"/>
            <a:r>
              <a:rPr lang="en-US" dirty="0"/>
              <a:t>run your scripts along with the </a:t>
            </a:r>
            <a:r>
              <a:rPr lang="en-US" b="1" dirty="0"/>
              <a:t>time</a:t>
            </a:r>
            <a:r>
              <a:rPr lang="en-US" dirty="0"/>
              <a:t> command and compare </a:t>
            </a:r>
            <a:r>
              <a:rPr lang="en-US" dirty="0" err="1"/>
              <a:t>their’s</a:t>
            </a:r>
            <a:r>
              <a:rPr lang="en-US" dirty="0"/>
              <a:t> execution time.</a:t>
            </a:r>
            <a:endParaRPr lang="nl-BE" dirty="0"/>
          </a:p>
          <a:p>
            <a:pPr lvl="0"/>
            <a:r>
              <a:rPr lang="nl-BE" dirty="0"/>
              <a:t>Example: 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time ls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   0m0.064s </a:t>
            </a:r>
            <a:r>
              <a:rPr lang="en-US" dirty="0"/>
              <a:t>(actual elapsed time)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user    0m0.006s </a:t>
            </a:r>
            <a:r>
              <a:rPr lang="en-US" dirty="0"/>
              <a:t>(CPU time running program code)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sys     0m0.048s </a:t>
            </a:r>
            <a:r>
              <a:rPr lang="en-US" dirty="0"/>
              <a:t>(CPU time running system calls)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real = user + sys + waiting</a:t>
            </a:r>
            <a:br>
              <a:rPr lang="en-US" dirty="0"/>
            </a:br>
            <a:r>
              <a:rPr lang="en-US" dirty="0" err="1"/>
              <a:t>waiting</a:t>
            </a:r>
            <a:r>
              <a:rPr lang="en-US" dirty="0"/>
              <a:t> = I/O waiting time + idle time (running other tasks)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73382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Process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540000" y="2924943"/>
            <a:ext cx="8334000" cy="28530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Processes</a:t>
            </a:r>
          </a:p>
          <a:p>
            <a:r>
              <a:rPr lang="en-US" dirty="0"/>
              <a:t>Instances of a running programs</a:t>
            </a:r>
          </a:p>
          <a:p>
            <a:r>
              <a:rPr lang="en-US" dirty="0"/>
              <a:t>Several instances of the same program can run at the same time</a:t>
            </a:r>
          </a:p>
          <a:p>
            <a:r>
              <a:rPr lang="en-US" dirty="0"/>
              <a:t>Processes are assigned a unique identifier which is used to monitor and control the process (PID)</a:t>
            </a:r>
            <a:br>
              <a:rPr lang="en-US" dirty="0"/>
            </a:b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115</a:t>
            </a:fld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EAA37-0E9B-6C4A-48FD-E7D617E774F5}"/>
              </a:ext>
            </a:extLst>
          </p:cNvPr>
          <p:cNvSpPr/>
          <p:nvPr/>
        </p:nvSpPr>
        <p:spPr>
          <a:xfrm>
            <a:off x="827584" y="1226320"/>
            <a:ext cx="8096422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“Everything in Unix is a file. </a:t>
            </a:r>
            <a:b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Everything in Unix that is not a file is a process”</a:t>
            </a:r>
          </a:p>
        </p:txBody>
      </p:sp>
    </p:spTree>
    <p:extLst>
      <p:ext uri="{BB962C8B-B14F-4D97-AF65-F5344CB8AC3E}">
        <p14:creationId xmlns:p14="http://schemas.microsoft.com/office/powerpoint/2010/main" val="188898443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Process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program that is claimed to be executing is called a process</a:t>
            </a:r>
          </a:p>
          <a:p>
            <a:r>
              <a:rPr lang="en-US" dirty="0"/>
              <a:t>For a multitasking system, a process has at least the following three states: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116</a:t>
            </a:fld>
            <a:endParaRPr lang="nl-NL"/>
          </a:p>
        </p:txBody>
      </p:sp>
      <p:grpSp>
        <p:nvGrpSpPr>
          <p:cNvPr id="6" name="Groep 5"/>
          <p:cNvGrpSpPr/>
          <p:nvPr/>
        </p:nvGrpSpPr>
        <p:grpSpPr>
          <a:xfrm>
            <a:off x="182562" y="3429000"/>
            <a:ext cx="9342438" cy="2514600"/>
            <a:chOff x="182562" y="3886200"/>
            <a:chExt cx="9342438" cy="2514600"/>
          </a:xfrm>
        </p:grpSpPr>
        <p:sp>
          <p:nvSpPr>
            <p:cNvPr id="7" name="Oval 8"/>
            <p:cNvSpPr>
              <a:spLocks noChangeArrowheads="1"/>
            </p:cNvSpPr>
            <p:nvPr/>
          </p:nvSpPr>
          <p:spPr bwMode="auto">
            <a:xfrm>
              <a:off x="2362200" y="38862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Ready</a:t>
              </a:r>
            </a:p>
          </p:txBody>
        </p:sp>
        <p:sp>
          <p:nvSpPr>
            <p:cNvPr id="8" name="Oval 10"/>
            <p:cNvSpPr>
              <a:spLocks noChangeArrowheads="1"/>
            </p:cNvSpPr>
            <p:nvPr/>
          </p:nvSpPr>
          <p:spPr bwMode="auto">
            <a:xfrm>
              <a:off x="5181600" y="38862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Running</a:t>
              </a:r>
            </a:p>
          </p:txBody>
        </p: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3886200" y="53340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Sleeping</a:t>
              </a:r>
            </a:p>
          </p:txBody>
        </p:sp>
        <p:sp>
          <p:nvSpPr>
            <p:cNvPr id="10" name="Line 12"/>
            <p:cNvSpPr>
              <a:spLocks noChangeShapeType="1"/>
            </p:cNvSpPr>
            <p:nvPr/>
          </p:nvSpPr>
          <p:spPr bwMode="auto">
            <a:xfrm>
              <a:off x="1295400" y="44196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4114800" y="44196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2" name="Line 14"/>
            <p:cNvSpPr>
              <a:spLocks noChangeShapeType="1"/>
            </p:cNvSpPr>
            <p:nvPr/>
          </p:nvSpPr>
          <p:spPr bwMode="auto">
            <a:xfrm>
              <a:off x="6934200" y="44958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3" name="Line 16"/>
            <p:cNvSpPr>
              <a:spLocks noChangeShapeType="1"/>
            </p:cNvSpPr>
            <p:nvPr/>
          </p:nvSpPr>
          <p:spPr bwMode="auto">
            <a:xfrm flipH="1" flipV="1">
              <a:off x="3733800" y="4876800"/>
              <a:ext cx="4572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4" name="Line 17"/>
            <p:cNvSpPr>
              <a:spLocks noChangeShapeType="1"/>
            </p:cNvSpPr>
            <p:nvPr/>
          </p:nvSpPr>
          <p:spPr bwMode="auto">
            <a:xfrm flipH="1">
              <a:off x="4038600" y="4267200"/>
              <a:ext cx="1143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5" name="Line 18"/>
            <p:cNvSpPr>
              <a:spLocks noChangeShapeType="1"/>
            </p:cNvSpPr>
            <p:nvPr/>
          </p:nvSpPr>
          <p:spPr bwMode="auto">
            <a:xfrm flipH="1">
              <a:off x="5334000" y="5029200"/>
              <a:ext cx="685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6" name="Text Box 19"/>
            <p:cNvSpPr txBox="1">
              <a:spLocks noChangeArrowheads="1"/>
            </p:cNvSpPr>
            <p:nvPr/>
          </p:nvSpPr>
          <p:spPr bwMode="auto">
            <a:xfrm>
              <a:off x="182562" y="3938016"/>
              <a:ext cx="1463675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Start execution</a:t>
              </a:r>
            </a:p>
          </p:txBody>
        </p:sp>
        <p:sp>
          <p:nvSpPr>
            <p:cNvPr id="17" name="Text Box 20"/>
            <p:cNvSpPr txBox="1">
              <a:spLocks noChangeArrowheads="1"/>
            </p:cNvSpPr>
            <p:nvPr/>
          </p:nvSpPr>
          <p:spPr bwMode="auto">
            <a:xfrm>
              <a:off x="8001000" y="4024313"/>
              <a:ext cx="15240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Finish execution</a:t>
              </a:r>
            </a:p>
          </p:txBody>
        </p:sp>
      </p:grpSp>
      <p:pic>
        <p:nvPicPr>
          <p:cNvPr id="18" name="Graphic 17" descr="Key with solid fill">
            <a:extLst>
              <a:ext uri="{FF2B5EF4-FFF2-40B4-BE49-F238E27FC236}">
                <a16:creationId xmlns:a16="http://schemas.microsoft.com/office/drawing/2014/main" id="{3EF7AE46-0F29-AC22-AF55-B16BCE811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50564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Process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Ready state</a:t>
            </a:r>
          </a:p>
          <a:p>
            <a:pPr lvl="1"/>
            <a:r>
              <a:rPr lang="en-US" sz="2200" dirty="0"/>
              <a:t>All processes that are ready to execute but without the CPU are at the ready state.</a:t>
            </a:r>
          </a:p>
          <a:p>
            <a:r>
              <a:rPr lang="en-US" sz="2200" dirty="0"/>
              <a:t>Running state</a:t>
            </a:r>
          </a:p>
          <a:p>
            <a:pPr lvl="1"/>
            <a:r>
              <a:rPr lang="en-US" sz="2200" dirty="0"/>
              <a:t>The process that actually possesses the CPU is at the running state</a:t>
            </a:r>
          </a:p>
          <a:p>
            <a:pPr lvl="1"/>
            <a:r>
              <a:rPr lang="en-US" sz="2200" dirty="0"/>
              <a:t>If there is only 1 CPU in the system, at most there is only one process is at the running state</a:t>
            </a:r>
          </a:p>
          <a:p>
            <a:r>
              <a:rPr lang="en-US" sz="2200" dirty="0"/>
              <a:t>Sleeping </a:t>
            </a:r>
            <a:r>
              <a:rPr lang="en-US" sz="2200" dirty="0" err="1"/>
              <a:t>stateThe</a:t>
            </a:r>
            <a:r>
              <a:rPr lang="en-US" sz="2200" dirty="0"/>
              <a:t> process that is waiting for other resources, e.g. I/O, is at the sleeping state</a:t>
            </a:r>
          </a:p>
          <a:p>
            <a:endParaRPr lang="en-US" sz="2200" dirty="0"/>
          </a:p>
          <a:p>
            <a:endParaRPr lang="nl-BE" sz="22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208034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Display running processes  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cfr</a:t>
            </a:r>
            <a:r>
              <a:rPr lang="en-US" dirty="0"/>
              <a:t>. Windows Task Manager ctrl-shift-esc)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	Display the current user's processes 	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-e 	</a:t>
            </a:r>
            <a:r>
              <a:rPr lang="en-US" dirty="0"/>
              <a:t>Display all processes running on the system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ef</a:t>
            </a:r>
            <a:r>
              <a:rPr lang="en-US" dirty="0"/>
              <a:t> 	Display detailed information about running processes 	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-u [USER] </a:t>
            </a:r>
            <a:r>
              <a:rPr lang="en-US" dirty="0"/>
              <a:t>	Display processes owned by the specified user </a:t>
            </a:r>
            <a:endParaRPr lang="pl-PL" dirty="0"/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	Display </a:t>
            </a:r>
            <a:r>
              <a:rPr lang="pl-PL" dirty="0"/>
              <a:t>extra info (</a:t>
            </a:r>
            <a:r>
              <a:rPr lang="pl-PL" dirty="0" err="1"/>
              <a:t>running</a:t>
            </a:r>
            <a:r>
              <a:rPr lang="pl-PL" dirty="0"/>
              <a:t> </a:t>
            </a:r>
            <a:r>
              <a:rPr lang="pl-PL" dirty="0" err="1"/>
              <a:t>state</a:t>
            </a:r>
            <a:r>
              <a:rPr lang="pl-PL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555076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Process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40024" y="4509120"/>
            <a:ext cx="8334000" cy="1331038"/>
          </a:xfrm>
        </p:spPr>
        <p:txBody>
          <a:bodyPr/>
          <a:lstStyle/>
          <a:p>
            <a:r>
              <a:rPr lang="en-US" sz="1800" dirty="0"/>
              <a:t>For the example above, both bash processes, which are the shell of both terminals, are waiting for the input of user. They must be in the sleeping state</a:t>
            </a:r>
          </a:p>
          <a:p>
            <a:r>
              <a:rPr lang="en-US" sz="1800" dirty="0"/>
              <a:t>The vi process, which is an editor, is also waiting for the input of user. Hence it is also in sleeping state</a:t>
            </a:r>
          </a:p>
          <a:p>
            <a:r>
              <a:rPr lang="en-US" sz="1800" dirty="0"/>
              <a:t>When </a:t>
            </a:r>
            <a:r>
              <a:rPr lang="en-US" sz="1800" dirty="0" err="1"/>
              <a:t>ps</a:t>
            </a:r>
            <a:r>
              <a:rPr lang="en-US" sz="1800" dirty="0"/>
              <a:t> reporting the processes in the system, it is the only process that is running. Hence it is in running state </a:t>
            </a:r>
            <a:endParaRPr lang="nl-BE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119</a:t>
            </a:fld>
            <a:endParaRPr lang="nl-NL"/>
          </a:p>
        </p:txBody>
      </p:sp>
      <p:grpSp>
        <p:nvGrpSpPr>
          <p:cNvPr id="17" name="Groep 16"/>
          <p:cNvGrpSpPr/>
          <p:nvPr/>
        </p:nvGrpSpPr>
        <p:grpSpPr>
          <a:xfrm>
            <a:off x="504949" y="1005327"/>
            <a:ext cx="7451427" cy="3719817"/>
            <a:chOff x="504949" y="1005327"/>
            <a:chExt cx="7451427" cy="3719817"/>
          </a:xfrm>
        </p:grpSpPr>
        <p:sp>
          <p:nvSpPr>
            <p:cNvPr id="7" name="Text Box 7"/>
            <p:cNvSpPr txBox="1">
              <a:spLocks noChangeArrowheads="1"/>
            </p:cNvSpPr>
            <p:nvPr/>
          </p:nvSpPr>
          <p:spPr bwMode="auto">
            <a:xfrm>
              <a:off x="1663824" y="1005327"/>
              <a:ext cx="5878532" cy="16312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marL="4572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9144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3716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8288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2860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7432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32004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6576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41148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r>
                <a:rPr lang="zh-TW" altLang="en-US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 </a:t>
              </a: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PID  TTY    STAT  TIME COMMAND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14748  pts/1  S     0:00 –bash</a:t>
              </a:r>
            </a:p>
            <a:p>
              <a:pPr>
                <a:buFontTx/>
                <a:buAutoNum type="arabicPlain" startAt="14795"/>
              </a:pP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 pts/0  S     0:00 –bash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14974  pts/0  S     0:00 vi test1.txt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14876  pts/1  R     0:00 </a:t>
              </a:r>
              <a:r>
                <a:rPr lang="en-US" altLang="zh-TW" sz="2000" b="1" dirty="0" err="1">
                  <a:latin typeface="Courier New" panose="02070309020205020404" pitchFamily="49" charset="0"/>
                  <a:ea typeface="新細明體" panose="02020500000000000000" pitchFamily="18" charset="-120"/>
                </a:rPr>
                <a:t>ps</a:t>
              </a: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…</a:t>
              </a:r>
            </a:p>
          </p:txBody>
        </p:sp>
        <p:grpSp>
          <p:nvGrpSpPr>
            <p:cNvPr id="16" name="Groep 15"/>
            <p:cNvGrpSpPr/>
            <p:nvPr/>
          </p:nvGrpSpPr>
          <p:grpSpPr>
            <a:xfrm>
              <a:off x="504949" y="2550286"/>
              <a:ext cx="7451427" cy="2174858"/>
              <a:chOff x="504949" y="2636911"/>
              <a:chExt cx="7451427" cy="2174858"/>
            </a:xfrm>
          </p:grpSpPr>
          <p:sp>
            <p:nvSpPr>
              <p:cNvPr id="8" name="Line 8"/>
              <p:cNvSpPr>
                <a:spLocks noChangeShapeType="1"/>
              </p:cNvSpPr>
              <p:nvPr/>
            </p:nvSpPr>
            <p:spPr bwMode="auto">
              <a:xfrm flipV="1">
                <a:off x="1454944" y="2713112"/>
                <a:ext cx="437480" cy="90612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504949" y="3515625"/>
                <a:ext cx="1514475" cy="4572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Process ID</a:t>
                </a:r>
              </a:p>
            </p:txBody>
          </p:sp>
          <p:sp>
            <p:nvSpPr>
              <p:cNvPr id="10" name="Line 10"/>
              <p:cNvSpPr>
                <a:spLocks noChangeShapeType="1"/>
              </p:cNvSpPr>
              <p:nvPr/>
            </p:nvSpPr>
            <p:spPr bwMode="auto">
              <a:xfrm flipV="1">
                <a:off x="2641552" y="2713112"/>
                <a:ext cx="393872" cy="90612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1" name="Text Box 11"/>
              <p:cNvSpPr txBox="1">
                <a:spLocks noChangeArrowheads="1"/>
              </p:cNvSpPr>
              <p:nvPr/>
            </p:nvSpPr>
            <p:spPr bwMode="auto">
              <a:xfrm>
                <a:off x="1979712" y="3515625"/>
                <a:ext cx="1524000" cy="8223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Terminal name</a:t>
                </a:r>
              </a:p>
            </p:txBody>
          </p:sp>
          <p:sp>
            <p:nvSpPr>
              <p:cNvPr id="12" name="Text Box 12"/>
              <p:cNvSpPr txBox="1">
                <a:spLocks noChangeArrowheads="1"/>
              </p:cNvSpPr>
              <p:nvPr/>
            </p:nvSpPr>
            <p:spPr bwMode="auto">
              <a:xfrm>
                <a:off x="3491880" y="3259194"/>
                <a:ext cx="3048000" cy="15525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State: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S – Sleeping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      (waiting for input)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R – Running </a:t>
                </a:r>
              </a:p>
            </p:txBody>
          </p:sp>
          <p:sp>
            <p:nvSpPr>
              <p:cNvPr id="13" name="Line 13"/>
              <p:cNvSpPr>
                <a:spLocks noChangeShapeType="1"/>
              </p:cNvSpPr>
              <p:nvPr/>
            </p:nvSpPr>
            <p:spPr bwMode="auto">
              <a:xfrm flipH="1" flipV="1">
                <a:off x="3975224" y="2636911"/>
                <a:ext cx="0" cy="662689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4" name="Text Box 14"/>
              <p:cNvSpPr txBox="1">
                <a:spLocks noChangeArrowheads="1"/>
              </p:cNvSpPr>
              <p:nvPr/>
            </p:nvSpPr>
            <p:spPr bwMode="auto">
              <a:xfrm>
                <a:off x="4908376" y="2941712"/>
                <a:ext cx="3048000" cy="11874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How much time the process is continuously executing </a:t>
                </a:r>
              </a:p>
            </p:txBody>
          </p:sp>
          <p:sp>
            <p:nvSpPr>
              <p:cNvPr id="15" name="Line 15"/>
              <p:cNvSpPr>
                <a:spLocks noChangeShapeType="1"/>
              </p:cNvSpPr>
              <p:nvPr/>
            </p:nvSpPr>
            <p:spPr bwMode="auto">
              <a:xfrm flipH="1" flipV="1">
                <a:off x="5359896" y="2636912"/>
                <a:ext cx="76200" cy="38100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8954120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kill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Sends an abort signal to the given processes. </a:t>
            </a:r>
            <a:br>
              <a:rPr lang="en-US" dirty="0"/>
            </a:br>
            <a:r>
              <a:rPr lang="en-US" dirty="0"/>
              <a:t>Lets processes save data and exit by themselves. </a:t>
            </a:r>
            <a:br>
              <a:rPr lang="en-US" dirty="0"/>
            </a:br>
            <a:r>
              <a:rPr lang="en-US" dirty="0"/>
              <a:t>Should be used first.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br>
              <a:rPr lang="en-US" dirty="0"/>
            </a:br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3039 3134 3190 3416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-9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br>
              <a:rPr lang="en-US" dirty="0"/>
            </a:br>
            <a:r>
              <a:rPr lang="en-US" dirty="0"/>
              <a:t>Sends an immediate termination signal. The system itself terminates the processes. Useful when a process is really stuck.</a:t>
            </a:r>
            <a:br>
              <a:rPr lang="en-US" dirty="0"/>
            </a:b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120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54E0CC86-1B71-5220-AFEB-51B126AC06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2873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killall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killall</a:t>
            </a:r>
            <a:r>
              <a:rPr lang="en-US" b="1" dirty="0"/>
              <a:t> </a:t>
            </a:r>
            <a:r>
              <a:rPr lang="en-US" dirty="0"/>
              <a:t>command terminates all processes that match the specified name 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killall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[-&lt;signal&gt;] &lt;command&gt;</a:t>
            </a:r>
            <a:br>
              <a:rPr lang="en-US" dirty="0"/>
            </a:br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killall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bash</a:t>
            </a:r>
            <a:br>
              <a:rPr lang="en-US" dirty="0"/>
            </a:b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179991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xkill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xkill</a:t>
            </a:r>
            <a:br>
              <a:rPr lang="en-US" dirty="0"/>
            </a:br>
            <a:r>
              <a:rPr lang="en-US" dirty="0"/>
              <a:t>Lets you kill a graphical application by clicking on it!</a:t>
            </a:r>
            <a:br>
              <a:rPr lang="en-US" dirty="0"/>
            </a:br>
            <a:r>
              <a:rPr lang="en-US" dirty="0"/>
              <a:t>Very quick! Convenient when you don't know the application command name.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450459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&amp;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b="1" dirty="0"/>
              <a:t> </a:t>
            </a:r>
            <a:r>
              <a:rPr lang="en-US" dirty="0"/>
              <a:t>is a command line operator that instructs the shell to start the specified program in the background.</a:t>
            </a:r>
          </a:p>
          <a:p>
            <a:pPr lvl="0"/>
            <a:r>
              <a:rPr lang="en-US" dirty="0"/>
              <a:t>This allows you to have more than one program running at the same time without having to start multiple terminal sessions.  </a:t>
            </a:r>
          </a:p>
          <a:p>
            <a:pPr lvl="0"/>
            <a:r>
              <a:rPr lang="en-US" dirty="0"/>
              <a:t>Starting a process in background: add &amp; at the end of your line:</a:t>
            </a:r>
            <a:br>
              <a:rPr lang="en-US" dirty="0"/>
            </a:b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gedit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&amp;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/>
              <a:t>check 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br>
              <a:rPr lang="en-US" dirty="0"/>
            </a:b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356146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Displays most important processes, sorted by </a:t>
            </a:r>
            <a:r>
              <a:rPr lang="nl-BE" dirty="0" err="1"/>
              <a:t>cpu</a:t>
            </a:r>
            <a:r>
              <a:rPr lang="nl-BE" dirty="0"/>
              <a:t> percentage</a:t>
            </a:r>
            <a:r>
              <a:rPr lang="pl-PL" dirty="0"/>
              <a:t> (</a:t>
            </a:r>
            <a:r>
              <a:rPr lang="pl-PL" dirty="0" err="1"/>
              <a:t>use</a:t>
            </a:r>
            <a:r>
              <a:rPr lang="pl-PL" dirty="0"/>
              <a:t> &gt; </a:t>
            </a:r>
            <a:r>
              <a:rPr lang="pl-PL" dirty="0" err="1"/>
              <a:t>or</a:t>
            </a:r>
            <a:r>
              <a:rPr lang="pl-PL" dirty="0"/>
              <a:t> &lt; to </a:t>
            </a:r>
            <a:r>
              <a:rPr lang="pl-PL" dirty="0" err="1"/>
              <a:t>change</a:t>
            </a:r>
            <a:r>
              <a:rPr lang="pl-PL" dirty="0"/>
              <a:t> the order)</a:t>
            </a:r>
            <a:endParaRPr lang="nl-BE" dirty="0"/>
          </a:p>
          <a:p>
            <a:pPr marL="360000" lvl="1" indent="0">
              <a:buNone/>
            </a:pPr>
            <a:r>
              <a:rPr lang="nl-BE" sz="1400" dirty="0">
                <a:hlinkClick r:id="rId2"/>
              </a:rPr>
              <a:t>http://www.thegeekstuff.com/2010/01/15-practical-unix-linux-top-command-examples/</a:t>
            </a:r>
            <a:endParaRPr lang="nl-BE" sz="1400" dirty="0"/>
          </a:p>
          <a:p>
            <a:pPr marL="0" indent="0">
              <a:buNone/>
            </a:pPr>
            <a:br>
              <a:rPr lang="nl-BE" dirty="0"/>
            </a:br>
            <a:endParaRPr lang="nl-B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2492896"/>
            <a:ext cx="5029200" cy="39624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124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7607078A-3A47-EC77-8CFD-E8E618A6BB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879362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List of </a:t>
            </a:r>
            <a:r>
              <a:rPr lang="pl-PL" dirty="0" err="1"/>
              <a:t>basic</a:t>
            </a:r>
            <a:r>
              <a:rPr lang="pl-PL"/>
              <a:t> 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files and directories:</a:t>
            </a:r>
          </a:p>
          <a:p>
            <a:pPr marL="360000" lvl="1" indent="0">
              <a:buNone/>
            </a:pPr>
            <a:r>
              <a:rPr lang="pl-PL" dirty="0">
                <a:latin typeface="Courier"/>
              </a:rPr>
              <a:t>c</a:t>
            </a:r>
            <a:r>
              <a:rPr lang="en-US" dirty="0">
                <a:latin typeface="Courier"/>
              </a:rPr>
              <a:t>p</a:t>
            </a:r>
            <a:r>
              <a:rPr lang="pl-PL" dirty="0">
                <a:latin typeface="Courier"/>
              </a:rPr>
              <a:t>, </a:t>
            </a:r>
            <a:r>
              <a:rPr lang="en-US" dirty="0">
                <a:latin typeface="Courier"/>
              </a:rPr>
              <a:t>mv,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rm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mkdir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rmdir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>
                <a:latin typeface="Courier"/>
              </a:rPr>
              <a:t>touch</a:t>
            </a:r>
          </a:p>
          <a:p>
            <a:r>
              <a:rPr lang="en-US" dirty="0"/>
              <a:t>Displaying content of files</a:t>
            </a:r>
          </a:p>
          <a:p>
            <a:pPr marL="360000" lvl="1" indent="0">
              <a:buNone/>
            </a:pPr>
            <a:r>
              <a:rPr lang="en-US" dirty="0">
                <a:latin typeface="Courier"/>
              </a:rPr>
              <a:t>cat, more, less, head, tail</a:t>
            </a:r>
          </a:p>
          <a:p>
            <a:r>
              <a:rPr lang="en-US" dirty="0"/>
              <a:t>Moving around</a:t>
            </a:r>
          </a:p>
          <a:p>
            <a:pPr marL="360000" lvl="1" indent="0">
              <a:buNone/>
            </a:pPr>
            <a:r>
              <a:rPr lang="pl-PL" dirty="0">
                <a:latin typeface="Courier"/>
              </a:rPr>
              <a:t>p</a:t>
            </a:r>
            <a:r>
              <a:rPr lang="en-US" dirty="0" err="1">
                <a:latin typeface="Courier"/>
              </a:rPr>
              <a:t>wd</a:t>
            </a:r>
            <a:r>
              <a:rPr lang="pl-PL" dirty="0">
                <a:latin typeface="Courier"/>
              </a:rPr>
              <a:t>, </a:t>
            </a:r>
            <a:r>
              <a:rPr lang="en-US" dirty="0">
                <a:latin typeface="Courier"/>
              </a:rPr>
              <a:t>cd</a:t>
            </a:r>
            <a:r>
              <a:rPr lang="pl-PL" dirty="0">
                <a:latin typeface="Courier"/>
              </a:rPr>
              <a:t>, </a:t>
            </a:r>
            <a:r>
              <a:rPr lang="pl-PL" dirty="0" err="1">
                <a:latin typeface="Courier"/>
              </a:rPr>
              <a:t>ls</a:t>
            </a:r>
            <a:endParaRPr lang="pl-PL" dirty="0"/>
          </a:p>
          <a:p>
            <a:r>
              <a:rPr lang="pl-PL" dirty="0" err="1"/>
              <a:t>Asking</a:t>
            </a:r>
            <a:r>
              <a:rPr lang="pl-PL" dirty="0"/>
              <a:t> for </a:t>
            </a:r>
            <a:r>
              <a:rPr lang="pl-PL" dirty="0" err="1"/>
              <a:t>help</a:t>
            </a:r>
            <a:endParaRPr lang="pl-PL" dirty="0"/>
          </a:p>
          <a:p>
            <a:pPr marL="360000" lvl="1" indent="0">
              <a:buNone/>
            </a:pPr>
            <a:r>
              <a:rPr lang="pl-PL" dirty="0" err="1">
                <a:latin typeface="Courier"/>
              </a:rPr>
              <a:t>help</a:t>
            </a:r>
            <a:r>
              <a:rPr lang="pl-PL" dirty="0">
                <a:latin typeface="Courier"/>
              </a:rPr>
              <a:t>, </a:t>
            </a:r>
            <a:r>
              <a:rPr lang="pl-PL" dirty="0" err="1">
                <a:latin typeface="Courier"/>
              </a:rPr>
              <a:t>man</a:t>
            </a:r>
            <a:r>
              <a:rPr lang="pl-PL" dirty="0">
                <a:latin typeface="Courier"/>
              </a:rPr>
              <a:t>, info, </a:t>
            </a:r>
            <a:r>
              <a:rPr lang="pl-PL" dirty="0" err="1">
                <a:latin typeface="Courier"/>
              </a:rPr>
              <a:t>whatis</a:t>
            </a:r>
            <a:endParaRPr lang="pl-PL" dirty="0">
              <a:latin typeface="Courier"/>
            </a:endParaRPr>
          </a:p>
          <a:p>
            <a:pPr marL="360000" lvl="1" indent="0">
              <a:buNone/>
            </a:pPr>
            <a:endParaRPr lang="pl-PL" dirty="0">
              <a:latin typeface="Courier"/>
            </a:endParaRPr>
          </a:p>
          <a:p>
            <a:pPr marL="360000" lvl="1" indent="0">
              <a:buNone/>
            </a:pPr>
            <a:r>
              <a:rPr lang="pl-PL" sz="2000" dirty="0">
                <a:latin typeface="+mn-lt"/>
              </a:rPr>
              <a:t>+ </a:t>
            </a:r>
            <a:r>
              <a:rPr lang="pl-PL" sz="2000" dirty="0" err="1">
                <a:latin typeface="+mn-lt"/>
              </a:rPr>
              <a:t>understanding</a:t>
            </a:r>
            <a:r>
              <a:rPr lang="pl-PL" sz="2000" dirty="0">
                <a:latin typeface="+mn-lt"/>
              </a:rPr>
              <a:t> of Linux </a:t>
            </a:r>
            <a:r>
              <a:rPr lang="pl-PL" sz="2000" dirty="0" err="1">
                <a:latin typeface="+mn-lt"/>
              </a:rPr>
              <a:t>directory</a:t>
            </a:r>
            <a:r>
              <a:rPr lang="pl-PL" sz="2000" dirty="0">
                <a:latin typeface="+mn-lt"/>
              </a:rPr>
              <a:t> </a:t>
            </a:r>
            <a:r>
              <a:rPr lang="pl-PL" sz="2000" dirty="0" err="1">
                <a:latin typeface="+mn-lt"/>
              </a:rPr>
              <a:t>tree</a:t>
            </a:r>
            <a:r>
              <a:rPr lang="pl-PL" sz="2000" dirty="0">
                <a:latin typeface="+mn-lt"/>
              </a:rPr>
              <a:t> (</a:t>
            </a:r>
            <a:r>
              <a:rPr lang="pl-PL" sz="2000" dirty="0" err="1">
                <a:latin typeface="+mn-lt"/>
              </a:rPr>
              <a:t>relative</a:t>
            </a:r>
            <a:r>
              <a:rPr lang="pl-PL" sz="2000" dirty="0">
                <a:latin typeface="+mn-lt"/>
              </a:rPr>
              <a:t> and </a:t>
            </a:r>
            <a:r>
              <a:rPr lang="pl-PL" sz="2000" dirty="0" err="1">
                <a:latin typeface="+mn-lt"/>
              </a:rPr>
              <a:t>absolute</a:t>
            </a:r>
            <a:r>
              <a:rPr lang="pl-PL" sz="2000" dirty="0">
                <a:latin typeface="+mn-lt"/>
              </a:rPr>
              <a:t> </a:t>
            </a:r>
            <a:r>
              <a:rPr lang="pl-PL" sz="2000" dirty="0" err="1">
                <a:latin typeface="+mn-lt"/>
              </a:rPr>
              <a:t>paths</a:t>
            </a:r>
            <a:r>
              <a:rPr lang="pl-PL" sz="2000" dirty="0">
                <a:latin typeface="+mn-lt"/>
              </a:rPr>
              <a:t>)</a:t>
            </a:r>
          </a:p>
          <a:p>
            <a:pPr marL="360000" lvl="1" indent="0">
              <a:buNone/>
            </a:pPr>
            <a:r>
              <a:rPr lang="pl-PL" sz="2000" dirty="0">
                <a:latin typeface="+mn-lt"/>
              </a:rPr>
              <a:t>+ </a:t>
            </a:r>
            <a:r>
              <a:rPr lang="pl-PL" sz="2000" dirty="0" err="1">
                <a:latin typeface="+mn-lt"/>
              </a:rPr>
              <a:t>understanding</a:t>
            </a:r>
            <a:r>
              <a:rPr lang="pl-PL" sz="2000" dirty="0">
                <a:latin typeface="+mn-lt"/>
              </a:rPr>
              <a:t> of file </a:t>
            </a:r>
            <a:r>
              <a:rPr lang="pl-PL" sz="2000" dirty="0" err="1">
                <a:latin typeface="+mn-lt"/>
              </a:rPr>
              <a:t>permissions</a:t>
            </a:r>
            <a:endParaRPr lang="pl-PL" sz="2000" dirty="0">
              <a:latin typeface="+mn-lt"/>
            </a:endParaRPr>
          </a:p>
          <a:p>
            <a:pPr marL="0" indent="0">
              <a:buNone/>
            </a:pPr>
            <a:endParaRPr lang="pl-PL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125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D4FF55C1-C389-3628-20F3-8203DCBEC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0968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4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699752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304800"/>
          </a:xfrm>
        </p:spPr>
        <p:txBody>
          <a:bodyPr>
            <a:normAutofit fontScale="90000"/>
          </a:bodyPr>
          <a:lstStyle/>
          <a:p>
            <a:r>
              <a:rPr lang="en-US" altLang="en-US" sz="2400" b="1">
                <a:hlinkClick r:id="rId2" action="ppaction://hlinkfile"/>
              </a:rPr>
              <a:t>Handout</a:t>
            </a:r>
            <a:endParaRPr lang="en-US" altLang="en-US" sz="2400" b="1"/>
          </a:p>
        </p:txBody>
      </p:sp>
      <p:graphicFrame>
        <p:nvGraphicFramePr>
          <p:cNvPr id="4099" name="Object 3"/>
          <p:cNvGraphicFramePr>
            <a:graphicFrameLocks noGrp="1" noChangeAspect="1"/>
          </p:cNvGraphicFramePr>
          <p:nvPr>
            <p:ph type="body" idx="1"/>
            <p:extLst>
              <p:ext uri="{D42A27DB-BD31-4B8C-83A1-F6EECF244321}">
                <p14:modId xmlns:p14="http://schemas.microsoft.com/office/powerpoint/2010/main" val="1300258052"/>
              </p:ext>
            </p:extLst>
          </p:nvPr>
        </p:nvGraphicFramePr>
        <p:xfrm>
          <a:off x="314325" y="804863"/>
          <a:ext cx="8601075" cy="582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erkblad" r:id="rId3" imgW="5333937" imgH="3611952" progId="Excel.Sheet.8">
                  <p:embed/>
                </p:oleObj>
              </mc:Choice>
              <mc:Fallback>
                <p:oleObj name="Werkblad" r:id="rId3" imgW="5333937" imgH="3611952" progId="Excel.Sheet.8">
                  <p:embed/>
                  <p:pic>
                    <p:nvPicPr>
                      <p:cNvPr id="40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4325" y="804863"/>
                        <a:ext cx="8601075" cy="5822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4238526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 training 2019/2020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Introductory</a:t>
            </a:r>
          </a:p>
          <a:p>
            <a:endParaRPr lang="en-US" dirty="0"/>
          </a:p>
          <a:p>
            <a:endParaRPr lang="pl-PL" dirty="0"/>
          </a:p>
          <a:p>
            <a:r>
              <a:rPr lang="en-US" dirty="0"/>
              <a:t>Intermediate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Advanced</a:t>
            </a:r>
            <a:endParaRPr lang="pl-PL" dirty="0"/>
          </a:p>
          <a:p>
            <a:endParaRPr lang="pl-PL" dirty="0"/>
          </a:p>
          <a:p>
            <a:r>
              <a:rPr lang="en-US" dirty="0"/>
              <a:t>Specialist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9580" y="1785590"/>
            <a:ext cx="7360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Linux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40255" y="1916832"/>
            <a:ext cx="12157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HPC intro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28617" y="2271966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Version control with </a:t>
            </a:r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Git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97739" y="2775288"/>
            <a:ext cx="3615376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as a second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Python: System programming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Scientific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Software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for data science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12465" y="2981629"/>
            <a:ext cx="32688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1629" y="1288796"/>
            <a:ext cx="8771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Matlab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10255" y="4535896"/>
            <a:ext cx="1095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OpenMP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5449" y="4723004"/>
            <a:ext cx="59503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MPI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13" name="Straight Arrow Connector 12"/>
          <p:cNvCxnSpPr>
            <a:endCxn id="5" idx="1"/>
          </p:cNvCxnSpPr>
          <p:nvPr/>
        </p:nvCxnSpPr>
        <p:spPr>
          <a:xfrm>
            <a:off x="2496865" y="1970256"/>
            <a:ext cx="643390" cy="13124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2496865" y="1958128"/>
            <a:ext cx="808191" cy="1235586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2496865" y="1962437"/>
            <a:ext cx="1315600" cy="101919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20" idx="3"/>
            <a:endCxn id="10" idx="1"/>
          </p:cNvCxnSpPr>
          <p:nvPr/>
        </p:nvCxnSpPr>
        <p:spPr>
          <a:xfrm>
            <a:off x="3635896" y="3757682"/>
            <a:ext cx="1674359" cy="96288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11" idx="1"/>
          </p:cNvCxnSpPr>
          <p:nvPr/>
        </p:nvCxnSpPr>
        <p:spPr>
          <a:xfrm>
            <a:off x="3661887" y="3782405"/>
            <a:ext cx="1043562" cy="112526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55291" y="247524"/>
            <a:ext cx="1588897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Info sessions</a:t>
            </a:r>
            <a:r>
              <a:rPr lang="pl-PL" dirty="0"/>
              <a:t>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Notebooks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616" y="4576523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Debugging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techniques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6C759-6229-40DE-AD56-03C6C1B55D06}" type="slidenum">
              <a:rPr lang="nl-BE" smtClean="0"/>
              <a:pPr/>
              <a:t>128</a:t>
            </a:fld>
            <a:endParaRPr lang="nl-BE"/>
          </a:p>
        </p:txBody>
      </p:sp>
      <p:sp>
        <p:nvSpPr>
          <p:cNvPr id="20" name="TextBox 19"/>
          <p:cNvSpPr txBox="1"/>
          <p:nvPr/>
        </p:nvSpPr>
        <p:spPr>
          <a:xfrm>
            <a:off x="873601" y="3573016"/>
            <a:ext cx="27622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Fortran for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programmers</a:t>
            </a:r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 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942768" y="5235722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?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529561" y="4427820"/>
            <a:ext cx="1787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for HPC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7504" y="5950580"/>
            <a:ext cx="5544616" cy="369332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342900" indent="-342900" algn="ctr"/>
            <a:r>
              <a:rPr lang="pl-PL" altLang="en-US" dirty="0" err="1"/>
              <a:t>Stay</a:t>
            </a:r>
            <a:r>
              <a:rPr lang="pl-PL" altLang="en-US" dirty="0"/>
              <a:t> </a:t>
            </a:r>
            <a:r>
              <a:rPr lang="pl-PL" altLang="en-US" dirty="0" err="1"/>
              <a:t>up</a:t>
            </a:r>
            <a:r>
              <a:rPr lang="pl-PL" altLang="en-US" dirty="0"/>
              <a:t>-to-</a:t>
            </a:r>
            <a:r>
              <a:rPr lang="pl-PL" altLang="en-US" dirty="0" err="1"/>
              <a:t>date</a:t>
            </a:r>
            <a:r>
              <a:rPr lang="pl-PL" altLang="en-US" dirty="0"/>
              <a:t> </a:t>
            </a:r>
            <a:r>
              <a:rPr lang="pl-PL" altLang="en-US" dirty="0">
                <a:hlinkClick r:id="rId2"/>
              </a:rPr>
              <a:t>https://www.vscentrum.be/training</a:t>
            </a:r>
            <a:r>
              <a:rPr lang="en-US" altLang="en-US" dirty="0"/>
              <a:t> </a:t>
            </a:r>
          </a:p>
        </p:txBody>
      </p:sp>
      <p:cxnSp>
        <p:nvCxnSpPr>
          <p:cNvPr id="28" name="Straight Arrow Connector 27"/>
          <p:cNvCxnSpPr/>
          <p:nvPr/>
        </p:nvCxnSpPr>
        <p:spPr>
          <a:xfrm flipV="1">
            <a:off x="4355976" y="1680084"/>
            <a:ext cx="409726" cy="30688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66622" y="1405701"/>
            <a:ext cx="16290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for HPC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stCxn id="29" idx="3"/>
          </p:cNvCxnSpPr>
          <p:nvPr/>
        </p:nvCxnSpPr>
        <p:spPr>
          <a:xfrm flipV="1">
            <a:off x="6395656" y="1444710"/>
            <a:ext cx="306645" cy="145657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85778" y="1288066"/>
            <a:ext cx="17255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scripting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7020273" y="1657398"/>
            <a:ext cx="223213" cy="202968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15667" y="1860366"/>
            <a:ext cx="13937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tools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57454" y="2350255"/>
            <a:ext cx="127248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Make</a:t>
            </a:r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intro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3440" y="3193714"/>
            <a:ext cx="3031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C++ for scientific computing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413744" y="5062973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Code optimization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757454" y="1877978"/>
            <a:ext cx="15811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pl-PL" dirty="0" err="1"/>
              <a:t>orker</a:t>
            </a:r>
            <a:r>
              <a:rPr lang="en-US" dirty="0"/>
              <a:t>/</a:t>
            </a:r>
            <a:r>
              <a:rPr lang="en-US" dirty="0" err="1"/>
              <a:t>atools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051411"/>
      </p:ext>
    </p:extLst>
  </p:cSld>
  <p:clrMapOvr>
    <a:masterClrMapping/>
  </p:clrMapOvr>
</p:sld>
</file>

<file path=ppt/theme/theme1.xml><?xml version="1.0" encoding="utf-8"?>
<a:theme xmlns:a="http://schemas.openxmlformats.org/drawingml/2006/main" name="Corporate-KU Leuven-Liggend-Achtergrond Wit">
  <a:themeElements>
    <a:clrScheme name="KULeuven-Themakleuren">
      <a:dk1>
        <a:srgbClr val="00407A"/>
      </a:dk1>
      <a:lt1>
        <a:srgbClr val="FFFFFF"/>
      </a:lt1>
      <a:dk2>
        <a:srgbClr val="00407A"/>
      </a:dk2>
      <a:lt2>
        <a:srgbClr val="FFFFFF"/>
      </a:lt2>
      <a:accent1>
        <a:srgbClr val="1D8DB0"/>
      </a:accent1>
      <a:accent2>
        <a:srgbClr val="116E8A"/>
      </a:accent2>
      <a:accent3>
        <a:srgbClr val="52BDEC"/>
      </a:accent3>
      <a:accent4>
        <a:srgbClr val="00407A"/>
      </a:accent4>
      <a:accent5>
        <a:srgbClr val="7F7F7F"/>
      </a:accent5>
      <a:accent6>
        <a:srgbClr val="595959"/>
      </a:accent6>
      <a:hlink>
        <a:srgbClr val="1D8DB0"/>
      </a:hlink>
      <a:folHlink>
        <a:srgbClr val="00407A"/>
      </a:folHlink>
    </a:clrScheme>
    <a:fontScheme name="KULeuv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16E8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corporate-KULeuven</Template>
  <TotalTime>0</TotalTime>
  <Words>8960</Words>
  <Application>Microsoft Office PowerPoint</Application>
  <PresentationFormat>On-screen Show (4:3)</PresentationFormat>
  <Paragraphs>1192</Paragraphs>
  <Slides>128</Slides>
  <Notes>34</Notes>
  <HiddenSlides>5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128</vt:i4>
      </vt:variant>
    </vt:vector>
  </HeadingPairs>
  <TitlesOfParts>
    <vt:vector size="142" baseType="lpstr">
      <vt:lpstr>新細明體</vt:lpstr>
      <vt:lpstr>Arial</vt:lpstr>
      <vt:lpstr>Bitstream Vera Serif</vt:lpstr>
      <vt:lpstr>Calibri</vt:lpstr>
      <vt:lpstr>Courier</vt:lpstr>
      <vt:lpstr>Courier 10 Pitch</vt:lpstr>
      <vt:lpstr>Courier New</vt:lpstr>
      <vt:lpstr>HG Mincho Light J</vt:lpstr>
      <vt:lpstr>Liberation Sans</vt:lpstr>
      <vt:lpstr>Nimbus Sans L</vt:lpstr>
      <vt:lpstr>StarSymbol</vt:lpstr>
      <vt:lpstr>Wingdings</vt:lpstr>
      <vt:lpstr>Corporate-KU Leuven-Liggend-Achtergrond Wit</vt:lpstr>
      <vt:lpstr>Werkblad</vt:lpstr>
      <vt:lpstr>Linux - introduction</vt:lpstr>
      <vt:lpstr>Overview</vt:lpstr>
      <vt:lpstr>Remark</vt:lpstr>
      <vt:lpstr>Introduction</vt:lpstr>
      <vt:lpstr>Purpose </vt:lpstr>
      <vt:lpstr>Information</vt:lpstr>
      <vt:lpstr>Websites?</vt:lpstr>
      <vt:lpstr>Try it?</vt:lpstr>
      <vt:lpstr>Windows and Linux</vt:lpstr>
      <vt:lpstr>Some history</vt:lpstr>
      <vt:lpstr>Open Source Software</vt:lpstr>
      <vt:lpstr>Linux: some history</vt:lpstr>
      <vt:lpstr>Operating system?</vt:lpstr>
      <vt:lpstr>Which Linux Distribution is better?</vt:lpstr>
      <vt:lpstr>Linux Kernel </vt:lpstr>
      <vt:lpstr>PowerPoint Presentation</vt:lpstr>
      <vt:lpstr>Linux Kernel </vt:lpstr>
      <vt:lpstr>Linux Kernel </vt:lpstr>
      <vt:lpstr>Compatibility Statement </vt:lpstr>
      <vt:lpstr>User login </vt:lpstr>
      <vt:lpstr>Linux User Interface</vt:lpstr>
      <vt:lpstr>Linux User Interface</vt:lpstr>
      <vt:lpstr>Linux User Interface</vt:lpstr>
      <vt:lpstr>Command Line</vt:lpstr>
      <vt:lpstr>Linux text based interface: The shell</vt:lpstr>
      <vt:lpstr>Using the root account</vt:lpstr>
      <vt:lpstr>Most popular shells</vt:lpstr>
      <vt:lpstr>Hands-on 1</vt:lpstr>
      <vt:lpstr>Command line basics</vt:lpstr>
      <vt:lpstr>Important rules on the command line</vt:lpstr>
      <vt:lpstr>Important rules on the command line</vt:lpstr>
      <vt:lpstr>Auto-Completion</vt:lpstr>
      <vt:lpstr>Command history: Arrow Up</vt:lpstr>
      <vt:lpstr>Getting help: command built-in</vt:lpstr>
      <vt:lpstr>Getting help: man pages</vt:lpstr>
      <vt:lpstr>Getting help: info pages</vt:lpstr>
      <vt:lpstr>Getting help</vt:lpstr>
      <vt:lpstr>Useful commands</vt:lpstr>
      <vt:lpstr>Standard output</vt:lpstr>
      <vt:lpstr>Standard output</vt:lpstr>
      <vt:lpstr>Standard input</vt:lpstr>
      <vt:lpstr>Pipes</vt:lpstr>
      <vt:lpstr>Globbing: use wildcard</vt:lpstr>
      <vt:lpstr>The Linux file system</vt:lpstr>
      <vt:lpstr>Linux File System</vt:lpstr>
      <vt:lpstr>Linux File System</vt:lpstr>
      <vt:lpstr>Linux File System</vt:lpstr>
      <vt:lpstr>Linux File System</vt:lpstr>
      <vt:lpstr>Linux File System-home directory</vt:lpstr>
      <vt:lpstr>ls command</vt:lpstr>
      <vt:lpstr>ls command</vt:lpstr>
      <vt:lpstr>ls command</vt:lpstr>
      <vt:lpstr>Moving around</vt:lpstr>
      <vt:lpstr>ls command</vt:lpstr>
      <vt:lpstr>Moving around</vt:lpstr>
      <vt:lpstr>Special directories 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File paths</vt:lpstr>
      <vt:lpstr>More on files</vt:lpstr>
      <vt:lpstr>More on files</vt:lpstr>
      <vt:lpstr>File names</vt:lpstr>
      <vt:lpstr>File names – Best Practices</vt:lpstr>
      <vt:lpstr>File names – Best Practices</vt:lpstr>
      <vt:lpstr>Measuring disk usage</vt:lpstr>
      <vt:lpstr>Measuring disk usage</vt:lpstr>
      <vt:lpstr>Measuring disk space</vt:lpstr>
      <vt:lpstr>Hands-on 2</vt:lpstr>
      <vt:lpstr>File manipulation</vt:lpstr>
      <vt:lpstr>File Manipulation</vt:lpstr>
      <vt:lpstr>Directories</vt:lpstr>
      <vt:lpstr>Copy a file</vt:lpstr>
      <vt:lpstr>Move or rename files</vt:lpstr>
      <vt:lpstr>Remove files</vt:lpstr>
      <vt:lpstr>Create links</vt:lpstr>
      <vt:lpstr>wget</vt:lpstr>
      <vt:lpstr>Text editing</vt:lpstr>
      <vt:lpstr>Text editors</vt:lpstr>
      <vt:lpstr>Text editors</vt:lpstr>
      <vt:lpstr>vi</vt:lpstr>
      <vt:lpstr>vi</vt:lpstr>
      <vt:lpstr>vi</vt:lpstr>
      <vt:lpstr>Nano</vt:lpstr>
      <vt:lpstr>Displaying file contents</vt:lpstr>
      <vt:lpstr>Displaying file contents</vt:lpstr>
      <vt:lpstr>The head and tail commands</vt:lpstr>
      <vt:lpstr>The grep command</vt:lpstr>
      <vt:lpstr>Hands-on 3</vt:lpstr>
      <vt:lpstr>Archiving</vt:lpstr>
      <vt:lpstr>File Archiving: tar</vt:lpstr>
      <vt:lpstr>File Archiving: tar</vt:lpstr>
      <vt:lpstr>File Compression: gzip</vt:lpstr>
      <vt:lpstr>Users, groups &amp; security</vt:lpstr>
      <vt:lpstr>PowerPoint Presentation</vt:lpstr>
      <vt:lpstr>File access rights</vt:lpstr>
      <vt:lpstr>File access rights</vt:lpstr>
      <vt:lpstr>PowerPoint Presentation</vt:lpstr>
      <vt:lpstr>PowerPoint Presentation</vt:lpstr>
      <vt:lpstr>Access rights examples</vt:lpstr>
      <vt:lpstr>PowerPoint Presentation</vt:lpstr>
      <vt:lpstr>chmod: changing permissions</vt:lpstr>
      <vt:lpstr>chmod: changing permissions</vt:lpstr>
      <vt:lpstr>chmod: changing permissions</vt:lpstr>
      <vt:lpstr>chmod: changing permissions</vt:lpstr>
      <vt:lpstr>Access right constraints</vt:lpstr>
      <vt:lpstr>Process control</vt:lpstr>
      <vt:lpstr>time</vt:lpstr>
      <vt:lpstr>Process</vt:lpstr>
      <vt:lpstr>Process</vt:lpstr>
      <vt:lpstr>Process</vt:lpstr>
      <vt:lpstr>ps</vt:lpstr>
      <vt:lpstr>Process</vt:lpstr>
      <vt:lpstr>kill</vt:lpstr>
      <vt:lpstr>killall</vt:lpstr>
      <vt:lpstr>xkill</vt:lpstr>
      <vt:lpstr>&amp;</vt:lpstr>
      <vt:lpstr>top</vt:lpstr>
      <vt:lpstr>List of basic commands</vt:lpstr>
      <vt:lpstr>Hands-on 4</vt:lpstr>
      <vt:lpstr>Handout</vt:lpstr>
      <vt:lpstr>VSC training 2019/2020</vt:lpstr>
    </vt:vector>
  </TitlesOfParts>
  <Company>KULeuven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ICTS | Communicatie, Servicepunt en Opleiding</dc:creator>
  <dc:description>Huisstijl KU Leuven - versie 24 juli 2012</dc:description>
  <cp:lastModifiedBy>Wouter Van Assche</cp:lastModifiedBy>
  <cp:revision>346</cp:revision>
  <dcterms:created xsi:type="dcterms:W3CDTF">2012-07-10T07:57:57Z</dcterms:created>
  <dcterms:modified xsi:type="dcterms:W3CDTF">2026-03-09T07:52:52Z</dcterms:modified>
</cp:coreProperties>
</file>