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30"/>
  </p:notesMasterIdLst>
  <p:handoutMasterIdLst>
    <p:handoutMasterId r:id="rId131"/>
  </p:handoutMasterIdLst>
  <p:sldIdLst>
    <p:sldId id="256" r:id="rId2"/>
    <p:sldId id="397" r:id="rId3"/>
    <p:sldId id="831" r:id="rId4"/>
    <p:sldId id="398" r:id="rId5"/>
    <p:sldId id="399" r:id="rId6"/>
    <p:sldId id="401" r:id="rId7"/>
    <p:sldId id="402" r:id="rId8"/>
    <p:sldId id="403" r:id="rId9"/>
    <p:sldId id="599" r:id="rId10"/>
    <p:sldId id="561" r:id="rId11"/>
    <p:sldId id="551" r:id="rId12"/>
    <p:sldId id="404" r:id="rId13"/>
    <p:sldId id="550" r:id="rId14"/>
    <p:sldId id="407" r:id="rId15"/>
    <p:sldId id="408" r:id="rId16"/>
    <p:sldId id="562" r:id="rId17"/>
    <p:sldId id="567" r:id="rId18"/>
    <p:sldId id="568" r:id="rId19"/>
    <p:sldId id="410" r:id="rId20"/>
    <p:sldId id="570" r:id="rId21"/>
    <p:sldId id="411" r:id="rId22"/>
    <p:sldId id="412" r:id="rId23"/>
    <p:sldId id="413" r:id="rId24"/>
    <p:sldId id="400" r:id="rId25"/>
    <p:sldId id="414" r:id="rId26"/>
    <p:sldId id="544" r:id="rId27"/>
    <p:sldId id="416" r:id="rId28"/>
    <p:sldId id="839" r:id="rId29"/>
    <p:sldId id="417" r:id="rId30"/>
    <p:sldId id="418" r:id="rId31"/>
    <p:sldId id="419" r:id="rId32"/>
    <p:sldId id="446" r:id="rId33"/>
    <p:sldId id="447" r:id="rId34"/>
    <p:sldId id="420" r:id="rId35"/>
    <p:sldId id="421" r:id="rId36"/>
    <p:sldId id="422" r:id="rId37"/>
    <p:sldId id="423" r:id="rId38"/>
    <p:sldId id="424" r:id="rId39"/>
    <p:sldId id="450" r:id="rId40"/>
    <p:sldId id="451" r:id="rId41"/>
    <p:sldId id="452" r:id="rId42"/>
    <p:sldId id="449" r:id="rId43"/>
    <p:sldId id="448" r:id="rId44"/>
    <p:sldId id="425" r:id="rId45"/>
    <p:sldId id="426" r:id="rId46"/>
    <p:sldId id="427" r:id="rId47"/>
    <p:sldId id="429" r:id="rId48"/>
    <p:sldId id="430" r:id="rId49"/>
    <p:sldId id="428" r:id="rId50"/>
    <p:sldId id="431" r:id="rId51"/>
    <p:sldId id="432" r:id="rId52"/>
    <p:sldId id="433" r:id="rId53"/>
    <p:sldId id="436" r:id="rId54"/>
    <p:sldId id="434" r:id="rId55"/>
    <p:sldId id="537" r:id="rId56"/>
    <p:sldId id="437" r:id="rId57"/>
    <p:sldId id="751" r:id="rId58"/>
    <p:sldId id="752" r:id="rId59"/>
    <p:sldId id="754" r:id="rId60"/>
    <p:sldId id="750" r:id="rId61"/>
    <p:sldId id="753" r:id="rId62"/>
    <p:sldId id="756" r:id="rId63"/>
    <p:sldId id="755" r:id="rId64"/>
    <p:sldId id="757" r:id="rId65"/>
    <p:sldId id="758" r:id="rId66"/>
    <p:sldId id="438" r:id="rId67"/>
    <p:sldId id="439" r:id="rId68"/>
    <p:sldId id="440" r:id="rId69"/>
    <p:sldId id="441" r:id="rId70"/>
    <p:sldId id="837" r:id="rId71"/>
    <p:sldId id="838" r:id="rId72"/>
    <p:sldId id="659" r:id="rId73"/>
    <p:sldId id="840" r:id="rId74"/>
    <p:sldId id="660" r:id="rId75"/>
    <p:sldId id="538" r:id="rId76"/>
    <p:sldId id="453" r:id="rId77"/>
    <p:sldId id="454" r:id="rId78"/>
    <p:sldId id="830" r:id="rId79"/>
    <p:sldId id="455" r:id="rId80"/>
    <p:sldId id="456" r:id="rId81"/>
    <p:sldId id="457" r:id="rId82"/>
    <p:sldId id="458" r:id="rId83"/>
    <p:sldId id="656" r:id="rId84"/>
    <p:sldId id="460" r:id="rId85"/>
    <p:sldId id="461" r:id="rId86"/>
    <p:sldId id="647" r:id="rId87"/>
    <p:sldId id="462" r:id="rId88"/>
    <p:sldId id="463" r:id="rId89"/>
    <p:sldId id="650" r:id="rId90"/>
    <p:sldId id="832" r:id="rId91"/>
    <p:sldId id="465" r:id="rId92"/>
    <p:sldId id="466" r:id="rId93"/>
    <p:sldId id="467" r:id="rId94"/>
    <p:sldId id="468" r:id="rId95"/>
    <p:sldId id="543" r:id="rId96"/>
    <p:sldId id="471" r:id="rId97"/>
    <p:sldId id="472" r:id="rId98"/>
    <p:sldId id="473" r:id="rId99"/>
    <p:sldId id="474" r:id="rId100"/>
    <p:sldId id="476" r:id="rId101"/>
    <p:sldId id="591" r:id="rId102"/>
    <p:sldId id="477" r:id="rId103"/>
    <p:sldId id="478" r:id="rId104"/>
    <p:sldId id="592" r:id="rId105"/>
    <p:sldId id="597" r:id="rId106"/>
    <p:sldId id="479" r:id="rId107"/>
    <p:sldId id="595" r:id="rId108"/>
    <p:sldId id="480" r:id="rId109"/>
    <p:sldId id="841" r:id="rId110"/>
    <p:sldId id="481" r:id="rId111"/>
    <p:sldId id="482" r:id="rId112"/>
    <p:sldId id="483" r:id="rId113"/>
    <p:sldId id="486" r:id="rId114"/>
    <p:sldId id="655" r:id="rId115"/>
    <p:sldId id="487" r:id="rId116"/>
    <p:sldId id="636" r:id="rId117"/>
    <p:sldId id="637" r:id="rId118"/>
    <p:sldId id="488" r:id="rId119"/>
    <p:sldId id="638" r:id="rId120"/>
    <p:sldId id="489" r:id="rId121"/>
    <p:sldId id="490" r:id="rId122"/>
    <p:sldId id="726" r:id="rId123"/>
    <p:sldId id="491" r:id="rId124"/>
    <p:sldId id="493" r:id="rId125"/>
    <p:sldId id="829" r:id="rId126"/>
    <p:sldId id="825" r:id="rId127"/>
    <p:sldId id="827" r:id="rId128"/>
    <p:sldId id="836" r:id="rId129"/>
  </p:sldIdLst>
  <p:sldSz cx="9144000" cy="6858000" type="screen4x3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94">
          <p15:clr>
            <a:srgbClr val="A4A3A4"/>
          </p15:clr>
        </p15:guide>
        <p15:guide id="2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A"/>
    <a:srgbClr val="71CEEB"/>
    <a:srgbClr val="167C9B"/>
    <a:srgbClr val="86BCE5"/>
    <a:srgbClr val="1EA3CC"/>
    <a:srgbClr val="177E9E"/>
    <a:srgbClr val="49C0E5"/>
    <a:srgbClr val="1D8DB0"/>
    <a:srgbClr val="116E8A"/>
    <a:srgbClr val="147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6" autoAdjust="0"/>
  </p:normalViewPr>
  <p:slideViewPr>
    <p:cSldViewPr snapToObjects="1" showGuides="1">
      <p:cViewPr varScale="1">
        <p:scale>
          <a:sx n="70" d="100"/>
          <a:sy n="70" d="100"/>
        </p:scale>
        <p:origin x="1204" y="52"/>
      </p:cViewPr>
      <p:guideLst>
        <p:guide orient="horz" pos="3294"/>
        <p:guide pos="560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8" d="100"/>
          <a:sy n="68" d="100"/>
        </p:scale>
        <p:origin x="3101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85198-F140-406E-8F04-DE9D809B9791}" type="datetimeFigureOut">
              <a:rPr lang="nl-BE" sz="1000" smtClean="0">
                <a:latin typeface="Arial" pitchFamily="34" charset="0"/>
                <a:cs typeface="Arial" pitchFamily="34" charset="0"/>
              </a:rPr>
              <a:pPr/>
              <a:t>4/11/2025</a:t>
            </a:fld>
            <a:endParaRPr lang="nl-B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24B3E-C6E9-4CB0-843C-3CD5676655AA}" type="slidenum">
              <a:rPr lang="nl-BE" sz="1000" smtClean="0"/>
              <a:pPr/>
              <a:t>‹#›</a:t>
            </a:fld>
            <a:endParaRPr lang="nl-BE" sz="1000"/>
          </a:p>
        </p:txBody>
      </p:sp>
    </p:spTree>
    <p:extLst>
      <p:ext uri="{BB962C8B-B14F-4D97-AF65-F5344CB8AC3E}">
        <p14:creationId xmlns:p14="http://schemas.microsoft.com/office/powerpoint/2010/main" val="397321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7AF0A2F9-EF49-41B3-9E69-7CDBDC14786A}" type="datetimeFigureOut">
              <a:rPr lang="nl-BE" smtClean="0"/>
              <a:pPr/>
              <a:t>4/11/2025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540000" y="4320000"/>
            <a:ext cx="5760000" cy="4140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17C257C2-8D60-4760-88CB-024AF3EEC641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947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merhumor.io/linux-memes/create-ze-file-extrakt-ze-file-0ucm" TargetMode="External"/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257C2-8D60-4760-88CB-024AF3EEC641}" type="slidenum">
              <a:rPr lang="nl-BE" smtClean="0"/>
              <a:pPr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8447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36E904-3279-4C1E-8C96-F499A191F259}" type="slidenum">
              <a:rPr lang="en-GB" altLang="nl-BE"/>
              <a:pPr/>
              <a:t>9</a:t>
            </a:fld>
            <a:endParaRPr lang="en-GB" altLang="nl-BE"/>
          </a:p>
        </p:txBody>
      </p:sp>
      <p:sp>
        <p:nvSpPr>
          <p:cNvPr id="391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2241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17F0C72-1D9C-44A7-A592-B8B0FB0A67E7}" type="slidenum">
              <a:rPr lang="en-US" altLang="nl-BE"/>
              <a:pPr/>
              <a:t>11</a:t>
            </a:fld>
            <a:endParaRPr lang="en-US" altLang="nl-BE"/>
          </a:p>
        </p:txBody>
      </p:sp>
      <p:sp>
        <p:nvSpPr>
          <p:cNvPr id="174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528592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45B24A-332F-4237-8263-AF9B3DB6BD9D}" type="slidenum">
              <a:rPr lang="nl-NL" smtClean="0"/>
              <a:pPr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4392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3040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010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257C2-8D60-4760-88CB-024AF3EEC641}" type="slidenum">
              <a:rPr lang="nl-BE" smtClean="0"/>
              <a:pPr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6137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32451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26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944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883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90467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440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96611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727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97635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718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97635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881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Linux File System</a:t>
            </a:r>
            <a:r>
              <a:rPr lang="pl-PL" dirty="0"/>
              <a:t>-home directory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257C2-8D60-4760-88CB-024AF3EEC641}" type="slidenum">
              <a:rPr lang="nl-BE" smtClean="0"/>
              <a:pPr/>
              <a:t>63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0347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7395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746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74121-8A3A-A470-13E2-9C7CA7FE2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EBCE897-EB54-7C67-E29F-DE3B14EF46B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7395" name="Tijdelijke aanduiding voor notities 2">
            <a:extLst>
              <a:ext uri="{FF2B5EF4-FFF2-40B4-BE49-F238E27FC236}">
                <a16:creationId xmlns:a16="http://schemas.microsoft.com/office/drawing/2014/main" id="{A53A6E86-3D3C-F8B6-36D3-2352C2CB34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607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1944B-C071-5782-70F3-70E9F74D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3BEB45E-5181-2CE3-ACE7-B5B8B11538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7395" name="Tijdelijke aanduiding voor notities 2">
            <a:extLst>
              <a:ext uri="{FF2B5EF4-FFF2-40B4-BE49-F238E27FC236}">
                <a16:creationId xmlns:a16="http://schemas.microsoft.com/office/drawing/2014/main" id="{345EC390-6D1E-DD3A-1632-7342285B0B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020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720" y="4715640"/>
            <a:ext cx="5335920" cy="4468320"/>
          </a:xfrm>
        </p:spPr>
        <p:txBody>
          <a:bodyPr lIns="0" tIns="0" rIns="0" bIns="0">
            <a:spAutoFit/>
          </a:bodyPr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717440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B5D8-3073-4E23-5F34-8EF7E2062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E72DEC6-424B-9F90-76EB-3D3C34921A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6616BCB-E388-0B25-D448-168C25FE8A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66720" y="4715640"/>
            <a:ext cx="5335920" cy="4468320"/>
          </a:xfrm>
        </p:spPr>
        <p:txBody>
          <a:bodyPr lIns="0" tIns="0" rIns="0" bIns="0">
            <a:spAutoFit/>
          </a:bodyPr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676578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720" y="4715640"/>
            <a:ext cx="5335920" cy="4468320"/>
          </a:xfrm>
        </p:spPr>
        <p:txBody>
          <a:bodyPr lIns="0" tIns="0" rIns="0" bIns="0">
            <a:spAutoFit/>
          </a:bodyPr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4087337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01731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596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02755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635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1003320" y="5020560"/>
            <a:ext cx="4480920" cy="4054680"/>
          </a:xfrm>
        </p:spPr>
        <p:txBody>
          <a:bodyPr lIns="0" tIns="0" rIns="0" bIns="0"/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964371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720" y="4715640"/>
            <a:ext cx="5335920" cy="4468320"/>
          </a:xfrm>
        </p:spPr>
        <p:txBody>
          <a:bodyPr lIns="0" tIns="0" rIns="0" bIns="0">
            <a:spAutoFit/>
          </a:bodyPr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498993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720" y="4715640"/>
            <a:ext cx="5335920" cy="4468320"/>
          </a:xfrm>
        </p:spPr>
        <p:txBody>
          <a:bodyPr lIns="0" tIns="0" rIns="0" bIns="0">
            <a:spAutoFit/>
          </a:bodyPr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0556074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1003320" y="5020560"/>
            <a:ext cx="4480920" cy="4054680"/>
          </a:xfrm>
        </p:spPr>
        <p:txBody>
          <a:bodyPr lIns="0" tIns="0" rIns="0" bIns="0"/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241871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0480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6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05827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379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06851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5416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>
                <a:hlinkClick r:id="rId3"/>
              </a:rPr>
              <a:t>Create</a:t>
            </a:r>
            <a:r>
              <a:rPr lang="nl-BE" dirty="0">
                <a:hlinkClick r:id="rId3"/>
              </a:rPr>
              <a:t> Ze File, </a:t>
            </a:r>
            <a:r>
              <a:rPr lang="nl-BE" dirty="0" err="1">
                <a:hlinkClick r:id="rId3"/>
              </a:rPr>
              <a:t>Extrakt</a:t>
            </a:r>
            <a:r>
              <a:rPr lang="nl-BE" dirty="0">
                <a:hlinkClick r:id="rId3"/>
              </a:rPr>
              <a:t> Ze File · ProgrammerHumor.io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257C2-8D60-4760-88CB-024AF3EEC641}" type="slidenum">
              <a:rPr lang="nl-BE" smtClean="0"/>
              <a:pPr/>
              <a:t>98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02346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24259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4138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2528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5889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AC75-D407-6290-1FDD-090B1736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3A1E0DF-546F-AC58-FFC8-7DF6ED197BA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25283" name="Tijdelijke aanduiding voor notities 2">
            <a:extLst>
              <a:ext uri="{FF2B5EF4-FFF2-40B4-BE49-F238E27FC236}">
                <a16:creationId xmlns:a16="http://schemas.microsoft.com/office/drawing/2014/main" id="{641CCF3F-6375-DE60-F502-4BAE5EE162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3898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23235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598" y="4715629"/>
            <a:ext cx="5335893" cy="276999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Bitstream Vera Serif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0169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solidFill>
            <a:schemeClr val="accent1"/>
          </a:solidFill>
        </p:spPr>
      </p:sp>
      <p:sp>
        <p:nvSpPr>
          <p:cNvPr id="3" name="Tijdelijke aanduiding voor notities 2"/>
          <p:cNvSpPr txBox="1">
            <a:spLocks noGrp="1"/>
          </p:cNvSpPr>
          <p:nvPr>
            <p:ph type="body" sz="quarter" idx="1"/>
          </p:nvPr>
        </p:nvSpPr>
        <p:spPr>
          <a:xfrm>
            <a:off x="666720" y="4715640"/>
            <a:ext cx="5335920" cy="4468320"/>
          </a:xfrm>
        </p:spPr>
        <p:txBody>
          <a:bodyPr lIns="0" tIns="0" rIns="0" bIns="0">
            <a:spAutoFit/>
          </a:bodyPr>
          <a:lstStyle/>
          <a:p>
            <a:pPr marL="216000" indent="-216000" hangingPunct="0"/>
            <a:endParaRPr lang="en-US" sz="2000">
              <a:latin typeface="Liberation Sans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261558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0" y="648000"/>
            <a:ext cx="9144000" cy="6228000"/>
          </a:xfrm>
          <a:prstGeom prst="rect">
            <a:avLst/>
          </a:prstGeom>
          <a:gradFill flip="none" rotWithShape="1">
            <a:gsLst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77E9D"/>
              </a:gs>
              <a:gs pos="100000">
                <a:srgbClr val="116E8A"/>
              </a:gs>
              <a:gs pos="100000">
                <a:schemeClr val="accent1">
                  <a:tint val="44500"/>
                  <a:satMod val="160000"/>
                </a:schemeClr>
              </a:gs>
              <a:gs pos="0">
                <a:srgbClr val="1D8DB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3096000" y="2088000"/>
            <a:ext cx="5580000" cy="1800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en typ de titel van de presentatie</a:t>
            </a:r>
            <a:endParaRPr lang="nl-BE" dirty="0"/>
          </a:p>
        </p:txBody>
      </p:sp>
      <p:sp>
        <p:nvSpPr>
          <p:cNvPr id="10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3096000" y="4193675"/>
            <a:ext cx="5580000" cy="1080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en typ de subtitel van de presentatie</a:t>
            </a:r>
            <a:endParaRPr lang="nl-BE" dirty="0"/>
          </a:p>
        </p:txBody>
      </p:sp>
      <p:pic>
        <p:nvPicPr>
          <p:cNvPr id="12" name="Afbeelding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1800000"/>
            <a:ext cx="1840048" cy="4294442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283600" y="5706000"/>
            <a:ext cx="428400" cy="720000"/>
          </a:xfrm>
          <a:prstGeom prst="rect">
            <a:avLst/>
          </a:prstGeom>
        </p:spPr>
      </p:pic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4732" cy="71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2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52BDEC"/>
                </a:solidFill>
              </a:defRPr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A2290-0477-46BB-87A2-28AB474124F3}" type="datetime1">
              <a:rPr lang="nl-BE" smtClean="0"/>
              <a:t>4/11/2025</a:t>
            </a:fld>
            <a:endParaRPr lang="nl-BE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>
          <a:xfrm>
            <a:off x="8172400" y="6048000"/>
            <a:ext cx="936000" cy="288000"/>
          </a:xfrm>
        </p:spPr>
        <p:txBody>
          <a:bodyPr/>
          <a:lstStyle>
            <a:lvl1pPr>
              <a:defRPr sz="1200"/>
            </a:lvl1pPr>
          </a:lstStyle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6" name="Tijdelijke aanduiding voor tekst 2"/>
          <p:cNvSpPr>
            <a:spLocks noGrp="1"/>
          </p:cNvSpPr>
          <p:nvPr>
            <p:ph idx="1" hasCustomPrompt="1"/>
          </p:nvPr>
        </p:nvSpPr>
        <p:spPr>
          <a:xfrm>
            <a:off x="540000" y="1349999"/>
            <a:ext cx="8334000" cy="44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1690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0" y="0"/>
            <a:ext cx="9144000" cy="6372000"/>
          </a:xfrm>
          <a:prstGeom prst="rect">
            <a:avLst/>
          </a:prstGeom>
          <a:gradFill flip="none" rotWithShape="1">
            <a:gsLst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77E9D"/>
              </a:gs>
              <a:gs pos="100000">
                <a:srgbClr val="116E8A"/>
              </a:gs>
              <a:gs pos="100000">
                <a:schemeClr val="accent1">
                  <a:tint val="44500"/>
                  <a:satMod val="160000"/>
                </a:schemeClr>
              </a:gs>
              <a:gs pos="0">
                <a:srgbClr val="1D8DB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3780000" y="2304000"/>
            <a:ext cx="5094000" cy="18002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en typ de titel van de sectie</a:t>
            </a:r>
            <a:endParaRPr lang="nl-BE" dirty="0"/>
          </a:p>
        </p:txBody>
      </p:sp>
      <p:sp>
        <p:nvSpPr>
          <p:cNvPr id="10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3780000" y="4419108"/>
            <a:ext cx="5094000" cy="1080000"/>
          </a:xfrm>
        </p:spPr>
        <p:txBody>
          <a:bodyPr anchor="t" anchorCtr="0"/>
          <a:lstStyle>
            <a:lvl1pPr marL="0" indent="0" algn="l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en typ de subtitel van de sectie</a:t>
            </a:r>
            <a:endParaRPr lang="nl-BE" dirty="0"/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000" y="6048000"/>
            <a:ext cx="1512458" cy="540000"/>
          </a:xfrm>
          <a:prstGeom prst="rect">
            <a:avLst/>
          </a:prstGeom>
        </p:spPr>
      </p:pic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0000"/>
            <a:ext cx="3300991" cy="32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9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52BDEC"/>
                </a:solidFill>
              </a:defRPr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540000" y="1350000"/>
            <a:ext cx="4038600" cy="4428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 marL="1435100" indent="-228600">
              <a:buFont typeface="Arial" pitchFamily="34" charset="0"/>
              <a:buChar char="-"/>
              <a:defRPr sz="1600">
                <a:solidFill>
                  <a:srgbClr val="00407A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4835400" y="1350000"/>
            <a:ext cx="4038600" cy="4428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 marL="1435100" indent="-228600">
              <a:buFont typeface="Arial" pitchFamily="34" charset="0"/>
              <a:buChar char="-"/>
              <a:defRPr sz="1600">
                <a:solidFill>
                  <a:srgbClr val="00407A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5D64-6155-4769-AF26-79FDDAF95138}" type="datetime1">
              <a:rPr lang="nl-BE" smtClean="0"/>
              <a:t>4/11/2025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803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540000" y="1350000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407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540000" y="1991922"/>
            <a:ext cx="4040188" cy="379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600"/>
            </a:lvl4pPr>
            <a:lvl5pPr marL="1435100" indent="-180000">
              <a:buFont typeface="Arial" pitchFamily="34" charset="0"/>
              <a:buChar char="-"/>
              <a:defRPr sz="1600">
                <a:solidFill>
                  <a:srgbClr val="00407A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824000" y="1350000"/>
            <a:ext cx="40392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 hasCustomPrompt="1"/>
          </p:nvPr>
        </p:nvSpPr>
        <p:spPr>
          <a:xfrm>
            <a:off x="4824000" y="1991922"/>
            <a:ext cx="4039200" cy="379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600"/>
            </a:lvl4pPr>
            <a:lvl5pPr marL="1584325" indent="-285750">
              <a:buFont typeface="Arial" pitchFamily="34" charset="0"/>
              <a:buChar char="-"/>
              <a:defRPr lang="nl-BE" sz="1600" kern="1200" dirty="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0D3A-57C8-4BB6-BAF6-0910372DB0C4}" type="datetime1">
              <a:rPr lang="nl-BE" smtClean="0"/>
              <a:t>4/11/2025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3782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0510-3D33-4A31-87A2-7419302BEFB2}" type="datetime1">
              <a:rPr lang="nl-BE" smtClean="0"/>
              <a:t>4/11/2025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182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039BF-7F14-4E86-9A7D-70EDB4DFBD5E}" type="datetime1">
              <a:rPr lang="nl-BE" smtClean="0"/>
              <a:t>4/11/2025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9059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540000"/>
            <a:ext cx="3008313" cy="89510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3761909" y="540000"/>
            <a:ext cx="5105139" cy="5256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 marL="1435100" indent="-228600">
              <a:buFont typeface="Arial" pitchFamily="34" charset="0"/>
              <a:buChar char="-"/>
              <a:tabLst/>
              <a:defRPr sz="1600">
                <a:solidFill>
                  <a:srgbClr val="00407A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539552" y="1435101"/>
            <a:ext cx="3008313" cy="4356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23E0-C61A-488E-A904-C10C2EE8BB5B}" type="datetime1">
              <a:rPr lang="nl-BE" smtClean="0"/>
              <a:t>4/11/2025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635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788000"/>
            <a:ext cx="8334000" cy="540000"/>
          </a:xfrm>
        </p:spPr>
        <p:txBody>
          <a:bodyPr anchor="t" anchorCtr="0">
            <a:noAutofit/>
          </a:bodyPr>
          <a:lstStyle>
            <a:lvl1pPr algn="l">
              <a:defRPr sz="2000" b="1"/>
            </a:lvl1pPr>
          </a:lstStyle>
          <a:p>
            <a:r>
              <a:rPr lang="nl-NL" dirty="0"/>
              <a:t>Klik en typ de tekst</a:t>
            </a:r>
            <a:endParaRPr lang="nl-BE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40000" y="540000"/>
            <a:ext cx="83340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540000" y="5445224"/>
            <a:ext cx="8334000" cy="360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540000" y="6048000"/>
            <a:ext cx="936000" cy="288000"/>
          </a:xfrm>
        </p:spPr>
        <p:txBody>
          <a:bodyPr/>
          <a:lstStyle/>
          <a:p>
            <a:fld id="{44550B11-E8D9-4B11-9984-F070AA263B19}" type="datetime1">
              <a:rPr lang="nl-BE" smtClean="0"/>
              <a:t>4/11/2025</a:t>
            </a:fld>
            <a:endParaRPr lang="nl-BE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8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1566000" y="6048000"/>
            <a:ext cx="1980000" cy="288000"/>
          </a:xfr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2426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7BF9-BE81-4DBB-A705-1E77137F5832}" type="datetime1">
              <a:rPr lang="nl-BE" smtClean="0"/>
              <a:t>4/11/2025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C759-6229-40DE-AD56-03C6C1B55D0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00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334000" cy="90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40000" y="1349999"/>
            <a:ext cx="8334000" cy="44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39552" y="6048000"/>
            <a:ext cx="936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rgbClr val="00407A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EDA2AAE9-1AD1-47EB-91FA-4BD8E37F2074}" type="datetime1">
              <a:rPr lang="nl-BE" smtClean="0"/>
              <a:t>4/11/2025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566000" y="6048000"/>
            <a:ext cx="198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000">
                <a:solidFill>
                  <a:srgbClr val="00407A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208000" y="6101999"/>
            <a:ext cx="936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>
                <a:solidFill>
                  <a:srgbClr val="00407A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7" name="Rechthoek 6"/>
          <p:cNvSpPr/>
          <p:nvPr/>
        </p:nvSpPr>
        <p:spPr>
          <a:xfrm>
            <a:off x="0" y="6372000"/>
            <a:ext cx="9144000" cy="486000"/>
          </a:xfrm>
          <a:prstGeom prst="rect">
            <a:avLst/>
          </a:prstGeom>
          <a:gradFill flip="none" rotWithShape="1">
            <a:gsLst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77E9D"/>
              </a:gs>
              <a:gs pos="100000">
                <a:srgbClr val="116E8A"/>
              </a:gs>
              <a:gs pos="100000">
                <a:schemeClr val="accent1">
                  <a:tint val="44500"/>
                  <a:satMod val="160000"/>
                </a:schemeClr>
              </a:gs>
              <a:gs pos="0">
                <a:srgbClr val="1D8DB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000" y="6048000"/>
            <a:ext cx="151245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1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9" r:id="rId2"/>
    <p:sldLayoutId id="2147483698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72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baseline="0">
          <a:solidFill>
            <a:srgbClr val="52BDEC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60000" indent="-360000" algn="l" defTabSz="914400" rtl="0" eaLnBrk="1" latinLnBrk="0" hangingPunct="1">
        <a:spcBef>
          <a:spcPts val="580"/>
        </a:spcBef>
        <a:buSzPct val="110000"/>
        <a:buFont typeface="Arial" pitchFamily="34" charset="0"/>
        <a:buChar char="•"/>
        <a:defRPr sz="24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1pPr>
      <a:lvl2pPr marL="720000" indent="-360363" algn="l" defTabSz="914400" rtl="0" eaLnBrk="1" latinLnBrk="0" hangingPunct="1">
        <a:spcBef>
          <a:spcPts val="580"/>
        </a:spcBef>
        <a:buSzPct val="75000"/>
        <a:buFont typeface="Courier New" pitchFamily="49" charset="0"/>
        <a:buChar char="o"/>
        <a:defRPr sz="24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2pPr>
      <a:lvl3pPr marL="990000" indent="-2700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3pPr>
      <a:lvl4pPr marL="1168400" indent="-180000" algn="l" defTabSz="914400" rtl="0" eaLnBrk="1" latinLnBrk="0" hangingPunct="1">
        <a:spcBef>
          <a:spcPts val="380"/>
        </a:spcBef>
        <a:buSzPct val="80000"/>
        <a:buFont typeface="Arial" pitchFamily="34" charset="0"/>
        <a:buChar char="•"/>
        <a:defRPr sz="16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4pPr>
      <a:lvl5pPr marL="1338263" indent="-179388" algn="l" defTabSz="914400" rtl="0" eaLnBrk="1" latinLnBrk="0" hangingPunct="1">
        <a:spcBef>
          <a:spcPts val="380"/>
        </a:spcBef>
        <a:buFont typeface="Arial" pitchFamily="34" charset="0"/>
        <a:buChar char="-"/>
        <a:defRPr lang="nl-BE" sz="1600" kern="1200" dirty="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ntfearthecommandline.blogspot.com/" TargetMode="External"/><Relationship Id="rId7" Type="http://schemas.openxmlformats.org/officeDocument/2006/relationships/hyperlink" Target="https://bootlin.com/doc/legacy/command-line/unix_linux_introduction.pdf" TargetMode="External"/><Relationship Id="rId2" Type="http://schemas.openxmlformats.org/officeDocument/2006/relationships/hyperlink" Target="http://dontfearthecommandline.blogspo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reilly.com/programming/free/ten-steps-to-linux-survival.csp?download=yes&amp;order=1274753" TargetMode="External"/><Relationship Id="rId5" Type="http://schemas.openxmlformats.org/officeDocument/2006/relationships/hyperlink" Target="https://www.oreilly.com/programming/free/ten-steps-to-linux" TargetMode="External"/><Relationship Id="rId4" Type="http://schemas.openxmlformats.org/officeDocument/2006/relationships/hyperlink" Target="https://linuxcommand.org/tlcl.ph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ldp.org/" TargetMode="External"/><Relationship Id="rId2" Type="http://schemas.openxmlformats.org/officeDocument/2006/relationships/hyperlink" Target="http://www.howtogeek.com/tag/linux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linuxjournal.com/" TargetMode="External"/><Relationship Id="rId4" Type="http://schemas.openxmlformats.org/officeDocument/2006/relationships/hyperlink" Target="http://www.lwn.net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scentrum.be/compute/terminal/wsl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py.sh/v86/?profile=archlinux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distrowatch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thname.com/fh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hyperlink" Target="http://www.thegeekstuff.com/2009/07/linux-ls-command-examples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geekstuff.com/2009/07/top-5-best-linux-text-editors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d/d2/Learning_the_vi_Editor.pdf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ftp://ftp.vim.org/pub/vim/doc/book/vimbook-OPL.pdf" TargetMode="Externa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geekstuff.com/2009/03/15-practical-unix-grep-command-examples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hyperlink" Target="http://www.thegeekstuff.com/2010/04/unix-tar-command-examples/" TargetMode="Externa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://www.thegeekstuff.com/2010/01/15-practical-unix-linux-top-command-exampl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hyperlink" Target="File%20Commands.xls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emf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scentrum.be/training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CAB395F-81A0-1262-79F7-C5ED9EF851A0}"/>
              </a:ext>
            </a:extLst>
          </p:cNvPr>
          <p:cNvSpPr/>
          <p:nvPr/>
        </p:nvSpPr>
        <p:spPr>
          <a:xfrm>
            <a:off x="0" y="6239770"/>
            <a:ext cx="9144000" cy="645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487848" y="2742341"/>
            <a:ext cx="4644352" cy="836944"/>
          </a:xfrm>
        </p:spPr>
        <p:txBody>
          <a:bodyPr/>
          <a:lstStyle/>
          <a:p>
            <a:r>
              <a:rPr lang="nl-BE" sz="4200" dirty="0"/>
              <a:t>Linux</a:t>
            </a:r>
            <a:r>
              <a:rPr lang="pl-PL" sz="4200" dirty="0"/>
              <a:t> - </a:t>
            </a:r>
            <a:r>
              <a:rPr lang="pl-PL" sz="4200" dirty="0" err="1"/>
              <a:t>introduction</a:t>
            </a:r>
            <a:endParaRPr lang="nl-BE" sz="420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487848" y="4019679"/>
            <a:ext cx="4500336" cy="1080000"/>
          </a:xfrm>
        </p:spPr>
        <p:txBody>
          <a:bodyPr/>
          <a:lstStyle/>
          <a:p>
            <a:r>
              <a:rPr lang="en-US" dirty="0"/>
              <a:t>Wouter Van Assche</a:t>
            </a:r>
          </a:p>
          <a:p>
            <a:endParaRPr lang="pl-PL" dirty="0"/>
          </a:p>
          <a:p>
            <a:r>
              <a:rPr lang="pl-PL" dirty="0"/>
              <a:t>ICTS Leuven</a:t>
            </a:r>
            <a:endParaRPr lang="nl-BE" dirty="0"/>
          </a:p>
        </p:txBody>
      </p:sp>
      <p:sp>
        <p:nvSpPr>
          <p:cNvPr id="10" name="Rectangle 9"/>
          <p:cNvSpPr/>
          <p:nvPr/>
        </p:nvSpPr>
        <p:spPr>
          <a:xfrm>
            <a:off x="169393" y="6275372"/>
            <a:ext cx="6244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800" dirty="0">
                <a:solidFill>
                  <a:schemeClr val="accent4">
                    <a:lumMod val="75000"/>
                  </a:schemeClr>
                </a:solidFill>
              </a:rPr>
              <a:t>https://hpcleuven.github.io/Linux-intro/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410" y="4127410"/>
            <a:ext cx="2730590" cy="27305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E58E53C-44AE-2AC0-9B70-433E9CB997E4}"/>
              </a:ext>
            </a:extLst>
          </p:cNvPr>
          <p:cNvGrpSpPr/>
          <p:nvPr/>
        </p:nvGrpSpPr>
        <p:grpSpPr>
          <a:xfrm>
            <a:off x="2376000" y="0"/>
            <a:ext cx="6473176" cy="1080000"/>
            <a:chOff x="2376000" y="0"/>
            <a:chExt cx="6473176" cy="1080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2FCBB7-135A-61D5-A13C-7EC2571929C7}"/>
                </a:ext>
              </a:extLst>
            </p:cNvPr>
            <p:cNvSpPr/>
            <p:nvPr/>
          </p:nvSpPr>
          <p:spPr>
            <a:xfrm>
              <a:off x="2376000" y="0"/>
              <a:ext cx="6473176" cy="10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grpSp>
          <p:nvGrpSpPr>
            <p:cNvPr id="4" name="Group 14"/>
            <p:cNvGrpSpPr/>
            <p:nvPr/>
          </p:nvGrpSpPr>
          <p:grpSpPr>
            <a:xfrm>
              <a:off x="3096000" y="141149"/>
              <a:ext cx="1584176" cy="821425"/>
              <a:chOff x="2987824" y="764704"/>
              <a:chExt cx="1944216" cy="1008112"/>
            </a:xfrm>
          </p:grpSpPr>
          <p:sp>
            <p:nvSpPr>
              <p:cNvPr id="5" name="Rectangle 15"/>
              <p:cNvSpPr/>
              <p:nvPr/>
            </p:nvSpPr>
            <p:spPr>
              <a:xfrm>
                <a:off x="2987824" y="764704"/>
                <a:ext cx="1944216" cy="10081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nl-BE"/>
              </a:p>
            </p:txBody>
          </p:sp>
          <p:pic>
            <p:nvPicPr>
              <p:cNvPr id="6" name="Picture 27" descr="ogo universiteit hasselt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0307" y="838648"/>
                <a:ext cx="1805058" cy="8389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" name="Group 10"/>
            <p:cNvGrpSpPr>
              <a:grpSpLocks noChangeAspect="1"/>
            </p:cNvGrpSpPr>
            <p:nvPr/>
          </p:nvGrpSpPr>
          <p:grpSpPr>
            <a:xfrm>
              <a:off x="5035386" y="43296"/>
              <a:ext cx="3384376" cy="948458"/>
              <a:chOff x="4788024" y="-21230"/>
              <a:chExt cx="4459233" cy="124968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4788024" y="-1"/>
                <a:ext cx="4385137" cy="12284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88024" y="-21230"/>
                <a:ext cx="4459233" cy="1249683"/>
              </a:xfrm>
              <a:prstGeom prst="rect">
                <a:avLst/>
              </a:prstGeom>
            </p:spPr>
          </p:pic>
        </p:grpSp>
      </p:grpSp>
      <p:pic>
        <p:nvPicPr>
          <p:cNvPr id="7" name="Picture 8" descr="http://clipartist.net/links/clipartist.net/tux_enhanced_penguin-555px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710" y="2355864"/>
            <a:ext cx="1548764" cy="171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41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349999"/>
            <a:ext cx="8334000" cy="3663177"/>
          </a:xfrm>
        </p:spPr>
        <p:txBody>
          <a:bodyPr numCol="1"/>
          <a:lstStyle/>
          <a:p>
            <a:r>
              <a:rPr lang="en-US" sz="2200" dirty="0"/>
              <a:t>Introduction</a:t>
            </a:r>
          </a:p>
          <a:p>
            <a:pPr marL="359637" lvl="1" indent="0">
              <a:buNone/>
            </a:pPr>
            <a:r>
              <a:rPr lang="en-US" sz="2200" b="1" dirty="0"/>
              <a:t>Hands-on 1</a:t>
            </a:r>
          </a:p>
          <a:p>
            <a:r>
              <a:rPr lang="en-US" sz="2200" dirty="0"/>
              <a:t>Command line basics</a:t>
            </a:r>
          </a:p>
          <a:p>
            <a:r>
              <a:rPr lang="en-US" sz="2200" dirty="0"/>
              <a:t>The Linux file system</a:t>
            </a:r>
          </a:p>
          <a:p>
            <a:pPr marL="359637" lvl="1" indent="0">
              <a:buNone/>
            </a:pPr>
            <a:r>
              <a:rPr lang="en-US" sz="2200" b="1" dirty="0"/>
              <a:t>Hands-on 2</a:t>
            </a:r>
          </a:p>
          <a:p>
            <a:r>
              <a:rPr lang="en-US" sz="2200" dirty="0"/>
              <a:t>File manipulation</a:t>
            </a:r>
          </a:p>
          <a:p>
            <a:r>
              <a:rPr lang="en-US" sz="2200" dirty="0"/>
              <a:t>Text editing</a:t>
            </a:r>
          </a:p>
          <a:p>
            <a:pPr marL="359637" lvl="1" indent="0">
              <a:buNone/>
            </a:pPr>
            <a:r>
              <a:rPr lang="en-US" sz="2200" b="1" dirty="0"/>
              <a:t>Hands-on 3</a:t>
            </a:r>
          </a:p>
          <a:p>
            <a:r>
              <a:rPr lang="en-US" sz="2200" dirty="0"/>
              <a:t>Archiving</a:t>
            </a:r>
          </a:p>
          <a:p>
            <a:r>
              <a:rPr lang="en-US" sz="2200" dirty="0"/>
              <a:t>Users, groups &amp; security</a:t>
            </a:r>
          </a:p>
          <a:p>
            <a:r>
              <a:rPr lang="en-US" sz="2200" dirty="0"/>
              <a:t>Process control</a:t>
            </a:r>
            <a:endParaRPr lang="en-US" sz="2200" b="1" dirty="0"/>
          </a:p>
          <a:p>
            <a:pPr marL="359637" lvl="1" indent="0">
              <a:buNone/>
            </a:pPr>
            <a:r>
              <a:rPr lang="en-US" sz="2200" b="1" dirty="0"/>
              <a:t>Hands-on 4</a:t>
            </a:r>
          </a:p>
          <a:p>
            <a:pPr marL="359637" lvl="1" indent="0">
              <a:buNone/>
            </a:pP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2571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Remark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200" dirty="0"/>
              <a:t>Commands will be displayed with </a:t>
            </a:r>
            <a:r>
              <a:rPr lang="en-US" sz="2200" dirty="0"/>
              <a:t>a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mono space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font</a:t>
            </a:r>
            <a:r>
              <a:rPr lang="pl-PL" sz="2200" dirty="0"/>
              <a:t> and will start always with prompt sign (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/>
              <a:t>) – which is already included in the command line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Key take aways are indicated 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</a:t>
            </a:fld>
            <a:endParaRPr lang="nl-NL" dirty="0"/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BD0735EA-56C8-D512-9DBE-94807FC8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5116521" y="2750409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12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6000" dirty="0" err="1"/>
              <a:t>Introduction</a:t>
            </a:r>
            <a:endParaRPr lang="nl-BE" sz="6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177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Purpose</a:t>
            </a:r>
            <a:r>
              <a:rPr lang="nl-BE" dirty="0"/>
              <a:t>	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2200" dirty="0"/>
              <a:t>Get a grip on the very basics: </a:t>
            </a:r>
            <a:r>
              <a:rPr lang="en-US" sz="2200" dirty="0"/>
              <a:t>an introduction to the (basic) Linux commands as normally used for computational research (e.g. </a:t>
            </a:r>
            <a:r>
              <a:rPr lang="pl-PL" sz="2200" dirty="0"/>
              <a:t>HPC </a:t>
            </a:r>
            <a:r>
              <a:rPr lang="en-US" sz="2200" dirty="0"/>
              <a:t>cluster)</a:t>
            </a:r>
          </a:p>
          <a:p>
            <a:r>
              <a:rPr lang="nl-BE" sz="2200" dirty="0"/>
              <a:t>Focus on </a:t>
            </a:r>
            <a:r>
              <a:rPr lang="en-US" sz="2200" dirty="0"/>
              <a:t>using</a:t>
            </a:r>
            <a:r>
              <a:rPr lang="nl-BE" sz="2200" dirty="0"/>
              <a:t> </a:t>
            </a:r>
            <a:r>
              <a:rPr lang="nl-BE" sz="2200" dirty="0" err="1"/>
              <a:t>the</a:t>
            </a:r>
            <a:r>
              <a:rPr lang="nl-BE" sz="2200" dirty="0"/>
              <a:t> </a:t>
            </a:r>
            <a:r>
              <a:rPr lang="en-AU" sz="2200" dirty="0"/>
              <a:t>command</a:t>
            </a:r>
            <a:r>
              <a:rPr lang="nl-BE" sz="2200" dirty="0"/>
              <a:t> line</a:t>
            </a:r>
          </a:p>
          <a:p>
            <a:r>
              <a:rPr lang="en-US" sz="2200" dirty="0"/>
              <a:t>Short hands-on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54240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196752"/>
            <a:ext cx="8604000" cy="48512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Most of the presentation is based on the information found in:</a:t>
            </a:r>
            <a:endParaRPr lang="en-US" sz="2200" dirty="0">
              <a:hlinkClick r:id="rId2"/>
            </a:endParaRPr>
          </a:p>
          <a:p>
            <a:r>
              <a:rPr lang="en-US" sz="2200" b="1" dirty="0"/>
              <a:t>Introduction to the Command Line (Second Edition) </a:t>
            </a:r>
            <a:br>
              <a:rPr lang="en-US" sz="2200" b="1" dirty="0"/>
            </a:br>
            <a:r>
              <a:rPr lang="en-US" sz="1800" dirty="0"/>
              <a:t>Nicholas Marsh</a:t>
            </a:r>
            <a:br>
              <a:rPr lang="en-US" sz="1800" dirty="0"/>
            </a:br>
            <a:r>
              <a:rPr lang="en-US" sz="1800" dirty="0">
                <a:hlinkClick r:id="rId3"/>
              </a:rPr>
              <a:t>https://dontfearthecommandline.blogspot.com/</a:t>
            </a:r>
            <a:endParaRPr lang="en-US" sz="1800" dirty="0"/>
          </a:p>
          <a:p>
            <a:r>
              <a:rPr lang="nl-BE" sz="2200" b="1" dirty="0"/>
              <a:t>The Linux </a:t>
            </a:r>
            <a:r>
              <a:rPr lang="nl-BE" sz="2200" b="1" dirty="0" err="1"/>
              <a:t>Command</a:t>
            </a:r>
            <a:r>
              <a:rPr lang="nl-BE" sz="2200" b="1" dirty="0"/>
              <a:t> Line</a:t>
            </a:r>
            <a:br>
              <a:rPr lang="nl-BE" sz="2200" b="1" dirty="0"/>
            </a:br>
            <a:r>
              <a:rPr lang="nl-BE" sz="1800" dirty="0"/>
              <a:t>William </a:t>
            </a:r>
            <a:r>
              <a:rPr lang="nl-BE" sz="1800" dirty="0" err="1"/>
              <a:t>Shotts</a:t>
            </a:r>
            <a:br>
              <a:rPr lang="nl-BE" sz="1800" dirty="0"/>
            </a:br>
            <a:r>
              <a:rPr lang="nl-BE" sz="1800" dirty="0">
                <a:hlinkClick r:id="rId4"/>
              </a:rPr>
              <a:t>https://linuxcommand.org/tlcl.php</a:t>
            </a:r>
            <a:endParaRPr lang="nl-BE" sz="1800" dirty="0"/>
          </a:p>
          <a:p>
            <a:r>
              <a:rPr lang="pl-PL" sz="2200" b="1" dirty="0"/>
              <a:t>Ten Steps to Linux Survival</a:t>
            </a:r>
            <a:br>
              <a:rPr lang="en-US" sz="2200" b="1" dirty="0"/>
            </a:br>
            <a:r>
              <a:rPr lang="pl-PL" sz="1800" dirty="0"/>
              <a:t>James Lehmer</a:t>
            </a:r>
            <a:br>
              <a:rPr lang="en-US" sz="1800"/>
            </a:br>
            <a:r>
              <a:rPr lang="pl-PL" sz="1800">
                <a:hlinkClick r:id="rId5"/>
              </a:rPr>
              <a:t>https://www.oreilly.com/programming/free/ten-steps-to-linux</a:t>
            </a:r>
            <a:r>
              <a:rPr lang="pl-PL" sz="1800">
                <a:hlinkClick r:id="rId6"/>
              </a:rPr>
              <a:t>-survival</a:t>
            </a:r>
            <a:r>
              <a:rPr lang="pl-PL" sz="1800" dirty="0">
                <a:hlinkClick r:id="rId6"/>
              </a:rPr>
              <a:t>.csp?download=yes&amp;order=1274753</a:t>
            </a:r>
            <a:endParaRPr lang="pl-PL" sz="1800" dirty="0"/>
          </a:p>
          <a:p>
            <a:r>
              <a:rPr lang="nl-BE" sz="2200" b="1" dirty="0"/>
              <a:t>The Unix </a:t>
            </a:r>
            <a:r>
              <a:rPr lang="nl-BE" sz="2200" b="1" dirty="0" err="1"/>
              <a:t>and</a:t>
            </a:r>
            <a:r>
              <a:rPr lang="nl-BE" sz="2200" b="1" dirty="0"/>
              <a:t> GNU/Linux </a:t>
            </a:r>
            <a:r>
              <a:rPr lang="nl-BE" sz="2200" b="1" dirty="0" err="1"/>
              <a:t>command</a:t>
            </a:r>
            <a:r>
              <a:rPr lang="nl-BE" sz="2200" b="1" dirty="0"/>
              <a:t> line</a:t>
            </a:r>
            <a:br>
              <a:rPr lang="nl-BE" sz="2200" b="1" dirty="0"/>
            </a:br>
            <a:r>
              <a:rPr lang="nl-BE" sz="1800" dirty="0"/>
              <a:t>Michael </a:t>
            </a:r>
            <a:r>
              <a:rPr lang="nl-BE" sz="1800" dirty="0" err="1"/>
              <a:t>Opdenacker</a:t>
            </a:r>
            <a:r>
              <a:rPr lang="nl-BE" sz="1800" dirty="0"/>
              <a:t> &amp; Thomas </a:t>
            </a:r>
            <a:r>
              <a:rPr lang="nl-BE" sz="1800" dirty="0" err="1"/>
              <a:t>Petazzoni</a:t>
            </a:r>
            <a:br>
              <a:rPr lang="nl-BE" sz="1800" dirty="0"/>
            </a:br>
            <a:r>
              <a:rPr lang="nl-BE" sz="1800" dirty="0">
                <a:hlinkClick r:id="rId7"/>
              </a:rPr>
              <a:t>https://bootlin.com/doc/legacy/command-line/unix_linux_introduction.pdf</a:t>
            </a:r>
            <a:endParaRPr lang="nl-BE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466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Websites?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u="sng" dirty="0">
                <a:hlinkClick r:id="rId2"/>
              </a:rPr>
              <a:t>https://www.howtogeek.com/tag/linux/</a:t>
            </a:r>
            <a:endParaRPr lang="en-US" sz="2200" b="1" u="sng" dirty="0"/>
          </a:p>
          <a:p>
            <a:pPr lvl="1"/>
            <a:r>
              <a:rPr lang="en-US" sz="2200" dirty="0"/>
              <a:t>Includes help, tutorials, tips and how-to guides for Linux.</a:t>
            </a:r>
          </a:p>
          <a:p>
            <a:r>
              <a:rPr lang="en-US" sz="2200" b="1" u="sng" dirty="0">
                <a:hlinkClick r:id="rId3"/>
              </a:rPr>
              <a:t>https://www.tldp.org</a:t>
            </a:r>
            <a:endParaRPr lang="en-US" sz="2200" b="1" dirty="0"/>
          </a:p>
          <a:p>
            <a:pPr lvl="1"/>
            <a:r>
              <a:rPr lang="en-US" sz="2200" dirty="0"/>
              <a:t>The Linux Documentation Project </a:t>
            </a:r>
          </a:p>
          <a:p>
            <a:r>
              <a:rPr lang="en-US" sz="2200" b="1" u="sng" dirty="0">
                <a:hlinkClick r:id="rId4"/>
              </a:rPr>
              <a:t>https://www.lwn.net</a:t>
            </a:r>
            <a:endParaRPr lang="en-US" sz="2200" b="1" u="sng" dirty="0"/>
          </a:p>
          <a:p>
            <a:pPr lvl="1"/>
            <a:r>
              <a:rPr lang="en-US" sz="2200" dirty="0"/>
              <a:t>Linux Weekly News:Covering the Linux and free software communities since 1998. </a:t>
            </a:r>
          </a:p>
          <a:p>
            <a:r>
              <a:rPr lang="en-US" sz="2200" b="1" u="sng" dirty="0">
                <a:hlinkClick r:id="rId5"/>
              </a:rPr>
              <a:t>https://www.linuxjournal.com</a:t>
            </a:r>
            <a:endParaRPr lang="en-US" sz="2200" b="1" dirty="0"/>
          </a:p>
          <a:p>
            <a:pPr lvl="1"/>
            <a:r>
              <a:rPr lang="en-US" sz="2200" dirty="0"/>
              <a:t>The monthly magazine of the Linux community, promoting the use of Linux worldwide.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630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Try</a:t>
            </a:r>
            <a:r>
              <a:rPr lang="nl-BE" dirty="0"/>
              <a:t> </a:t>
            </a:r>
            <a:r>
              <a:rPr lang="nl-BE" dirty="0" err="1"/>
              <a:t>it</a:t>
            </a:r>
            <a:r>
              <a:rPr lang="nl-BE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/>
              <a:t>Install Windows Subsystem for Linux</a:t>
            </a:r>
          </a:p>
          <a:p>
            <a:pPr lvl="1"/>
            <a:r>
              <a:rPr lang="en-US" sz="2000" dirty="0">
                <a:hlinkClick r:id="rId3"/>
              </a:rPr>
              <a:t>Installing WSL2 on windows — VSC documentation</a:t>
            </a:r>
            <a:endParaRPr lang="en-US" sz="2000" dirty="0"/>
          </a:p>
          <a:p>
            <a:pPr marL="359637" lvl="1" indent="0">
              <a:buNone/>
            </a:pPr>
            <a:endParaRPr lang="en-US" sz="2000" dirty="0">
              <a:cs typeface="Courier New" panose="02070309020205020404" pitchFamily="49" charset="0"/>
            </a:endParaRPr>
          </a:p>
          <a:p>
            <a:r>
              <a:rPr lang="en-US" sz="2200" b="1" dirty="0"/>
              <a:t>Web-based </a:t>
            </a:r>
            <a:r>
              <a:rPr lang="en-US" sz="2200" b="1" dirty="0" err="1"/>
              <a:t>linux</a:t>
            </a:r>
            <a:r>
              <a:rPr lang="en-US" sz="2200" b="1" dirty="0"/>
              <a:t> terminal</a:t>
            </a:r>
          </a:p>
          <a:p>
            <a:pPr lvl="1"/>
            <a:r>
              <a:rPr lang="nl-BE" sz="2000" dirty="0" err="1">
                <a:hlinkClick r:id="rId4"/>
              </a:rPr>
              <a:t>Arch</a:t>
            </a:r>
            <a:r>
              <a:rPr lang="nl-BE" sz="2000" dirty="0">
                <a:hlinkClick r:id="rId4"/>
              </a:rPr>
              <a:t> Linux </a:t>
            </a:r>
            <a:r>
              <a:rPr lang="nl-BE" sz="2000">
                <a:hlinkClick r:id="rId4"/>
              </a:rPr>
              <a:t>- v86</a:t>
            </a:r>
            <a:r>
              <a:rPr lang="nl-BE" sz="2000"/>
              <a:t> https://copy.sh/v86/?profile=archlinux</a:t>
            </a:r>
            <a:endParaRPr lang="nl-B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992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2183F7-624E-A6CB-6B62-49E2A7510E04}"/>
              </a:ext>
            </a:extLst>
          </p:cNvPr>
          <p:cNvSpPr txBox="1">
            <a:spLocks/>
          </p:cNvSpPr>
          <p:nvPr/>
        </p:nvSpPr>
        <p:spPr>
          <a:xfrm>
            <a:off x="540000" y="1349999"/>
            <a:ext cx="8334000" cy="44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spcBef>
                <a:spcPts val="580"/>
              </a:spcBef>
              <a:buSzPct val="110000"/>
              <a:buFont typeface="Arial" pitchFamily="34" charset="0"/>
              <a:buChar char="•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20000" indent="-360363" algn="l" defTabSz="914400" rtl="0" eaLnBrk="1" latinLnBrk="0" hangingPunct="1">
              <a:spcBef>
                <a:spcPts val="580"/>
              </a:spcBef>
              <a:buSzPct val="75000"/>
              <a:buFont typeface="Courier New" pitchFamily="49" charset="0"/>
              <a:buChar char="o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90000" indent="-2700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168400" indent="-180000" algn="l" defTabSz="914400" rtl="0" eaLnBrk="1" latinLnBrk="0" hangingPunct="1">
              <a:spcBef>
                <a:spcPts val="380"/>
              </a:spcBef>
              <a:buSzPct val="80000"/>
              <a:buFont typeface="Arial" pitchFamily="34" charset="0"/>
              <a:buChar char="•"/>
              <a:defRPr sz="16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338263" indent="-179388" algn="l" defTabSz="914400" rtl="0" eaLnBrk="1" latinLnBrk="0" hangingPunct="1">
              <a:spcBef>
                <a:spcPts val="380"/>
              </a:spcBef>
              <a:buFont typeface="Arial" pitchFamily="34" charset="0"/>
              <a:buChar char="-"/>
              <a:defRPr lang="nl-BE" sz="1600" kern="1200" dirty="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BE" sz="2000" dirty="0"/>
              <a:t>Both Linux and Windows are based on foundations developed in the mid-1970s</a:t>
            </a:r>
            <a:endParaRPr lang="pl-PL" altLang="nl-BE" sz="2000" dirty="0"/>
          </a:p>
          <a:p>
            <a:r>
              <a:rPr lang="en-US" sz="2000" dirty="0"/>
              <a:t>Both DOS, MAC and UNIX are proprietary, i.e., the source code of their kernel is protected</a:t>
            </a:r>
          </a:p>
          <a:p>
            <a:r>
              <a:rPr lang="en-US" sz="2000" dirty="0"/>
              <a:t>No modification is possible without paying high license fees</a:t>
            </a:r>
          </a:p>
          <a:p>
            <a:pPr marL="0" indent="0">
              <a:buNone/>
            </a:pPr>
            <a:endParaRPr lang="en-US" altLang="nl-BE" sz="2000" dirty="0"/>
          </a:p>
        </p:txBody>
      </p:sp>
      <p:sp>
        <p:nvSpPr>
          <p:cNvPr id="60" name="Tijdelijke aanduiding voor dianummer 59"/>
          <p:cNvSpPr>
            <a:spLocks noGrp="1"/>
          </p:cNvSpPr>
          <p:nvPr>
            <p:ph type="sldNum" sz="quarter" idx="11"/>
          </p:nvPr>
        </p:nvSpPr>
        <p:spPr>
          <a:xfrm>
            <a:off x="8028384" y="6171399"/>
            <a:ext cx="1980000" cy="288000"/>
          </a:xfrm>
        </p:spPr>
        <p:txBody>
          <a:bodyPr/>
          <a:lstStyle/>
          <a:p>
            <a:fld id="{4E1C22BC-7982-4F56-B61B-2AB088DD0EFE}" type="slidenum">
              <a:rPr lang="en-GB" altLang="nl-BE"/>
              <a:pPr/>
              <a:t>9</a:t>
            </a:fld>
            <a:endParaRPr lang="en-GB" altLang="nl-BE"/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BE"/>
              <a:t>Windows and Linux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B70CD0-7859-893A-01CD-4808C919735E}"/>
              </a:ext>
            </a:extLst>
          </p:cNvPr>
          <p:cNvGrpSpPr/>
          <p:nvPr/>
        </p:nvGrpSpPr>
        <p:grpSpPr>
          <a:xfrm>
            <a:off x="732403" y="3184816"/>
            <a:ext cx="7005637" cy="3584575"/>
            <a:chOff x="608013" y="2895600"/>
            <a:chExt cx="7005637" cy="3584575"/>
          </a:xfrm>
        </p:grpSpPr>
        <p:sp>
          <p:nvSpPr>
            <p:cNvPr id="390148" name="Line 4"/>
            <p:cNvSpPr>
              <a:spLocks noChangeShapeType="1"/>
            </p:cNvSpPr>
            <p:nvPr/>
          </p:nvSpPr>
          <p:spPr bwMode="auto">
            <a:xfrm>
              <a:off x="985838" y="3500438"/>
              <a:ext cx="6627812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49" name="Text Box 5"/>
            <p:cNvSpPr txBox="1">
              <a:spLocks noChangeArrowheads="1"/>
            </p:cNvSpPr>
            <p:nvPr/>
          </p:nvSpPr>
          <p:spPr bwMode="auto">
            <a:xfrm>
              <a:off x="838200" y="2895600"/>
              <a:ext cx="692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1970</a:t>
              </a:r>
            </a:p>
          </p:txBody>
        </p:sp>
        <p:sp>
          <p:nvSpPr>
            <p:cNvPr id="390150" name="Text Box 6"/>
            <p:cNvSpPr txBox="1">
              <a:spLocks noChangeArrowheads="1"/>
            </p:cNvSpPr>
            <p:nvPr/>
          </p:nvSpPr>
          <p:spPr bwMode="auto">
            <a:xfrm>
              <a:off x="2616200" y="2895600"/>
              <a:ext cx="692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1980</a:t>
              </a:r>
            </a:p>
          </p:txBody>
        </p:sp>
        <p:sp>
          <p:nvSpPr>
            <p:cNvPr id="390151" name="Text Box 7"/>
            <p:cNvSpPr txBox="1">
              <a:spLocks noChangeArrowheads="1"/>
            </p:cNvSpPr>
            <p:nvPr/>
          </p:nvSpPr>
          <p:spPr bwMode="auto">
            <a:xfrm>
              <a:off x="4394200" y="2895600"/>
              <a:ext cx="692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1990</a:t>
              </a:r>
            </a:p>
          </p:txBody>
        </p:sp>
        <p:sp>
          <p:nvSpPr>
            <p:cNvPr id="390152" name="Text Box 8"/>
            <p:cNvSpPr txBox="1">
              <a:spLocks noChangeArrowheads="1"/>
            </p:cNvSpPr>
            <p:nvPr/>
          </p:nvSpPr>
          <p:spPr bwMode="auto">
            <a:xfrm>
              <a:off x="6172200" y="2895600"/>
              <a:ext cx="692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2000</a:t>
              </a:r>
            </a:p>
          </p:txBody>
        </p:sp>
        <p:sp>
          <p:nvSpPr>
            <p:cNvPr id="390153" name="Line 9"/>
            <p:cNvSpPr>
              <a:spLocks noChangeShapeType="1"/>
            </p:cNvSpPr>
            <p:nvPr/>
          </p:nvSpPr>
          <p:spPr bwMode="auto">
            <a:xfrm>
              <a:off x="1219200" y="3352800"/>
              <a:ext cx="0" cy="304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54" name="Line 10"/>
            <p:cNvSpPr>
              <a:spLocks noChangeShapeType="1"/>
            </p:cNvSpPr>
            <p:nvPr/>
          </p:nvSpPr>
          <p:spPr bwMode="auto">
            <a:xfrm>
              <a:off x="2057400" y="3429000"/>
              <a:ext cx="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55" name="Line 11"/>
            <p:cNvSpPr>
              <a:spLocks noChangeShapeType="1"/>
            </p:cNvSpPr>
            <p:nvPr/>
          </p:nvSpPr>
          <p:spPr bwMode="auto">
            <a:xfrm>
              <a:off x="2971800" y="3352800"/>
              <a:ext cx="0" cy="304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56" name="Line 12"/>
            <p:cNvSpPr>
              <a:spLocks noChangeShapeType="1"/>
            </p:cNvSpPr>
            <p:nvPr/>
          </p:nvSpPr>
          <p:spPr bwMode="auto">
            <a:xfrm>
              <a:off x="4800600" y="3352800"/>
              <a:ext cx="0" cy="304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57" name="Line 13"/>
            <p:cNvSpPr>
              <a:spLocks noChangeShapeType="1"/>
            </p:cNvSpPr>
            <p:nvPr/>
          </p:nvSpPr>
          <p:spPr bwMode="auto">
            <a:xfrm>
              <a:off x="6553200" y="3352800"/>
              <a:ext cx="0" cy="304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58" name="Line 14"/>
            <p:cNvSpPr>
              <a:spLocks noChangeShapeType="1"/>
            </p:cNvSpPr>
            <p:nvPr/>
          </p:nvSpPr>
          <p:spPr bwMode="auto">
            <a:xfrm>
              <a:off x="3886200" y="3429000"/>
              <a:ext cx="0" cy="1524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59" name="Line 15"/>
            <p:cNvSpPr>
              <a:spLocks noChangeShapeType="1"/>
            </p:cNvSpPr>
            <p:nvPr/>
          </p:nvSpPr>
          <p:spPr bwMode="auto">
            <a:xfrm>
              <a:off x="5638800" y="3429000"/>
              <a:ext cx="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60" name="AutoShape 16"/>
            <p:cNvSpPr>
              <a:spLocks noChangeArrowheads="1"/>
            </p:cNvSpPr>
            <p:nvPr/>
          </p:nvSpPr>
          <p:spPr bwMode="auto">
            <a:xfrm>
              <a:off x="9144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61" name="AutoShape 17"/>
            <p:cNvSpPr>
              <a:spLocks noChangeArrowheads="1"/>
            </p:cNvSpPr>
            <p:nvPr/>
          </p:nvSpPr>
          <p:spPr bwMode="auto">
            <a:xfrm>
              <a:off x="17526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62" name="AutoShape 18"/>
            <p:cNvSpPr>
              <a:spLocks noChangeArrowheads="1"/>
            </p:cNvSpPr>
            <p:nvPr/>
          </p:nvSpPr>
          <p:spPr bwMode="auto">
            <a:xfrm>
              <a:off x="21336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63" name="AutoShape 19"/>
            <p:cNvSpPr>
              <a:spLocks noChangeArrowheads="1"/>
            </p:cNvSpPr>
            <p:nvPr/>
          </p:nvSpPr>
          <p:spPr bwMode="auto">
            <a:xfrm>
              <a:off x="54102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64" name="Text Box 20"/>
            <p:cNvSpPr txBox="1">
              <a:spLocks noChangeArrowheads="1"/>
            </p:cNvSpPr>
            <p:nvPr/>
          </p:nvSpPr>
          <p:spPr bwMode="auto">
            <a:xfrm rot="-2771344">
              <a:off x="298450" y="3833813"/>
              <a:ext cx="893763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UNIX born</a:t>
              </a:r>
            </a:p>
          </p:txBody>
        </p:sp>
        <p:sp>
          <p:nvSpPr>
            <p:cNvPr id="390165" name="Text Box 21"/>
            <p:cNvSpPr txBox="1">
              <a:spLocks noChangeArrowheads="1"/>
            </p:cNvSpPr>
            <p:nvPr/>
          </p:nvSpPr>
          <p:spPr bwMode="auto">
            <a:xfrm rot="-2771344">
              <a:off x="938213" y="3705225"/>
              <a:ext cx="989012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UNIX public</a:t>
              </a:r>
            </a:p>
          </p:txBody>
        </p:sp>
        <p:sp>
          <p:nvSpPr>
            <p:cNvPr id="390166" name="Text Box 22"/>
            <p:cNvSpPr txBox="1">
              <a:spLocks noChangeArrowheads="1"/>
            </p:cNvSpPr>
            <p:nvPr/>
          </p:nvSpPr>
          <p:spPr bwMode="auto">
            <a:xfrm rot="-2771344">
              <a:off x="1655763" y="3756025"/>
              <a:ext cx="7762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UNIX V6</a:t>
              </a:r>
            </a:p>
          </p:txBody>
        </p:sp>
        <p:sp>
          <p:nvSpPr>
            <p:cNvPr id="390167" name="Text Box 23"/>
            <p:cNvSpPr txBox="1">
              <a:spLocks noChangeArrowheads="1"/>
            </p:cNvSpPr>
            <p:nvPr/>
          </p:nvSpPr>
          <p:spPr bwMode="auto">
            <a:xfrm rot="-2810857">
              <a:off x="4731544" y="3726657"/>
              <a:ext cx="8794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Linux v1.0</a:t>
              </a:r>
            </a:p>
          </p:txBody>
        </p:sp>
        <p:sp>
          <p:nvSpPr>
            <p:cNvPr id="390168" name="AutoShape 24"/>
            <p:cNvSpPr>
              <a:spLocks noChangeArrowheads="1"/>
            </p:cNvSpPr>
            <p:nvPr/>
          </p:nvSpPr>
          <p:spPr bwMode="auto">
            <a:xfrm>
              <a:off x="57150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0000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69" name="AutoShape 25"/>
            <p:cNvSpPr>
              <a:spLocks noChangeArrowheads="1"/>
            </p:cNvSpPr>
            <p:nvPr/>
          </p:nvSpPr>
          <p:spPr bwMode="auto">
            <a:xfrm>
              <a:off x="57912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70" name="AutoShape 26"/>
            <p:cNvSpPr>
              <a:spLocks noChangeArrowheads="1"/>
            </p:cNvSpPr>
            <p:nvPr/>
          </p:nvSpPr>
          <p:spPr bwMode="auto">
            <a:xfrm>
              <a:off x="63246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0000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71" name="AutoShape 27"/>
            <p:cNvSpPr>
              <a:spLocks noChangeArrowheads="1"/>
            </p:cNvSpPr>
            <p:nvPr/>
          </p:nvSpPr>
          <p:spPr bwMode="auto">
            <a:xfrm>
              <a:off x="64008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72" name="Text Box 28"/>
            <p:cNvSpPr txBox="1">
              <a:spLocks noChangeArrowheads="1"/>
            </p:cNvSpPr>
            <p:nvPr/>
          </p:nvSpPr>
          <p:spPr bwMode="auto">
            <a:xfrm rot="-2771344">
              <a:off x="5391150" y="3678238"/>
              <a:ext cx="471487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v2.0</a:t>
              </a:r>
            </a:p>
          </p:txBody>
        </p:sp>
        <p:sp>
          <p:nvSpPr>
            <p:cNvPr id="390173" name="Text Box 29"/>
            <p:cNvSpPr txBox="1">
              <a:spLocks noChangeArrowheads="1"/>
            </p:cNvSpPr>
            <p:nvPr/>
          </p:nvSpPr>
          <p:spPr bwMode="auto">
            <a:xfrm rot="-2771344">
              <a:off x="5543550" y="3678238"/>
              <a:ext cx="471487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v2.1</a:t>
              </a:r>
            </a:p>
          </p:txBody>
        </p:sp>
        <p:sp>
          <p:nvSpPr>
            <p:cNvPr id="390174" name="Text Box 30"/>
            <p:cNvSpPr txBox="1">
              <a:spLocks noChangeArrowheads="1"/>
            </p:cNvSpPr>
            <p:nvPr/>
          </p:nvSpPr>
          <p:spPr bwMode="auto">
            <a:xfrm rot="-2771344">
              <a:off x="6000750" y="3678238"/>
              <a:ext cx="471487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v2.2</a:t>
              </a:r>
            </a:p>
          </p:txBody>
        </p:sp>
        <p:sp>
          <p:nvSpPr>
            <p:cNvPr id="390175" name="Text Box 31"/>
            <p:cNvSpPr txBox="1">
              <a:spLocks noChangeArrowheads="1"/>
            </p:cNvSpPr>
            <p:nvPr/>
          </p:nvSpPr>
          <p:spPr bwMode="auto">
            <a:xfrm rot="-2771344">
              <a:off x="6229350" y="3678238"/>
              <a:ext cx="471487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v2.3</a:t>
              </a:r>
            </a:p>
          </p:txBody>
        </p:sp>
        <p:sp>
          <p:nvSpPr>
            <p:cNvPr id="390176" name="Text Box 32"/>
            <p:cNvSpPr txBox="1">
              <a:spLocks noChangeArrowheads="1"/>
            </p:cNvSpPr>
            <p:nvPr/>
          </p:nvSpPr>
          <p:spPr bwMode="auto">
            <a:xfrm rot="-2771344">
              <a:off x="6457950" y="3678238"/>
              <a:ext cx="471487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v2.4</a:t>
              </a:r>
            </a:p>
          </p:txBody>
        </p:sp>
        <p:sp>
          <p:nvSpPr>
            <p:cNvPr id="390177" name="Text Box 33"/>
            <p:cNvSpPr txBox="1">
              <a:spLocks noChangeArrowheads="1"/>
            </p:cNvSpPr>
            <p:nvPr/>
          </p:nvSpPr>
          <p:spPr bwMode="auto">
            <a:xfrm rot="-2771344">
              <a:off x="6762750" y="3678238"/>
              <a:ext cx="471487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v2.6</a:t>
              </a:r>
            </a:p>
          </p:txBody>
        </p:sp>
        <p:sp>
          <p:nvSpPr>
            <p:cNvPr id="390178" name="AutoShape 34"/>
            <p:cNvSpPr>
              <a:spLocks noChangeArrowheads="1"/>
            </p:cNvSpPr>
            <p:nvPr/>
          </p:nvSpPr>
          <p:spPr bwMode="auto">
            <a:xfrm>
              <a:off x="66294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79" name="AutoShape 35"/>
            <p:cNvSpPr>
              <a:spLocks noChangeArrowheads="1"/>
            </p:cNvSpPr>
            <p:nvPr/>
          </p:nvSpPr>
          <p:spPr bwMode="auto">
            <a:xfrm>
              <a:off x="7010400" y="34290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80" name="Line 36"/>
            <p:cNvSpPr>
              <a:spLocks noChangeShapeType="1"/>
            </p:cNvSpPr>
            <p:nvPr/>
          </p:nvSpPr>
          <p:spPr bwMode="auto">
            <a:xfrm>
              <a:off x="985838" y="5181600"/>
              <a:ext cx="6627812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81" name="Text Box 37"/>
            <p:cNvSpPr txBox="1">
              <a:spLocks noChangeArrowheads="1"/>
            </p:cNvSpPr>
            <p:nvPr/>
          </p:nvSpPr>
          <p:spPr bwMode="auto">
            <a:xfrm>
              <a:off x="838200" y="4576763"/>
              <a:ext cx="6921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1970</a:t>
              </a:r>
            </a:p>
          </p:txBody>
        </p:sp>
        <p:sp>
          <p:nvSpPr>
            <p:cNvPr id="390182" name="Text Box 38"/>
            <p:cNvSpPr txBox="1">
              <a:spLocks noChangeArrowheads="1"/>
            </p:cNvSpPr>
            <p:nvPr/>
          </p:nvSpPr>
          <p:spPr bwMode="auto">
            <a:xfrm>
              <a:off x="2616200" y="4576763"/>
              <a:ext cx="6921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1980</a:t>
              </a:r>
            </a:p>
          </p:txBody>
        </p:sp>
        <p:sp>
          <p:nvSpPr>
            <p:cNvPr id="390183" name="Text Box 39"/>
            <p:cNvSpPr txBox="1">
              <a:spLocks noChangeArrowheads="1"/>
            </p:cNvSpPr>
            <p:nvPr/>
          </p:nvSpPr>
          <p:spPr bwMode="auto">
            <a:xfrm>
              <a:off x="4394200" y="4576763"/>
              <a:ext cx="6921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1990</a:t>
              </a:r>
            </a:p>
          </p:txBody>
        </p:sp>
        <p:sp>
          <p:nvSpPr>
            <p:cNvPr id="390184" name="Text Box 40"/>
            <p:cNvSpPr txBox="1">
              <a:spLocks noChangeArrowheads="1"/>
            </p:cNvSpPr>
            <p:nvPr/>
          </p:nvSpPr>
          <p:spPr bwMode="auto">
            <a:xfrm>
              <a:off x="6172200" y="4576763"/>
              <a:ext cx="6921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800"/>
                <a:t>2000</a:t>
              </a:r>
            </a:p>
          </p:txBody>
        </p:sp>
        <p:sp>
          <p:nvSpPr>
            <p:cNvPr id="390185" name="Line 41"/>
            <p:cNvSpPr>
              <a:spLocks noChangeShapeType="1"/>
            </p:cNvSpPr>
            <p:nvPr/>
          </p:nvSpPr>
          <p:spPr bwMode="auto">
            <a:xfrm>
              <a:off x="1219200" y="5033963"/>
              <a:ext cx="0" cy="304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86" name="Line 42"/>
            <p:cNvSpPr>
              <a:spLocks noChangeShapeType="1"/>
            </p:cNvSpPr>
            <p:nvPr/>
          </p:nvSpPr>
          <p:spPr bwMode="auto">
            <a:xfrm>
              <a:off x="2057400" y="5110163"/>
              <a:ext cx="0" cy="1524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87" name="Line 43"/>
            <p:cNvSpPr>
              <a:spLocks noChangeShapeType="1"/>
            </p:cNvSpPr>
            <p:nvPr/>
          </p:nvSpPr>
          <p:spPr bwMode="auto">
            <a:xfrm>
              <a:off x="2971800" y="5033963"/>
              <a:ext cx="0" cy="304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88" name="Line 44"/>
            <p:cNvSpPr>
              <a:spLocks noChangeShapeType="1"/>
            </p:cNvSpPr>
            <p:nvPr/>
          </p:nvSpPr>
          <p:spPr bwMode="auto">
            <a:xfrm>
              <a:off x="4800600" y="5033963"/>
              <a:ext cx="0" cy="304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89" name="Line 45"/>
            <p:cNvSpPr>
              <a:spLocks noChangeShapeType="1"/>
            </p:cNvSpPr>
            <p:nvPr/>
          </p:nvSpPr>
          <p:spPr bwMode="auto">
            <a:xfrm>
              <a:off x="6553200" y="5033963"/>
              <a:ext cx="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90" name="Line 46"/>
            <p:cNvSpPr>
              <a:spLocks noChangeShapeType="1"/>
            </p:cNvSpPr>
            <p:nvPr/>
          </p:nvSpPr>
          <p:spPr bwMode="auto">
            <a:xfrm>
              <a:off x="3886200" y="5110163"/>
              <a:ext cx="0" cy="1524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91" name="Line 47"/>
            <p:cNvSpPr>
              <a:spLocks noChangeShapeType="1"/>
            </p:cNvSpPr>
            <p:nvPr/>
          </p:nvSpPr>
          <p:spPr bwMode="auto">
            <a:xfrm>
              <a:off x="5638800" y="5110163"/>
              <a:ext cx="0" cy="1524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0192" name="AutoShape 48"/>
            <p:cNvSpPr>
              <a:spLocks noChangeArrowheads="1"/>
            </p:cNvSpPr>
            <p:nvPr/>
          </p:nvSpPr>
          <p:spPr bwMode="auto">
            <a:xfrm>
              <a:off x="2470150" y="5113338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93" name="AutoShape 49"/>
            <p:cNvSpPr>
              <a:spLocks noChangeArrowheads="1"/>
            </p:cNvSpPr>
            <p:nvPr/>
          </p:nvSpPr>
          <p:spPr bwMode="auto">
            <a:xfrm>
              <a:off x="5181600" y="5110163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94" name="Text Box 50"/>
            <p:cNvSpPr txBox="1">
              <a:spLocks noChangeArrowheads="1"/>
            </p:cNvSpPr>
            <p:nvPr/>
          </p:nvSpPr>
          <p:spPr bwMode="auto">
            <a:xfrm rot="-2771344">
              <a:off x="1908969" y="5431631"/>
              <a:ext cx="8445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VMS v1.0</a:t>
              </a:r>
            </a:p>
          </p:txBody>
        </p:sp>
        <p:sp>
          <p:nvSpPr>
            <p:cNvPr id="390195" name="Text Box 51"/>
            <p:cNvSpPr txBox="1">
              <a:spLocks noChangeArrowheads="1"/>
            </p:cNvSpPr>
            <p:nvPr/>
          </p:nvSpPr>
          <p:spPr bwMode="auto">
            <a:xfrm rot="-2810857">
              <a:off x="4288632" y="5691981"/>
              <a:ext cx="130175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Windows NT 3.1</a:t>
              </a:r>
            </a:p>
          </p:txBody>
        </p:sp>
        <p:sp>
          <p:nvSpPr>
            <p:cNvPr id="390196" name="AutoShape 52"/>
            <p:cNvSpPr>
              <a:spLocks noChangeArrowheads="1"/>
            </p:cNvSpPr>
            <p:nvPr/>
          </p:nvSpPr>
          <p:spPr bwMode="auto">
            <a:xfrm>
              <a:off x="5715000" y="5110163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97" name="AutoShape 53"/>
            <p:cNvSpPr>
              <a:spLocks noChangeArrowheads="1"/>
            </p:cNvSpPr>
            <p:nvPr/>
          </p:nvSpPr>
          <p:spPr bwMode="auto">
            <a:xfrm>
              <a:off x="6477000" y="51054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198" name="Text Box 54"/>
            <p:cNvSpPr txBox="1">
              <a:spLocks noChangeArrowheads="1"/>
            </p:cNvSpPr>
            <p:nvPr/>
          </p:nvSpPr>
          <p:spPr bwMode="auto">
            <a:xfrm rot="-2771344">
              <a:off x="5284788" y="5461000"/>
              <a:ext cx="684212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 NT 4.0</a:t>
              </a:r>
            </a:p>
          </p:txBody>
        </p:sp>
        <p:sp>
          <p:nvSpPr>
            <p:cNvPr id="390199" name="Text Box 55"/>
            <p:cNvSpPr txBox="1">
              <a:spLocks noChangeArrowheads="1"/>
            </p:cNvSpPr>
            <p:nvPr/>
          </p:nvSpPr>
          <p:spPr bwMode="auto">
            <a:xfrm rot="-2771344">
              <a:off x="5596731" y="5631657"/>
              <a:ext cx="11842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Windows 2000</a:t>
              </a:r>
            </a:p>
          </p:txBody>
        </p:sp>
        <p:sp>
          <p:nvSpPr>
            <p:cNvPr id="390200" name="Text Box 56"/>
            <p:cNvSpPr txBox="1">
              <a:spLocks noChangeArrowheads="1"/>
            </p:cNvSpPr>
            <p:nvPr/>
          </p:nvSpPr>
          <p:spPr bwMode="auto">
            <a:xfrm rot="-2771344">
              <a:off x="6017419" y="5564981"/>
              <a:ext cx="10477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Windows XP</a:t>
              </a:r>
            </a:p>
          </p:txBody>
        </p:sp>
        <p:sp>
          <p:nvSpPr>
            <p:cNvPr id="390201" name="Text Box 57"/>
            <p:cNvSpPr txBox="1">
              <a:spLocks noChangeArrowheads="1"/>
            </p:cNvSpPr>
            <p:nvPr/>
          </p:nvSpPr>
          <p:spPr bwMode="auto">
            <a:xfrm rot="-2771344">
              <a:off x="6415087" y="5548313"/>
              <a:ext cx="10144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2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BE" sz="1200"/>
                <a:t>Server 2003</a:t>
              </a:r>
            </a:p>
          </p:txBody>
        </p:sp>
        <p:sp>
          <p:nvSpPr>
            <p:cNvPr id="390202" name="AutoShape 58"/>
            <p:cNvSpPr>
              <a:spLocks noChangeArrowheads="1"/>
            </p:cNvSpPr>
            <p:nvPr/>
          </p:nvSpPr>
          <p:spPr bwMode="auto">
            <a:xfrm>
              <a:off x="6781800" y="51054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0203" name="AutoShape 59"/>
            <p:cNvSpPr>
              <a:spLocks noChangeArrowheads="1"/>
            </p:cNvSpPr>
            <p:nvPr/>
          </p:nvSpPr>
          <p:spPr bwMode="auto">
            <a:xfrm>
              <a:off x="7086600" y="5105400"/>
              <a:ext cx="152400" cy="152400"/>
            </a:xfrm>
            <a:prstGeom prst="star4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</p:grp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DF07B3C4-8458-7714-99D2-CA1199293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283999" y="2178342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9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Some history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340769"/>
            <a:ext cx="8334000" cy="443723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GNU project</a:t>
            </a:r>
            <a:r>
              <a:rPr lang="pl-PL" sz="2000" dirty="0"/>
              <a:t>:</a:t>
            </a:r>
            <a:endParaRPr lang="en-US" sz="2000" dirty="0"/>
          </a:p>
          <a:p>
            <a:r>
              <a:rPr lang="en-US" sz="2000" dirty="0"/>
              <a:t>Established in 1984 by Richard Stallman</a:t>
            </a:r>
            <a:r>
              <a:rPr lang="pl-PL" sz="2000" dirty="0"/>
              <a:t> 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G</a:t>
            </a:r>
            <a:r>
              <a:rPr lang="pl-PL" sz="2000" dirty="0"/>
              <a:t>oal:</a:t>
            </a:r>
            <a:r>
              <a:rPr lang="en-US" sz="2000" dirty="0"/>
              <a:t> </a:t>
            </a:r>
            <a:r>
              <a:rPr lang="en-US" sz="2000" b="1" dirty="0"/>
              <a:t>software should be free </a:t>
            </a:r>
            <a:r>
              <a:rPr lang="en-US" sz="2000" dirty="0"/>
              <a:t>from restrictions against copying or modification in order to make better and efficient computer programs</a:t>
            </a:r>
            <a:r>
              <a:rPr lang="pl-PL" sz="2000" dirty="0"/>
              <a:t>),</a:t>
            </a:r>
            <a:r>
              <a:rPr lang="en-US" sz="2000" dirty="0"/>
              <a:t> </a:t>
            </a:r>
          </a:p>
          <a:p>
            <a:r>
              <a:rPr lang="en-US" sz="2000" dirty="0"/>
              <a:t>GNU is a recursive acronym for “</a:t>
            </a:r>
            <a:r>
              <a:rPr lang="en-US" sz="2000" b="1" dirty="0"/>
              <a:t>G</a:t>
            </a:r>
            <a:r>
              <a:rPr lang="en-US" sz="2000" dirty="0"/>
              <a:t>NU's </a:t>
            </a:r>
            <a:r>
              <a:rPr lang="en-US" sz="2000" b="1" dirty="0"/>
              <a:t>N</a:t>
            </a:r>
            <a:r>
              <a:rPr lang="en-US" sz="2000" dirty="0"/>
              <a:t>ot </a:t>
            </a:r>
            <a:r>
              <a:rPr lang="en-US" sz="2000" b="1" dirty="0"/>
              <a:t>U</a:t>
            </a:r>
            <a:r>
              <a:rPr lang="en-US" sz="2000" dirty="0"/>
              <a:t>nix”</a:t>
            </a:r>
            <a:r>
              <a:rPr lang="pl-PL" sz="2000" dirty="0"/>
              <a:t>,</a:t>
            </a:r>
          </a:p>
          <a:p>
            <a:r>
              <a:rPr lang="en-US" sz="2000" dirty="0"/>
              <a:t>Aim at developing a complete Unix-like operating system which is free for copying and modification</a:t>
            </a:r>
            <a:r>
              <a:rPr lang="pl-PL" sz="2000" dirty="0"/>
              <a:t>,</a:t>
            </a:r>
            <a:endParaRPr lang="en-US" sz="2000" dirty="0"/>
          </a:p>
          <a:p>
            <a:r>
              <a:rPr lang="en-US" sz="2000" dirty="0"/>
              <a:t>Companies make their money by maintaining and distributing the software, e.g. optimally packaging the software with different tools</a:t>
            </a:r>
            <a:r>
              <a:rPr lang="pl-PL" sz="2000" dirty="0"/>
              <a:t>,</a:t>
            </a:r>
          </a:p>
          <a:p>
            <a:r>
              <a:rPr lang="en-US" sz="2000" dirty="0"/>
              <a:t>Stallman built the first free GNU C Compiler in 1991. But still, an OS was yet to be developed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10</a:t>
            </a:fld>
            <a:endParaRPr lang="nl-NL"/>
          </a:p>
        </p:txBody>
      </p:sp>
      <p:pic>
        <p:nvPicPr>
          <p:cNvPr id="17412" name="Picture 4" descr="http://upload.wikimedia.org/wikipedia/commons/8/8e/NicoBZH_-_Richard_Stallman_%28by-sa%29_%285%2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598315"/>
            <a:ext cx="1728192" cy="172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2526FD26-ADE7-1419-24C3-FF6FCA214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256941" y="2605369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0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C5058D5-E8E9-43D3-A521-DC72FC3DF165}" type="slidenum">
              <a:rPr lang="en-US" altLang="nl-BE"/>
              <a:pPr/>
              <a:t>11</a:t>
            </a:fld>
            <a:endParaRPr lang="en-US" altLang="nl-BE"/>
          </a:p>
        </p:txBody>
      </p:sp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nl-BE" sz="3200" dirty="0"/>
              <a:t>Open Source Software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552" y="1661320"/>
            <a:ext cx="6408712" cy="4464843"/>
          </a:xfrm>
          <a:ln/>
        </p:spPr>
        <p:txBody>
          <a:bodyPr/>
          <a:lstStyle/>
          <a:p>
            <a:pPr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b="1" dirty="0"/>
              <a:t>Open Source Software (OSS) </a:t>
            </a:r>
            <a:r>
              <a:rPr lang="en-US" altLang="nl-BE" sz="1800" dirty="0"/>
              <a:t>generally refers to software for which the source code is available and which the licensing scheme permits the user to modify it and redistribute it in modified or unmodified form.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nl-BE" sz="1800" b="1" dirty="0"/>
          </a:p>
          <a:p>
            <a:pPr>
              <a:spcBef>
                <a:spcPts val="45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b="1" dirty="0"/>
              <a:t>GNU </a:t>
            </a:r>
            <a:r>
              <a:rPr lang="en-US" altLang="nl-BE" sz="1800" b="1" dirty="0" err="1"/>
              <a:t>copyleft</a:t>
            </a:r>
            <a:r>
              <a:rPr lang="pl-PL" altLang="nl-BE" sz="1800" b="1" dirty="0"/>
              <a:t> (</a:t>
            </a:r>
            <a:r>
              <a:rPr lang="en-US" altLang="nl-BE" sz="1800" dirty="0"/>
              <a:t>www.gnu.org</a:t>
            </a:r>
            <a:r>
              <a:rPr lang="pl-PL" altLang="nl-BE" sz="1800" b="1" dirty="0"/>
              <a:t>)</a:t>
            </a:r>
            <a:r>
              <a:rPr lang="pl-PL" altLang="nl-BE" sz="1800" b="1" baseline="30000" dirty="0"/>
              <a:t>  </a:t>
            </a:r>
            <a:endParaRPr lang="en-US" altLang="nl-BE" sz="1800" b="1" baseline="30000" dirty="0"/>
          </a:p>
          <a:p>
            <a:pPr marL="0" indent="0">
              <a:spcBef>
                <a:spcPts val="45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dirty="0"/>
              <a:t>Nobody should be restricted by the software they use. There are four freedoms that every user should have:</a:t>
            </a:r>
          </a:p>
          <a:p>
            <a:pPr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dirty="0"/>
              <a:t>the freedom to use the software for any purpose, </a:t>
            </a:r>
          </a:p>
          <a:p>
            <a:pPr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dirty="0"/>
              <a:t>the freedom to change the software to suit your needs, </a:t>
            </a:r>
          </a:p>
          <a:p>
            <a:pPr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dirty="0"/>
              <a:t>the freedom to share the software with your friends and neighbors, and </a:t>
            </a:r>
          </a:p>
          <a:p>
            <a:pPr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dirty="0"/>
              <a:t>the freedom to share the changes you make. </a:t>
            </a:r>
          </a:p>
          <a:p>
            <a:pPr marL="0" indent="0">
              <a:spcBef>
                <a:spcPts val="45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800" dirty="0"/>
              <a:t>When a program offers users all of these freedoms, we call it</a:t>
            </a:r>
            <a:r>
              <a:rPr lang="pl-PL" altLang="nl-BE" sz="1800" dirty="0"/>
              <a:t> free software</a:t>
            </a:r>
            <a:r>
              <a:rPr lang="en-US" altLang="nl-BE" sz="1800" dirty="0"/>
              <a:t>.</a:t>
            </a:r>
          </a:p>
        </p:txBody>
      </p:sp>
      <p:pic>
        <p:nvPicPr>
          <p:cNvPr id="1026" name="Picture 2" descr="http://upload.wikimedia.org/wikipedia/commons/thumb/3/39/Official_gnu.svg/563px-Official_gnu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005064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upload.wikimedia.org/wikipedia/commons/e/e1/Free_as_in_Freedom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722" y="1"/>
            <a:ext cx="222227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1192E748-6445-1AF4-57C3-F254BA0537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31508">
            <a:off x="263408" y="1957297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711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</a:t>
            </a:r>
            <a:r>
              <a:rPr lang="pl-PL" dirty="0"/>
              <a:t>n</a:t>
            </a:r>
            <a:r>
              <a:rPr lang="nl-BE" dirty="0" err="1"/>
              <a:t>ux</a:t>
            </a:r>
            <a:r>
              <a:rPr lang="nl-BE" dirty="0"/>
              <a:t>: </a:t>
            </a:r>
            <a:r>
              <a:rPr lang="nl-BE" dirty="0" err="1"/>
              <a:t>some</a:t>
            </a:r>
            <a:r>
              <a:rPr lang="nl-BE" dirty="0"/>
              <a:t> </a:t>
            </a:r>
            <a:r>
              <a:rPr lang="nl-BE" dirty="0" err="1"/>
              <a:t>history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1800" dirty="0">
                <a:latin typeface="+mn-lt"/>
              </a:rPr>
              <a:t>UNIX: </a:t>
            </a:r>
            <a:r>
              <a:rPr lang="nl-BE" sz="1800" dirty="0" err="1">
                <a:latin typeface="+mn-lt"/>
              </a:rPr>
              <a:t>roots</a:t>
            </a:r>
            <a:r>
              <a:rPr lang="nl-BE" sz="1800" dirty="0">
                <a:latin typeface="+mn-lt"/>
              </a:rPr>
              <a:t> in Bell Labs (AT&amp;T) </a:t>
            </a:r>
          </a:p>
          <a:p>
            <a:pPr>
              <a:spcBef>
                <a:spcPts val="600"/>
              </a:spcBef>
            </a:pPr>
            <a:r>
              <a:rPr lang="en-US" altLang="nl-BE" sz="1800" dirty="0"/>
              <a:t>1985 Free Software Foundation (FSF) founded by Richard Stallman.  Along with other programmers creates the tools needed to make a UNIX compatible OS</a:t>
            </a:r>
          </a:p>
          <a:p>
            <a:pPr>
              <a:spcBef>
                <a:spcPts val="600"/>
              </a:spcBef>
            </a:pPr>
            <a:r>
              <a:rPr lang="en-US" altLang="nl-BE" sz="1800" dirty="0"/>
              <a:t>1985 Professor Andy </a:t>
            </a:r>
            <a:r>
              <a:rPr lang="en-US" altLang="nl-BE" sz="1800" dirty="0" err="1"/>
              <a:t>Tannenbaum</a:t>
            </a:r>
            <a:r>
              <a:rPr lang="en-US" altLang="nl-BE" sz="1800" dirty="0"/>
              <a:t> creates a UNIX like operating system based on System V Unix for the IBM PC &amp; PC/AT computers.  It is called </a:t>
            </a:r>
            <a:r>
              <a:rPr lang="en-US" altLang="nl-BE" sz="1800" dirty="0" err="1"/>
              <a:t>Minix</a:t>
            </a:r>
            <a:r>
              <a:rPr lang="en-US" altLang="nl-BE" sz="1800" dirty="0"/>
              <a:t>.</a:t>
            </a:r>
          </a:p>
          <a:p>
            <a:pPr>
              <a:spcBef>
                <a:spcPts val="600"/>
              </a:spcBef>
            </a:pPr>
            <a:r>
              <a:rPr lang="en-US" altLang="nl-BE" sz="1800" dirty="0"/>
              <a:t>1989 Richard Stallman releases GPL and GNU software but lacks a free kernel.</a:t>
            </a:r>
          </a:p>
          <a:p>
            <a:pPr>
              <a:spcBef>
                <a:spcPts val="600"/>
              </a:spcBef>
            </a:pPr>
            <a:r>
              <a:rPr lang="en-US" altLang="nl-BE" sz="1800" dirty="0"/>
              <a:t>1991 Building on the concepts in </a:t>
            </a:r>
            <a:r>
              <a:rPr lang="en-US" altLang="nl-BE" sz="1800" dirty="0" err="1"/>
              <a:t>Minix</a:t>
            </a:r>
            <a:r>
              <a:rPr lang="en-US" altLang="nl-BE" sz="1800" dirty="0"/>
              <a:t>, </a:t>
            </a:r>
            <a:r>
              <a:rPr lang="en-US" altLang="nl-BE" sz="1800" b="1" dirty="0"/>
              <a:t>Linus Torvalds </a:t>
            </a:r>
            <a:r>
              <a:rPr lang="en-US" altLang="nl-BE" sz="1800" dirty="0"/>
              <a:t>(Finnish college student) </a:t>
            </a:r>
            <a:r>
              <a:rPr lang="en-US" altLang="nl-BE" sz="1800" b="1" dirty="0"/>
              <a:t>develops Linux </a:t>
            </a:r>
            <a:r>
              <a:rPr lang="en-US" altLang="nl-BE" sz="1800" dirty="0"/>
              <a:t>along with help from other users on the web.</a:t>
            </a:r>
          </a:p>
          <a:p>
            <a:endParaRPr lang="pl-PL" sz="1800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575" y="4725144"/>
            <a:ext cx="2691673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7" name="Graphic 6" descr="Key with solid fill">
            <a:extLst>
              <a:ext uri="{FF2B5EF4-FFF2-40B4-BE49-F238E27FC236}">
                <a16:creationId xmlns:a16="http://schemas.microsoft.com/office/drawing/2014/main" id="{D76AB27F-E12D-BC2A-8367-1181FFBCD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258833" y="4261552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Operating system?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40000" y="1349999"/>
            <a:ext cx="5130205" cy="4428000"/>
          </a:xfrm>
        </p:spPr>
        <p:txBody>
          <a:bodyPr/>
          <a:lstStyle/>
          <a:p>
            <a:r>
              <a:rPr lang="en-US" sz="2000" dirty="0"/>
              <a:t>Strictly speaking Linux refers to the kernel</a:t>
            </a:r>
          </a:p>
          <a:p>
            <a:r>
              <a:rPr lang="en-US" sz="2000" dirty="0"/>
              <a:t>GNU/Linux more accurately describes the Operating System.  Linux Kernel combined with GNU utilities and libraries</a:t>
            </a:r>
          </a:p>
          <a:p>
            <a:r>
              <a:rPr lang="en-US" sz="2000" dirty="0"/>
              <a:t>Distribution – GNU/Linux bundled with other applications.  Examples Red Hat Linux, </a:t>
            </a:r>
            <a:r>
              <a:rPr lang="en-US" sz="2000" dirty="0" err="1"/>
              <a:t>Debian</a:t>
            </a:r>
            <a:r>
              <a:rPr lang="en-US" sz="2000" dirty="0"/>
              <a:t>, Ubuntu, </a:t>
            </a:r>
            <a:r>
              <a:rPr lang="en-US" sz="2000" dirty="0" err="1"/>
              <a:t>Suse</a:t>
            </a:r>
            <a:r>
              <a:rPr lang="en-US" sz="2000" dirty="0"/>
              <a:t>, </a:t>
            </a:r>
            <a:r>
              <a:rPr lang="en-US" sz="2000" dirty="0" err="1"/>
              <a:t>Knoppix</a:t>
            </a:r>
            <a:r>
              <a:rPr lang="en-US" sz="2000" dirty="0"/>
              <a:t>, etc.</a:t>
            </a:r>
          </a:p>
          <a:p>
            <a:r>
              <a:rPr lang="en-US" sz="2000" dirty="0"/>
              <a:t>Distributions can be compiled and maintained by an individual or corporation. </a:t>
            </a:r>
          </a:p>
          <a:p>
            <a:endParaRPr lang="pl-PL" sz="2000" dirty="0">
              <a:solidFill>
                <a:srgbClr val="1D8DB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D8DB0"/>
                </a:solidFill>
                <a:hlinkClick r:id="rId2"/>
              </a:rPr>
              <a:t>www.distrowatch.com</a:t>
            </a:r>
            <a:r>
              <a:rPr lang="en-US" sz="2000" dirty="0"/>
              <a:t> for more information</a:t>
            </a:r>
          </a:p>
          <a:p>
            <a:pPr>
              <a:buNone/>
            </a:pPr>
            <a:endParaRPr lang="nl-B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13</a:t>
            </a:fld>
            <a:endParaRPr lang="nl-NL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BEE6C7-9398-F2F2-31A7-1EB70B9011CF}"/>
              </a:ext>
            </a:extLst>
          </p:cNvPr>
          <p:cNvGrpSpPr/>
          <p:nvPr/>
        </p:nvGrpSpPr>
        <p:grpSpPr>
          <a:xfrm>
            <a:off x="5966056" y="-149496"/>
            <a:ext cx="3804304" cy="3291320"/>
            <a:chOff x="6300192" y="929768"/>
            <a:chExt cx="3804304" cy="329132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5E327F4-54F8-5D77-2893-E4F04EE7FBD8}"/>
                </a:ext>
              </a:extLst>
            </p:cNvPr>
            <p:cNvGrpSpPr/>
            <p:nvPr/>
          </p:nvGrpSpPr>
          <p:grpSpPr>
            <a:xfrm>
              <a:off x="6300192" y="929768"/>
              <a:ext cx="3804304" cy="3291320"/>
              <a:chOff x="6300192" y="929768"/>
              <a:chExt cx="3804304" cy="32913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E3B5F0B-73DB-DB0B-11E2-81D1ECE8AB19}"/>
                  </a:ext>
                </a:extLst>
              </p:cNvPr>
              <p:cNvSpPr/>
              <p:nvPr/>
            </p:nvSpPr>
            <p:spPr>
              <a:xfrm>
                <a:off x="6300192" y="929768"/>
                <a:ext cx="3804304" cy="3291320"/>
              </a:xfrm>
              <a:prstGeom prst="ellipse">
                <a:avLst/>
              </a:prstGeom>
              <a:solidFill>
                <a:srgbClr val="1EA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6C68BB-3F72-1C86-15F3-9B2E93E66ECF}"/>
                  </a:ext>
                </a:extLst>
              </p:cNvPr>
              <p:cNvSpPr txBox="1"/>
              <p:nvPr/>
            </p:nvSpPr>
            <p:spPr>
              <a:xfrm>
                <a:off x="6533914" y="1184516"/>
                <a:ext cx="329399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2"/>
                    </a:solidFill>
                  </a:rPr>
                  <a:t>Distribution:</a:t>
                </a:r>
                <a:br>
                  <a:rPr lang="en-US" dirty="0">
                    <a:solidFill>
                      <a:schemeClr val="bg2"/>
                    </a:solidFill>
                  </a:rPr>
                </a:br>
                <a:r>
                  <a:rPr lang="en-US" dirty="0">
                    <a:solidFill>
                      <a:schemeClr val="bg2"/>
                    </a:solidFill>
                  </a:rPr>
                  <a:t>OS + apps</a:t>
                </a:r>
              </a:p>
              <a:p>
                <a:pPr algn="ctr"/>
                <a:r>
                  <a:rPr lang="en-US" dirty="0">
                    <a:solidFill>
                      <a:schemeClr val="bg2"/>
                    </a:solidFill>
                  </a:rPr>
                  <a:t>Ubuntu, Debian …</a:t>
                </a:r>
                <a:endParaRPr lang="nl-BE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B7651CE-8021-D3F7-A043-84D46024CAB0}"/>
                </a:ext>
              </a:extLst>
            </p:cNvPr>
            <p:cNvGrpSpPr/>
            <p:nvPr/>
          </p:nvGrpSpPr>
          <p:grpSpPr>
            <a:xfrm>
              <a:off x="6440993" y="2144113"/>
              <a:ext cx="3266989" cy="2044650"/>
              <a:chOff x="6440993" y="2333538"/>
              <a:chExt cx="3266989" cy="1854176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9E6B2B6-C7C2-D86B-A02D-375C54EADC6F}"/>
                  </a:ext>
                </a:extLst>
              </p:cNvPr>
              <p:cNvSpPr/>
              <p:nvPr/>
            </p:nvSpPr>
            <p:spPr>
              <a:xfrm>
                <a:off x="6634328" y="2333538"/>
                <a:ext cx="2880320" cy="1854176"/>
              </a:xfrm>
              <a:prstGeom prst="ellipse">
                <a:avLst/>
              </a:prstGeom>
              <a:solidFill>
                <a:srgbClr val="177E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B4BDB7-0544-7CD5-A5E2-085811C1C25A}"/>
                  </a:ext>
                </a:extLst>
              </p:cNvPr>
              <p:cNvSpPr txBox="1"/>
              <p:nvPr/>
            </p:nvSpPr>
            <p:spPr>
              <a:xfrm>
                <a:off x="6440993" y="2564576"/>
                <a:ext cx="3266989" cy="83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2"/>
                    </a:solidFill>
                  </a:rPr>
                  <a:t>Operating System:</a:t>
                </a:r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  <a:br>
                  <a:rPr lang="en-US" dirty="0">
                    <a:solidFill>
                      <a:schemeClr val="bg2"/>
                    </a:solidFill>
                  </a:rPr>
                </a:br>
                <a:r>
                  <a:rPr lang="en-US" dirty="0">
                    <a:solidFill>
                      <a:schemeClr val="bg2"/>
                    </a:solidFill>
                  </a:rPr>
                  <a:t>kernel + GNU tools</a:t>
                </a:r>
                <a:br>
                  <a:rPr lang="en-US" dirty="0">
                    <a:solidFill>
                      <a:schemeClr val="bg2"/>
                    </a:solidFill>
                  </a:rPr>
                </a:br>
                <a:r>
                  <a:rPr lang="en-US" dirty="0">
                    <a:solidFill>
                      <a:schemeClr val="bg2"/>
                    </a:solidFill>
                  </a:rPr>
                  <a:t>GNU/Linux</a:t>
                </a:r>
                <a:endParaRPr lang="nl-BE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929108A-D492-5C96-382D-0A7C85B4CDB6}"/>
                </a:ext>
              </a:extLst>
            </p:cNvPr>
            <p:cNvGrpSpPr/>
            <p:nvPr/>
          </p:nvGrpSpPr>
          <p:grpSpPr>
            <a:xfrm>
              <a:off x="7066376" y="3324631"/>
              <a:ext cx="1351850" cy="791757"/>
              <a:chOff x="6773988" y="3019582"/>
              <a:chExt cx="1224136" cy="81175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623974E-B3FA-482B-4045-C64539DE652C}"/>
                  </a:ext>
                </a:extLst>
              </p:cNvPr>
              <p:cNvSpPr/>
              <p:nvPr/>
            </p:nvSpPr>
            <p:spPr>
              <a:xfrm>
                <a:off x="6773988" y="3019582"/>
                <a:ext cx="1224136" cy="811758"/>
              </a:xfrm>
              <a:prstGeom prst="ellipse">
                <a:avLst/>
              </a:prstGeom>
              <a:solidFill>
                <a:srgbClr val="116E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55000D-86DA-EEC4-F86F-74A26F183045}"/>
                  </a:ext>
                </a:extLst>
              </p:cNvPr>
              <p:cNvSpPr txBox="1"/>
              <p:nvPr/>
            </p:nvSpPr>
            <p:spPr>
              <a:xfrm>
                <a:off x="6904398" y="3092026"/>
                <a:ext cx="9361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2"/>
                    </a:solidFill>
                  </a:rPr>
                  <a:t>Kernel:</a:t>
                </a:r>
                <a:r>
                  <a:rPr lang="en-US" dirty="0">
                    <a:solidFill>
                      <a:schemeClr val="bg2"/>
                    </a:solidFill>
                  </a:rPr>
                  <a:t> Linux</a:t>
                </a:r>
                <a:endParaRPr lang="nl-BE" dirty="0">
                  <a:solidFill>
                    <a:schemeClr val="bg2"/>
                  </a:solidFill>
                </a:endParaRPr>
              </a:p>
            </p:txBody>
          </p:sp>
        </p:grpSp>
      </p:grpSp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E28686D5-EBFE-6EED-2BEB-F92D3F656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5832995" y="74269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1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BE" dirty="0">
                <a:latin typeface="+mj-lt"/>
              </a:rPr>
              <a:t>Which Linux Distribution is better?</a:t>
            </a:r>
            <a:endParaRPr lang="nl-BE" dirty="0">
              <a:latin typeface="+mj-lt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>
                <a:latin typeface="+mj-lt"/>
              </a:rPr>
              <a:pPr/>
              <a:t>14</a:t>
            </a:fld>
            <a:endParaRPr lang="nl-NL">
              <a:latin typeface="+mj-lt"/>
            </a:endParaRPr>
          </a:p>
        </p:txBody>
      </p:sp>
      <p:sp>
        <p:nvSpPr>
          <p:cNvPr id="16" name=" 12"/>
          <p:cNvSpPr>
            <a:spLocks noGrp="1"/>
          </p:cNvSpPr>
          <p:nvPr/>
        </p:nvSpPr>
        <p:spPr bwMode="auto">
          <a:xfrm>
            <a:off x="3009900" y="6109494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http://www.cs.ucr.edu/~weesan/cs183/</a:t>
            </a:r>
          </a:p>
        </p:txBody>
      </p:sp>
      <p:sp>
        <p:nvSpPr>
          <p:cNvPr id="17" name="Rectangle 2"/>
          <p:cNvSpPr>
            <a:spLocks noGrp="1" noChangeArrowheads="1"/>
          </p:cNvSpPr>
          <p:nvPr/>
        </p:nvSpPr>
        <p:spPr bwMode="auto">
          <a:xfrm>
            <a:off x="342900" y="138907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endParaRPr lang="en-US" altLang="nl-BE" dirty="0"/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200062" y="1124744"/>
            <a:ext cx="28098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altLang="nl-BE" sz="1400" dirty="0">
                <a:solidFill>
                  <a:srgbClr val="182B52"/>
                </a:solidFill>
                <a:latin typeface="+mj-lt"/>
              </a:rPr>
              <a:t>Source: http://futurist.se/gldt/</a:t>
            </a:r>
          </a:p>
        </p:txBody>
      </p:sp>
      <p:grpSp>
        <p:nvGrpSpPr>
          <p:cNvPr id="3" name="Groep 2"/>
          <p:cNvGrpSpPr/>
          <p:nvPr/>
        </p:nvGrpSpPr>
        <p:grpSpPr>
          <a:xfrm>
            <a:off x="342900" y="1448528"/>
            <a:ext cx="7262628" cy="5334000"/>
            <a:chOff x="755576" y="793576"/>
            <a:chExt cx="7763058" cy="6019800"/>
          </a:xfrm>
        </p:grpSpPr>
        <p:pic>
          <p:nvPicPr>
            <p:cNvPr id="18" name="Picture 6" descr="gldt7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776" y="793576"/>
              <a:ext cx="5497513" cy="601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AutoShape 9"/>
            <p:cNvSpPr>
              <a:spLocks noChangeArrowheads="1"/>
            </p:cNvSpPr>
            <p:nvPr/>
          </p:nvSpPr>
          <p:spPr bwMode="auto">
            <a:xfrm>
              <a:off x="6927777" y="4298776"/>
              <a:ext cx="1581032" cy="533400"/>
            </a:xfrm>
            <a:prstGeom prst="wedgeEllipseCallout">
              <a:avLst>
                <a:gd name="adj1" fmla="val -46708"/>
                <a:gd name="adj2" fmla="val 120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CentOS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21" name="AutoShape 10"/>
            <p:cNvSpPr>
              <a:spLocks noChangeArrowheads="1"/>
            </p:cNvSpPr>
            <p:nvPr/>
          </p:nvSpPr>
          <p:spPr bwMode="auto">
            <a:xfrm>
              <a:off x="5098976" y="1098376"/>
              <a:ext cx="1447800" cy="381000"/>
            </a:xfrm>
            <a:prstGeom prst="wedgeEllipseCallout">
              <a:avLst>
                <a:gd name="adj1" fmla="val 85963"/>
                <a:gd name="adj2" fmla="val 2375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>
                  <a:latin typeface="+mj-lt"/>
                </a:rPr>
                <a:t>Ubuntu</a:t>
              </a:r>
            </a:p>
          </p:txBody>
        </p:sp>
        <p:sp>
          <p:nvSpPr>
            <p:cNvPr id="22" name="AutoShape 11"/>
            <p:cNvSpPr>
              <a:spLocks noChangeArrowheads="1"/>
            </p:cNvSpPr>
            <p:nvPr/>
          </p:nvSpPr>
          <p:spPr bwMode="auto">
            <a:xfrm>
              <a:off x="4336976" y="1784177"/>
              <a:ext cx="1600200" cy="457200"/>
            </a:xfrm>
            <a:prstGeom prst="wedgeEllipseCallout">
              <a:avLst>
                <a:gd name="adj1" fmla="val 88486"/>
                <a:gd name="adj2" fmla="val 2541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Knoppix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23" name="AutoShape 12"/>
            <p:cNvSpPr>
              <a:spLocks noChangeArrowheads="1"/>
            </p:cNvSpPr>
            <p:nvPr/>
          </p:nvSpPr>
          <p:spPr bwMode="auto">
            <a:xfrm>
              <a:off x="4336976" y="3536776"/>
              <a:ext cx="1447800" cy="381000"/>
            </a:xfrm>
            <a:prstGeom prst="wedgeEllipseCallout">
              <a:avLst>
                <a:gd name="adj1" fmla="val 78727"/>
                <a:gd name="adj2" fmla="val -1725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>
                  <a:latin typeface="+mj-lt"/>
                </a:rPr>
                <a:t>Gentoo</a:t>
              </a:r>
            </a:p>
          </p:txBody>
        </p:sp>
        <p:sp>
          <p:nvSpPr>
            <p:cNvPr id="24" name="AutoShape 16"/>
            <p:cNvSpPr>
              <a:spLocks noChangeArrowheads="1"/>
            </p:cNvSpPr>
            <p:nvPr/>
          </p:nvSpPr>
          <p:spPr bwMode="auto">
            <a:xfrm>
              <a:off x="755576" y="3536776"/>
              <a:ext cx="1905000" cy="381000"/>
            </a:xfrm>
            <a:prstGeom prst="wedgeEllipseCallout">
              <a:avLst>
                <a:gd name="adj1" fmla="val 73917"/>
                <a:gd name="adj2" fmla="val 55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Slackware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25" name="AutoShape 17"/>
            <p:cNvSpPr>
              <a:spLocks noChangeArrowheads="1"/>
            </p:cNvSpPr>
            <p:nvPr/>
          </p:nvSpPr>
          <p:spPr bwMode="auto">
            <a:xfrm>
              <a:off x="984176" y="5060776"/>
              <a:ext cx="1905000" cy="381000"/>
            </a:xfrm>
            <a:prstGeom prst="wedgeEllipseCallout">
              <a:avLst>
                <a:gd name="adj1" fmla="val 80750"/>
                <a:gd name="adj2" fmla="val 80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Redhat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26" name="AutoShape 18"/>
            <p:cNvSpPr>
              <a:spLocks noChangeArrowheads="1"/>
            </p:cNvSpPr>
            <p:nvPr/>
          </p:nvSpPr>
          <p:spPr bwMode="auto">
            <a:xfrm>
              <a:off x="755576" y="1479376"/>
              <a:ext cx="1905000" cy="381000"/>
            </a:xfrm>
            <a:prstGeom prst="wedgeEllipseCallout">
              <a:avLst>
                <a:gd name="adj1" fmla="val 77917"/>
                <a:gd name="adj2" fmla="val 35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Debian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27" name="AutoShape 9"/>
            <p:cNvSpPr>
              <a:spLocks noChangeArrowheads="1"/>
            </p:cNvSpPr>
            <p:nvPr/>
          </p:nvSpPr>
          <p:spPr bwMode="auto">
            <a:xfrm>
              <a:off x="6937602" y="4298776"/>
              <a:ext cx="1581032" cy="533400"/>
            </a:xfrm>
            <a:prstGeom prst="wedgeEllipseCallout">
              <a:avLst>
                <a:gd name="adj1" fmla="val -46708"/>
                <a:gd name="adj2" fmla="val 120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CentOS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28" name="AutoShape 16"/>
            <p:cNvSpPr>
              <a:spLocks noChangeArrowheads="1"/>
            </p:cNvSpPr>
            <p:nvPr/>
          </p:nvSpPr>
          <p:spPr bwMode="auto">
            <a:xfrm>
              <a:off x="765401" y="3536777"/>
              <a:ext cx="1905000" cy="381000"/>
            </a:xfrm>
            <a:prstGeom prst="wedgeEllipseCallout">
              <a:avLst>
                <a:gd name="adj1" fmla="val 73917"/>
                <a:gd name="adj2" fmla="val 55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Slackware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29" name="AutoShape 17"/>
            <p:cNvSpPr>
              <a:spLocks noChangeArrowheads="1"/>
            </p:cNvSpPr>
            <p:nvPr/>
          </p:nvSpPr>
          <p:spPr bwMode="auto">
            <a:xfrm>
              <a:off x="994002" y="5060776"/>
              <a:ext cx="1905000" cy="381000"/>
            </a:xfrm>
            <a:prstGeom prst="wedgeEllipseCallout">
              <a:avLst>
                <a:gd name="adj1" fmla="val 80750"/>
                <a:gd name="adj2" fmla="val 80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Redhat</a:t>
              </a:r>
              <a:endParaRPr lang="en-US" altLang="nl-BE" sz="1800" dirty="0">
                <a:latin typeface="+mj-lt"/>
              </a:endParaRPr>
            </a:p>
          </p:txBody>
        </p:sp>
        <p:sp>
          <p:nvSpPr>
            <p:cNvPr id="30" name="AutoShape 18"/>
            <p:cNvSpPr>
              <a:spLocks noChangeArrowheads="1"/>
            </p:cNvSpPr>
            <p:nvPr/>
          </p:nvSpPr>
          <p:spPr bwMode="auto">
            <a:xfrm>
              <a:off x="765401" y="1479376"/>
              <a:ext cx="1905000" cy="381000"/>
            </a:xfrm>
            <a:prstGeom prst="wedgeEllipseCallout">
              <a:avLst>
                <a:gd name="adj1" fmla="val 77917"/>
                <a:gd name="adj2" fmla="val 3583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nl-BE" sz="1800" dirty="0" err="1">
                  <a:latin typeface="+mj-lt"/>
                </a:rPr>
                <a:t>Debian</a:t>
              </a:r>
              <a:endParaRPr lang="en-US" altLang="nl-BE" sz="1800" dirty="0">
                <a:latin typeface="+mj-lt"/>
              </a:endParaRPr>
            </a:p>
          </p:txBody>
        </p:sp>
      </p:grpSp>
      <p:sp>
        <p:nvSpPr>
          <p:cNvPr id="31" name="Rectangle 2"/>
          <p:cNvSpPr>
            <a:spLocks noGrp="1" noChangeArrowheads="1"/>
          </p:cNvSpPr>
          <p:nvPr/>
        </p:nvSpPr>
        <p:spPr bwMode="auto">
          <a:xfrm>
            <a:off x="61091" y="5632666"/>
            <a:ext cx="3070749" cy="1684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41313" indent="-341313" algn="l" defTabSz="457200" rtl="0" fontAlgn="base"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1363" indent="-284163" algn="l" defTabSz="457200" rtl="0" fontAlgn="base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nl-BE" sz="1600" dirty="0">
                <a:latin typeface="+mj-lt"/>
              </a:rPr>
              <a:t>Red Hat (Enterprise) Linux is</a:t>
            </a:r>
            <a:r>
              <a:rPr lang="pl-PL" altLang="nl-BE" sz="1600" dirty="0">
                <a:latin typeface="+mj-lt"/>
              </a:rPr>
              <a:t> </a:t>
            </a:r>
            <a:r>
              <a:rPr lang="en-US" altLang="nl-BE" sz="1600" dirty="0">
                <a:latin typeface="+mj-lt"/>
              </a:rPr>
              <a:t>the largest commercial Linux vendor.  Focus on stability and long term support.  </a:t>
            </a:r>
          </a:p>
        </p:txBody>
      </p:sp>
    </p:spTree>
    <p:extLst>
      <p:ext uri="{BB962C8B-B14F-4D97-AF65-F5344CB8AC3E}">
        <p14:creationId xmlns:p14="http://schemas.microsoft.com/office/powerpoint/2010/main" val="246603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1710" y="3068960"/>
            <a:ext cx="381669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Linux </a:t>
            </a:r>
            <a:r>
              <a:rPr lang="nl-BE" dirty="0" err="1"/>
              <a:t>Kernel</a:t>
            </a:r>
            <a:r>
              <a:rPr lang="nl-BE" dirty="0"/>
              <a:t>	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aka: executive, system monitor.</a:t>
            </a:r>
          </a:p>
          <a:p>
            <a:r>
              <a:rPr lang="en-US" dirty="0"/>
              <a:t>The kernel provides a layer between the computer hardware and user applications. </a:t>
            </a:r>
          </a:p>
          <a:p>
            <a:r>
              <a:rPr lang="en-US" dirty="0"/>
              <a:t>Provides an interface for software to use hardware (no direct access)</a:t>
            </a:r>
          </a:p>
          <a:p>
            <a:r>
              <a:rPr lang="en-US" dirty="0"/>
              <a:t>Planning and assigning: </a:t>
            </a:r>
          </a:p>
          <a:p>
            <a:pPr lvl="1"/>
            <a:r>
              <a:rPr lang="en-US" dirty="0"/>
              <a:t>memory, CPU, disk, etc. </a:t>
            </a:r>
          </a:p>
          <a:p>
            <a:pPr lvl="1"/>
            <a:r>
              <a:rPr lang="en-US" dirty="0"/>
              <a:t>security aspects </a:t>
            </a:r>
          </a:p>
          <a:p>
            <a:pPr lvl="1"/>
            <a:r>
              <a:rPr lang="en-US" dirty="0"/>
              <a:t>Fulfill user requests (system calls). </a:t>
            </a:r>
          </a:p>
          <a:p>
            <a:pPr lvl="1"/>
            <a:r>
              <a:rPr lang="en-US" dirty="0"/>
              <a:t>File system, networking, ... 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15</a:t>
            </a:fld>
            <a:endParaRPr lang="nl-NL" dirty="0"/>
          </a:p>
        </p:txBody>
      </p:sp>
      <p:pic>
        <p:nvPicPr>
          <p:cNvPr id="7" name="Graphic 6" descr="Key with solid fill">
            <a:extLst>
              <a:ext uri="{FF2B5EF4-FFF2-40B4-BE49-F238E27FC236}">
                <a16:creationId xmlns:a16="http://schemas.microsoft.com/office/drawing/2014/main" id="{3FE8DECE-E9A8-A595-5450-0D4EF38CA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256939" y="2029304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25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jdelijke aanduiding voor dianumm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1AA9-B83B-4DB3-B2CC-F6F4D61DBE23}" type="slidenum">
              <a:rPr lang="zh-TW" altLang="en-US"/>
              <a:pPr/>
              <a:t>16</a:t>
            </a:fld>
            <a:endParaRPr lang="en-US" altLang="zh-TW"/>
          </a:p>
        </p:txBody>
      </p:sp>
      <p:grpSp>
        <p:nvGrpSpPr>
          <p:cNvPr id="2" name="Groep 1"/>
          <p:cNvGrpSpPr/>
          <p:nvPr/>
        </p:nvGrpSpPr>
        <p:grpSpPr>
          <a:xfrm>
            <a:off x="3152952" y="55493"/>
            <a:ext cx="5935715" cy="3610377"/>
            <a:chOff x="302840" y="1233264"/>
            <a:chExt cx="8229600" cy="4572000"/>
          </a:xfrm>
        </p:grpSpPr>
        <p:sp>
          <p:nvSpPr>
            <p:cNvPr id="235528" name="Rectangle 8"/>
            <p:cNvSpPr>
              <a:spLocks noChangeArrowheads="1"/>
            </p:cNvSpPr>
            <p:nvPr/>
          </p:nvSpPr>
          <p:spPr bwMode="auto">
            <a:xfrm>
              <a:off x="1445840" y="5043264"/>
              <a:ext cx="7086600" cy="762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  <a:ea typeface="新細明體" panose="02020500000000000000" pitchFamily="18" charset="-120"/>
                </a:rPr>
                <a:t>Computer Hardware</a:t>
              </a:r>
            </a:p>
          </p:txBody>
        </p:sp>
        <p:sp>
          <p:nvSpPr>
            <p:cNvPr id="235529" name="Rectangle 9"/>
            <p:cNvSpPr>
              <a:spLocks noChangeArrowheads="1"/>
            </p:cNvSpPr>
            <p:nvPr/>
          </p:nvSpPr>
          <p:spPr bwMode="auto">
            <a:xfrm>
              <a:off x="1445840" y="3595464"/>
              <a:ext cx="7086600" cy="14478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TW" altLang="en-US">
                <a:solidFill>
                  <a:schemeClr val="bg1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235530" name="Rectangle 10"/>
            <p:cNvSpPr>
              <a:spLocks noChangeArrowheads="1"/>
            </p:cNvSpPr>
            <p:nvPr/>
          </p:nvSpPr>
          <p:spPr bwMode="auto">
            <a:xfrm>
              <a:off x="1445840" y="2757264"/>
              <a:ext cx="7086600" cy="838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500" dirty="0">
                  <a:solidFill>
                    <a:srgbClr val="000000"/>
                  </a:solidFill>
                  <a:ea typeface="新細明體" panose="02020500000000000000" pitchFamily="18" charset="-120"/>
                </a:rPr>
                <a:t>System call interface</a:t>
              </a:r>
            </a:p>
          </p:txBody>
        </p:sp>
        <p:sp>
          <p:nvSpPr>
            <p:cNvPr id="235531" name="Rectangle 11"/>
            <p:cNvSpPr>
              <a:spLocks noChangeArrowheads="1"/>
            </p:cNvSpPr>
            <p:nvPr/>
          </p:nvSpPr>
          <p:spPr bwMode="auto">
            <a:xfrm>
              <a:off x="1445840" y="1233264"/>
              <a:ext cx="7086600" cy="609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500" dirty="0">
                  <a:solidFill>
                    <a:srgbClr val="000000"/>
                  </a:solidFill>
                  <a:ea typeface="新細明體" panose="02020500000000000000" pitchFamily="18" charset="-120"/>
                </a:rPr>
                <a:t>Applications: Compilers, word processors, X-based GUI</a:t>
              </a:r>
            </a:p>
          </p:txBody>
        </p:sp>
        <p:sp>
          <p:nvSpPr>
            <p:cNvPr id="235532" name="Text Box 12"/>
            <p:cNvSpPr txBox="1">
              <a:spLocks noChangeArrowheads="1"/>
            </p:cNvSpPr>
            <p:nvPr/>
          </p:nvSpPr>
          <p:spPr bwMode="auto">
            <a:xfrm>
              <a:off x="302840" y="2833464"/>
              <a:ext cx="676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anose="02020500000000000000" pitchFamily="18" charset="-120"/>
                </a:rPr>
                <a:t>API</a:t>
              </a:r>
            </a:p>
          </p:txBody>
        </p:sp>
        <p:sp>
          <p:nvSpPr>
            <p:cNvPr id="235533" name="Text Box 13"/>
            <p:cNvSpPr txBox="1">
              <a:spLocks noChangeArrowheads="1"/>
            </p:cNvSpPr>
            <p:nvPr/>
          </p:nvSpPr>
          <p:spPr bwMode="auto">
            <a:xfrm>
              <a:off x="302840" y="1614264"/>
              <a:ext cx="7270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anose="02020500000000000000" pitchFamily="18" charset="-120"/>
                </a:rPr>
                <a:t>AUI</a:t>
              </a:r>
            </a:p>
          </p:txBody>
        </p:sp>
        <p:sp>
          <p:nvSpPr>
            <p:cNvPr id="235534" name="Rectangle 14"/>
            <p:cNvSpPr>
              <a:spLocks noChangeArrowheads="1"/>
            </p:cNvSpPr>
            <p:nvPr/>
          </p:nvSpPr>
          <p:spPr bwMode="auto">
            <a:xfrm>
              <a:off x="3427040" y="4890865"/>
              <a:ext cx="51054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TW" sz="1500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BIOS</a:t>
              </a:r>
            </a:p>
          </p:txBody>
        </p:sp>
        <p:sp>
          <p:nvSpPr>
            <p:cNvPr id="235535" name="Rectangle 15"/>
            <p:cNvSpPr>
              <a:spLocks noChangeArrowheads="1"/>
            </p:cNvSpPr>
            <p:nvPr/>
          </p:nvSpPr>
          <p:spPr bwMode="auto">
            <a:xfrm>
              <a:off x="1445840" y="1842864"/>
              <a:ext cx="7086600" cy="914400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b="1">
                  <a:solidFill>
                    <a:schemeClr val="bg1"/>
                  </a:solidFill>
                  <a:ea typeface="新細明體" panose="02020500000000000000" pitchFamily="18" charset="-120"/>
                </a:rPr>
                <a:t>LINUX Shell: Bourne Again (bash), TC, Z, etc.</a:t>
              </a:r>
            </a:p>
          </p:txBody>
        </p:sp>
        <p:sp>
          <p:nvSpPr>
            <p:cNvPr id="235536" name="AutoShape 16"/>
            <p:cNvSpPr>
              <a:spLocks/>
            </p:cNvSpPr>
            <p:nvPr/>
          </p:nvSpPr>
          <p:spPr bwMode="auto">
            <a:xfrm>
              <a:off x="1141040" y="1309464"/>
              <a:ext cx="152400" cy="1143000"/>
            </a:xfrm>
            <a:prstGeom prst="leftBrace">
              <a:avLst>
                <a:gd name="adj1" fmla="val 625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235537" name="Rectangle 17"/>
            <p:cNvSpPr>
              <a:spLocks noChangeArrowheads="1"/>
            </p:cNvSpPr>
            <p:nvPr/>
          </p:nvSpPr>
          <p:spPr bwMode="auto">
            <a:xfrm>
              <a:off x="1445840" y="2528664"/>
              <a:ext cx="37338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500" dirty="0">
                  <a:solidFill>
                    <a:srgbClr val="000000"/>
                  </a:solidFill>
                  <a:ea typeface="新細明體" panose="02020500000000000000" pitchFamily="18" charset="-120"/>
                </a:rPr>
                <a:t>Language libraries</a:t>
              </a:r>
            </a:p>
          </p:txBody>
        </p:sp>
        <p:sp>
          <p:nvSpPr>
            <p:cNvPr id="235538" name="Rectangle 18"/>
            <p:cNvSpPr>
              <a:spLocks noChangeArrowheads="1"/>
            </p:cNvSpPr>
            <p:nvPr/>
          </p:nvSpPr>
          <p:spPr bwMode="auto">
            <a:xfrm>
              <a:off x="3427040" y="4586064"/>
              <a:ext cx="5105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TW" sz="1500" dirty="0">
                  <a:ea typeface="新細明體" panose="02020500000000000000" pitchFamily="18" charset="-120"/>
                </a:rPr>
                <a:t>Device Drives</a:t>
              </a:r>
            </a:p>
          </p:txBody>
        </p:sp>
        <p:sp>
          <p:nvSpPr>
            <p:cNvPr id="235539" name="AutoShape 19"/>
            <p:cNvSpPr>
              <a:spLocks/>
            </p:cNvSpPr>
            <p:nvPr/>
          </p:nvSpPr>
          <p:spPr bwMode="auto">
            <a:xfrm>
              <a:off x="1141040" y="2528664"/>
              <a:ext cx="152400" cy="1143000"/>
            </a:xfrm>
            <a:prstGeom prst="leftBrace">
              <a:avLst>
                <a:gd name="adj1" fmla="val 625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235540" name="Text Box 20"/>
            <p:cNvSpPr txBox="1">
              <a:spLocks noChangeArrowheads="1"/>
            </p:cNvSpPr>
            <p:nvPr/>
          </p:nvSpPr>
          <p:spPr bwMode="auto">
            <a:xfrm>
              <a:off x="302840" y="4128864"/>
              <a:ext cx="10128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anose="02020500000000000000" pitchFamily="18" charset="-120"/>
                </a:rPr>
                <a:t>Kernel</a:t>
              </a:r>
            </a:p>
          </p:txBody>
        </p:sp>
        <p:sp>
          <p:nvSpPr>
            <p:cNvPr id="235541" name="Text Box 21"/>
            <p:cNvSpPr txBox="1">
              <a:spLocks noChangeArrowheads="1"/>
            </p:cNvSpPr>
            <p:nvPr/>
          </p:nvSpPr>
          <p:spPr bwMode="auto">
            <a:xfrm>
              <a:off x="3884240" y="3671664"/>
              <a:ext cx="2057400" cy="68986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1500" b="1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File management</a:t>
              </a:r>
            </a:p>
          </p:txBody>
        </p:sp>
        <p:sp>
          <p:nvSpPr>
            <p:cNvPr id="235542" name="Text Box 22"/>
            <p:cNvSpPr txBox="1">
              <a:spLocks noChangeArrowheads="1"/>
            </p:cNvSpPr>
            <p:nvPr/>
          </p:nvSpPr>
          <p:spPr bwMode="auto">
            <a:xfrm>
              <a:off x="1598240" y="3671664"/>
              <a:ext cx="1828800" cy="6898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1500" dirty="0">
                  <a:ea typeface="新細明體" panose="02020500000000000000" pitchFamily="18" charset="-120"/>
                </a:rPr>
                <a:t>Memory management</a:t>
              </a:r>
            </a:p>
          </p:txBody>
        </p:sp>
        <p:sp>
          <p:nvSpPr>
            <p:cNvPr id="235543" name="Text Box 23"/>
            <p:cNvSpPr txBox="1">
              <a:spLocks noChangeArrowheads="1"/>
            </p:cNvSpPr>
            <p:nvPr/>
          </p:nvSpPr>
          <p:spPr bwMode="auto">
            <a:xfrm>
              <a:off x="6398840" y="3671664"/>
              <a:ext cx="1905000" cy="68986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1500" b="1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Process Management</a:t>
              </a:r>
              <a:r>
                <a:rPr lang="en-US" altLang="zh-TW" sz="1500" dirty="0">
                  <a:ea typeface="新細明體" panose="02020500000000000000" pitchFamily="18" charset="-120"/>
                </a:rPr>
                <a:t> </a:t>
              </a:r>
            </a:p>
          </p:txBody>
        </p:sp>
      </p:grpSp>
      <p:sp>
        <p:nvSpPr>
          <p:cNvPr id="30" name="Titel 1"/>
          <p:cNvSpPr txBox="1">
            <a:spLocks/>
          </p:cNvSpPr>
          <p:nvPr/>
        </p:nvSpPr>
        <p:spPr>
          <a:xfrm>
            <a:off x="540000" y="180000"/>
            <a:ext cx="8334000" cy="9000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rgbClr val="52BDEC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nl-BE" dirty="0"/>
              <a:t>Linux </a:t>
            </a:r>
            <a:r>
              <a:rPr lang="pl-PL" dirty="0"/>
              <a:t>OS</a:t>
            </a:r>
            <a:r>
              <a:rPr lang="nl-BE" dirty="0"/>
              <a:t>	</a:t>
            </a:r>
          </a:p>
        </p:txBody>
      </p:sp>
      <p:sp>
        <p:nvSpPr>
          <p:cNvPr id="21" name="Tijdelijke aanduiding voor inhoud 2"/>
          <p:cNvSpPr txBox="1">
            <a:spLocks/>
          </p:cNvSpPr>
          <p:nvPr/>
        </p:nvSpPr>
        <p:spPr>
          <a:xfrm>
            <a:off x="107504" y="3356992"/>
            <a:ext cx="8928992" cy="2656893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spcBef>
                <a:spcPts val="580"/>
              </a:spcBef>
              <a:buSzPct val="110000"/>
              <a:buFont typeface="Arial" pitchFamily="34" charset="0"/>
              <a:buChar char="•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20000" indent="-360363" algn="l" defTabSz="914400" rtl="0" eaLnBrk="1" latinLnBrk="0" hangingPunct="1">
              <a:spcBef>
                <a:spcPts val="580"/>
              </a:spcBef>
              <a:buSzPct val="75000"/>
              <a:buFont typeface="Courier New" pitchFamily="49" charset="0"/>
              <a:buChar char="o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90000" indent="-2700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168400" indent="-180000" algn="l" defTabSz="914400" rtl="0" eaLnBrk="1" latinLnBrk="0" hangingPunct="1">
              <a:spcBef>
                <a:spcPts val="380"/>
              </a:spcBef>
              <a:buSzPct val="80000"/>
              <a:buFont typeface="Arial" pitchFamily="34" charset="0"/>
              <a:buChar char="•"/>
              <a:defRPr sz="16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338263" indent="-179388" algn="l" defTabSz="914400" rtl="0" eaLnBrk="1" latinLnBrk="0" hangingPunct="1">
              <a:spcBef>
                <a:spcPts val="380"/>
              </a:spcBef>
              <a:buFont typeface="Arial" pitchFamily="34" charset="0"/>
              <a:buChar char="-"/>
              <a:defRPr lang="nl-BE" sz="1600" kern="1200" dirty="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Kernel</a:t>
            </a:r>
          </a:p>
          <a:p>
            <a:pPr lvl="1"/>
            <a:r>
              <a:rPr lang="en-US" sz="1600" dirty="0"/>
              <a:t>The part of an OS where the real work is done</a:t>
            </a:r>
          </a:p>
          <a:p>
            <a:r>
              <a:rPr lang="en-US" sz="1600" dirty="0"/>
              <a:t>System call interface</a:t>
            </a:r>
          </a:p>
          <a:p>
            <a:pPr lvl="1"/>
            <a:r>
              <a:rPr lang="en-US" sz="1600" dirty="0"/>
              <a:t>Comprises a set of functions (often known as Application Programmer's Interface API) that can be used by the applications and library routines to use the services provided by the kernel</a:t>
            </a:r>
          </a:p>
          <a:p>
            <a:r>
              <a:rPr lang="en-US" sz="1600" dirty="0"/>
              <a:t>Application User’s Interface</a:t>
            </a:r>
          </a:p>
          <a:p>
            <a:pPr lvl="1"/>
            <a:r>
              <a:rPr lang="en-US" sz="1600" dirty="0"/>
              <a:t>Interface between the kernel and user</a:t>
            </a:r>
          </a:p>
          <a:p>
            <a:pPr lvl="1"/>
            <a:r>
              <a:rPr lang="en-US" sz="1600" dirty="0"/>
              <a:t>Allows user to make commands to the system</a:t>
            </a:r>
          </a:p>
          <a:p>
            <a:pPr lvl="1"/>
            <a:r>
              <a:rPr lang="en-US" sz="1600" dirty="0"/>
              <a:t>Divided into text based and graphical based</a:t>
            </a:r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227F271B-2B78-6DBE-D000-3625584DC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2486586" y="1461317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52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Linux </a:t>
            </a:r>
            <a:r>
              <a:rPr lang="nl-BE" dirty="0" err="1"/>
              <a:t>Kernel</a:t>
            </a:r>
            <a:r>
              <a:rPr lang="nl-BE" dirty="0"/>
              <a:t>	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File Management</a:t>
            </a:r>
          </a:p>
          <a:p>
            <a:pPr lvl="1"/>
            <a:r>
              <a:rPr lang="en-US" sz="1800" dirty="0"/>
              <a:t>Controls the creation, removal of files and provide directory maintenance</a:t>
            </a:r>
          </a:p>
          <a:p>
            <a:pPr lvl="1"/>
            <a:r>
              <a:rPr lang="en-US" sz="1800" dirty="0"/>
              <a:t>For a multiuser system, every user should have its own right to access files and directories</a:t>
            </a:r>
          </a:p>
          <a:p>
            <a:r>
              <a:rPr lang="en-US" sz="1800" dirty="0"/>
              <a:t>Process Management</a:t>
            </a:r>
          </a:p>
          <a:p>
            <a:pPr lvl="1"/>
            <a:r>
              <a:rPr lang="en-US" sz="1800" dirty="0"/>
              <a:t>For a multitask system, multiple programs can be executed simultaneously in the system</a:t>
            </a:r>
          </a:p>
          <a:p>
            <a:pPr lvl="1"/>
            <a:r>
              <a:rPr lang="en-US" sz="1800" dirty="0"/>
              <a:t>When a program starts to execute, it becomes a process</a:t>
            </a:r>
          </a:p>
          <a:p>
            <a:pPr lvl="1"/>
            <a:r>
              <a:rPr lang="en-US" sz="1800" dirty="0"/>
              <a:t>The same program executing at two different times will become two different processes</a:t>
            </a:r>
          </a:p>
          <a:p>
            <a:pPr lvl="1"/>
            <a:r>
              <a:rPr lang="en-US" sz="1800" dirty="0"/>
              <a:t>Kernel manages processes in terms of creating, suspending, and terminating them</a:t>
            </a:r>
          </a:p>
          <a:p>
            <a:pPr lvl="1"/>
            <a:r>
              <a:rPr lang="en-US" sz="1800" dirty="0"/>
              <a:t>A process is protected from other processes and can communicate with the others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3549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Linux </a:t>
            </a:r>
            <a:r>
              <a:rPr lang="nl-BE" dirty="0" err="1"/>
              <a:t>Kernel</a:t>
            </a:r>
            <a:r>
              <a:rPr lang="nl-BE" dirty="0"/>
              <a:t>	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Memory management</a:t>
            </a:r>
          </a:p>
          <a:p>
            <a:pPr lvl="1"/>
            <a:r>
              <a:rPr lang="en-US" sz="2200" dirty="0"/>
              <a:t>Memory in a computer is divided into main memory (RAM) and secondary storage (usually refer to hard disk) </a:t>
            </a:r>
          </a:p>
          <a:p>
            <a:pPr lvl="1"/>
            <a:r>
              <a:rPr lang="en-US" sz="2200" dirty="0"/>
              <a:t>Memory is small in capacity but fast in speed, and hard disk is vice versa</a:t>
            </a:r>
          </a:p>
          <a:p>
            <a:pPr lvl="1"/>
            <a:r>
              <a:rPr lang="en-US" sz="2200" dirty="0"/>
              <a:t>Data that are not currently used should be saved to hard disk first, while data that are urgently needed should be retrieved and stored in RAM</a:t>
            </a:r>
          </a:p>
          <a:p>
            <a:r>
              <a:rPr lang="en-US" sz="2200" dirty="0"/>
              <a:t>Device drivers</a:t>
            </a:r>
          </a:p>
          <a:p>
            <a:pPr lvl="1"/>
            <a:r>
              <a:rPr lang="en-US" sz="2200" dirty="0"/>
              <a:t>Interfaces between the kernel and the BIOS</a:t>
            </a:r>
          </a:p>
          <a:p>
            <a:pPr lvl="1"/>
            <a:r>
              <a:rPr lang="en-US" sz="2200" dirty="0"/>
              <a:t>Different device has different driver</a:t>
            </a:r>
          </a:p>
          <a:p>
            <a:endParaRPr lang="nl-BE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6355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BE" dirty="0"/>
              <a:t>Compatibility Statement</a:t>
            </a:r>
            <a:r>
              <a:rPr lang="nl-BE" dirty="0"/>
              <a:t>	</a:t>
            </a:r>
          </a:p>
        </p:txBody>
      </p:sp>
      <p:sp>
        <p:nvSpPr>
          <p:cNvPr id="5" name="Tekstvak 4"/>
          <p:cNvSpPr txBox="1"/>
          <p:nvPr/>
        </p:nvSpPr>
        <p:spPr>
          <a:xfrm>
            <a:off x="5473084" y="0"/>
            <a:ext cx="3680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 dirty="0">
                <a:solidFill>
                  <a:schemeClr val="tx1"/>
                </a:solidFill>
                <a:latin typeface="+mn-lt"/>
              </a:rPr>
              <a:t>Source: http://en.wikipedia.org/wiki/GNU_C_Library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19</a:t>
            </a:fld>
            <a:endParaRPr lang="nl-NL"/>
          </a:p>
        </p:txBody>
      </p:sp>
      <p:pic>
        <p:nvPicPr>
          <p:cNvPr id="7" name="Picture 2" descr="http://upload.wikimedia.org/wikipedia/commons/thumb/4/45/Linux_kernel_System_Call_Interface_and_glibc.svg/1024px-Linux_kernel_System_Call_Interface_and_glibc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91253"/>
            <a:ext cx="2840657" cy="212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107504" y="1340768"/>
            <a:ext cx="8889329" cy="5112568"/>
          </a:xfrm>
        </p:spPr>
        <p:txBody>
          <a:bodyPr/>
          <a:lstStyle/>
          <a:p>
            <a:r>
              <a:rPr lang="en-US" altLang="nl-BE" sz="1800" b="1" dirty="0"/>
              <a:t>Definition of the OS version</a:t>
            </a:r>
          </a:p>
          <a:p>
            <a:pPr marL="359637" lvl="1" indent="0">
              <a:buNone/>
            </a:pPr>
            <a:r>
              <a:rPr lang="en-US" altLang="nl-BE" sz="1800" dirty="0"/>
              <a:t>Kernel + GNU Tools</a:t>
            </a:r>
          </a:p>
          <a:p>
            <a:pPr lvl="1"/>
            <a:r>
              <a:rPr lang="en-US" altLang="nl-BE" sz="1800" dirty="0"/>
              <a:t>Kernel version (</a:t>
            </a:r>
            <a:r>
              <a:rPr lang="pl-PL" altLang="nl-BE" sz="1800" dirty="0"/>
              <a:t>i</a:t>
            </a:r>
            <a:r>
              <a:rPr lang="en-US" altLang="nl-BE" sz="1800" dirty="0"/>
              <a:t>.e. kernel 5.19.7)</a:t>
            </a:r>
          </a:p>
          <a:p>
            <a:pPr lvl="1"/>
            <a:r>
              <a:rPr lang="en-US" altLang="nl-BE" sz="1800" dirty="0" err="1"/>
              <a:t>glibc</a:t>
            </a:r>
            <a:r>
              <a:rPr lang="en-US" altLang="nl-BE" sz="1800" dirty="0"/>
              <a:t> version (</a:t>
            </a:r>
            <a:r>
              <a:rPr lang="pl-PL" altLang="nl-BE" sz="1800" dirty="0"/>
              <a:t>i</a:t>
            </a:r>
            <a:r>
              <a:rPr lang="en-US" altLang="nl-BE" sz="1800" dirty="0"/>
              <a:t>.e. GNU </a:t>
            </a:r>
            <a:r>
              <a:rPr lang="en-US" altLang="nl-BE" sz="1800" dirty="0" err="1"/>
              <a:t>libc</a:t>
            </a:r>
            <a:r>
              <a:rPr lang="en-US" altLang="nl-BE" sz="1800" dirty="0"/>
              <a:t> 2.36) </a:t>
            </a:r>
          </a:p>
          <a:p>
            <a:pPr marL="359637" lvl="1" indent="0">
              <a:buNone/>
            </a:pPr>
            <a:endParaRPr lang="en-US" altLang="nl-BE" sz="1800" dirty="0"/>
          </a:p>
          <a:p>
            <a:r>
              <a:rPr lang="en-US" altLang="nl-BE" sz="1800" b="1" dirty="0"/>
              <a:t>Determining the OS Version</a:t>
            </a:r>
          </a:p>
          <a:p>
            <a:pPr lvl="1"/>
            <a:r>
              <a:rPr lang="pl-PL" altLang="nl-BE" sz="1800" dirty="0"/>
              <a:t>System distribution </a:t>
            </a:r>
            <a:r>
              <a:rPr lang="en-US" altLang="nl-BE" sz="1800" dirty="0"/>
              <a:t>		</a:t>
            </a:r>
            <a:r>
              <a:rPr lang="pl-PL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uname –a</a:t>
            </a:r>
            <a:endParaRPr lang="en-US" altLang="nl-BE" sz="1800" dirty="0"/>
          </a:p>
          <a:p>
            <a:pPr lvl="1"/>
            <a:r>
              <a:rPr lang="en-US" altLang="nl-BE" sz="1800" dirty="0"/>
              <a:t>Kernel version 		</a:t>
            </a:r>
            <a:r>
              <a:rPr lang="pl-PL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nl-B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uname</a:t>
            </a:r>
            <a:r>
              <a:rPr lang="en-US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–r</a:t>
            </a:r>
            <a:endParaRPr lang="pl-PL" altLang="nl-BE" sz="1800" dirty="0"/>
          </a:p>
          <a:p>
            <a:pPr lvl="1"/>
            <a:r>
              <a:rPr lang="en-US" altLang="nl-BE" sz="1800" dirty="0" err="1"/>
              <a:t>glibc</a:t>
            </a:r>
            <a:r>
              <a:rPr lang="en-US" altLang="nl-BE" sz="1800" dirty="0"/>
              <a:t> version 		</a:t>
            </a:r>
            <a:r>
              <a:rPr lang="pl-PL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ldd </a:t>
            </a:r>
            <a:r>
              <a:rPr lang="en-US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pl-PL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endParaRPr lang="en-US" altLang="nl-B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9637" lvl="1" indent="0">
              <a:buNone/>
            </a:pPr>
            <a:endParaRPr lang="pl-PL" altLang="nl-B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nl-BE" sz="1800" b="1" dirty="0"/>
              <a:t>Determining the OS </a:t>
            </a:r>
            <a:r>
              <a:rPr lang="pl-PL" altLang="nl-BE" sz="1800" b="1" dirty="0"/>
              <a:t>F</a:t>
            </a:r>
            <a:r>
              <a:rPr lang="en-US" altLang="nl-BE" sz="1800" b="1" dirty="0"/>
              <a:t>l</a:t>
            </a:r>
            <a:r>
              <a:rPr lang="pl-PL" altLang="nl-BE" sz="1800" b="1" dirty="0" err="1"/>
              <a:t>avor</a:t>
            </a:r>
            <a:r>
              <a:rPr lang="pl-PL" altLang="nl-BE" sz="1800" b="1" dirty="0"/>
              <a:t>/</a:t>
            </a:r>
            <a:r>
              <a:rPr lang="pl-PL" altLang="nl-BE" sz="1800" b="1" dirty="0" err="1"/>
              <a:t>release</a:t>
            </a:r>
            <a:endParaRPr lang="pl-PL" altLang="nl-BE" sz="1800" b="1" dirty="0"/>
          </a:p>
          <a:p>
            <a:pPr lvl="1"/>
            <a:r>
              <a:rPr lang="pl-PL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cat /</a:t>
            </a:r>
            <a:r>
              <a:rPr lang="en-US" altLang="nl-B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/*-release</a:t>
            </a:r>
          </a:p>
          <a:p>
            <a:pPr lvl="1"/>
            <a:endParaRPr lang="en-US" altLang="nl-BE" sz="1800" b="1" dirty="0"/>
          </a:p>
          <a:p>
            <a:pPr lvl="1"/>
            <a:endParaRPr lang="en-US" altLang="nl-BE" sz="1800" dirty="0"/>
          </a:p>
          <a:p>
            <a:endParaRPr lang="nl-BE" sz="1800" dirty="0"/>
          </a:p>
        </p:txBody>
      </p:sp>
    </p:spTree>
    <p:extLst>
      <p:ext uri="{BB962C8B-B14F-4D97-AF65-F5344CB8AC3E}">
        <p14:creationId xmlns:p14="http://schemas.microsoft.com/office/powerpoint/2010/main" val="1197401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nl-BE" dirty="0"/>
              <a:t>User login</a:t>
            </a:r>
            <a:r>
              <a:rPr lang="nl-BE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20</a:t>
            </a:fld>
            <a:endParaRPr lang="nl-NL"/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539552" y="1408024"/>
            <a:ext cx="8280920" cy="2885072"/>
          </a:xfrm>
        </p:spPr>
        <p:txBody>
          <a:bodyPr/>
          <a:lstStyle/>
          <a:p>
            <a:r>
              <a:rPr lang="en-US" altLang="nl-BE" sz="2000" dirty="0"/>
              <a:t>Linux is a multiuser OS </a:t>
            </a:r>
            <a:r>
              <a:rPr lang="pl-PL" altLang="nl-BE" sz="2000" dirty="0"/>
              <a:t>,</a:t>
            </a:r>
            <a:endParaRPr lang="en-US" altLang="nl-BE" sz="2000" dirty="0"/>
          </a:p>
          <a:p>
            <a:r>
              <a:rPr lang="en-US" altLang="nl-BE" sz="2000" dirty="0"/>
              <a:t>Allows multiple users to use the resource of a computer at the same time</a:t>
            </a:r>
          </a:p>
          <a:p>
            <a:r>
              <a:rPr lang="en-US" altLang="nl-BE" sz="2000" dirty="0"/>
              <a:t>Every user needs to login the system with the password provided to identify their right in using the resource</a:t>
            </a:r>
          </a:p>
          <a:p>
            <a:r>
              <a:rPr lang="en-US" altLang="nl-BE" sz="2000" dirty="0"/>
              <a:t>Requires for both client-server based system or desktop</a:t>
            </a:r>
          </a:p>
          <a:p>
            <a:endParaRPr lang="nl-BE" sz="2000" dirty="0"/>
          </a:p>
        </p:txBody>
      </p:sp>
      <p:grpSp>
        <p:nvGrpSpPr>
          <p:cNvPr id="3" name="Groep 2"/>
          <p:cNvGrpSpPr>
            <a:grpSpLocks noChangeAspect="1"/>
          </p:cNvGrpSpPr>
          <p:nvPr/>
        </p:nvGrpSpPr>
        <p:grpSpPr>
          <a:xfrm>
            <a:off x="5364088" y="4205017"/>
            <a:ext cx="3600400" cy="1604750"/>
            <a:chOff x="512366" y="3717031"/>
            <a:chExt cx="5556250" cy="2476501"/>
          </a:xfrm>
        </p:grpSpPr>
        <p:pic>
          <p:nvPicPr>
            <p:cNvPr id="8" name="Picture 9" descr="Server-base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3717032"/>
              <a:ext cx="4953000" cy="2476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512366" y="3717031"/>
              <a:ext cx="1444625" cy="997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Linux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0577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Linux User Interface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altLang="zh-TW" sz="2400" dirty="0">
                <a:ea typeface="新細明體" panose="02020500000000000000" pitchFamily="18" charset="-120"/>
              </a:rPr>
              <a:t>Traditional Linux (Unix also) uses command-driven interface (or text-based interface)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User needs to type lines of command to instruct the computer to work, similar to DOS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Advantage: fast in speed. Very few resource is required for its implementation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Disadvantages: user needs to type, hence can easily make error. Besides, user needs to memorize all commands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Suitable for expert users and for the systems that interaction with user is not frequent, such as servers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2787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Linux User Interface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lnSpc>
                <a:spcPct val="90000"/>
              </a:lnSpc>
              <a:spcBef>
                <a:spcPct val="40000"/>
              </a:spcBef>
              <a:buClr>
                <a:schemeClr val="tx1"/>
              </a:buClr>
              <a:buSzPct val="75000"/>
              <a:buNone/>
            </a:pPr>
            <a:r>
              <a:rPr lang="en-US" altLang="zh-TW" sz="2200" dirty="0">
                <a:latin typeface="Arial" panose="020B0604020202020204" pitchFamily="34" charset="0"/>
                <a:ea typeface="新細明體" panose="02020500000000000000" pitchFamily="18" charset="-120"/>
              </a:rPr>
              <a:t>By adopting the X-Window technology, graphical user interface (GUI) is available for Linux: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Arial" panose="020B0604020202020204" pitchFamily="34" charset="0"/>
                <a:ea typeface="新細明體" panose="02020500000000000000" pitchFamily="18" charset="-120"/>
              </a:rPr>
              <a:t>Uses pointing devices (e.g. mouse) to control the system, similar to Microsoft’s Windows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Arial" panose="020B0604020202020204" pitchFamily="34" charset="0"/>
                <a:ea typeface="新細明體" panose="02020500000000000000" pitchFamily="18" charset="-120"/>
              </a:rPr>
              <a:t>Provide menu-driven and/or icon-driven interfaces</a:t>
            </a:r>
          </a:p>
          <a:p>
            <a:pPr lvl="2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</a:rPr>
              <a:t>menu-driven: user is provided with a menu of choices. Each choice refers to a particular task</a:t>
            </a:r>
          </a:p>
          <a:p>
            <a:pPr lvl="2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</a:rPr>
              <a:t>icon-driven: tasks are represented by pictures (icon) and shown to user. Click on an icon invokes one task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Arial" panose="020B0604020202020204" pitchFamily="34" charset="0"/>
                <a:ea typeface="新細明體" panose="02020500000000000000" pitchFamily="18" charset="-120"/>
              </a:rPr>
              <a:t>Advantages: No need to memorize commands. Always select task from menus or icons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Arial" panose="020B0604020202020204" pitchFamily="34" charset="0"/>
                <a:ea typeface="新細明體" panose="02020500000000000000" pitchFamily="18" charset="-120"/>
              </a:rPr>
              <a:t>Disadvantages: Slow and require certain resource for its implementation  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Arial" panose="020B0604020202020204" pitchFamily="34" charset="0"/>
                <a:ea typeface="新細明體" panose="02020500000000000000" pitchFamily="18" charset="-120"/>
              </a:rPr>
              <a:t>Suitable for general users and systems, such as PC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3080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Linux User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23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92" y="1208004"/>
            <a:ext cx="8766496" cy="471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85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Command</a:t>
            </a:r>
            <a:r>
              <a:rPr lang="nl-BE" dirty="0"/>
              <a:t>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40000"/>
            <a:ext cx="4428926" cy="4678362"/>
          </a:xfrm>
        </p:spPr>
        <p:txBody>
          <a:bodyPr/>
          <a:lstStyle/>
          <a:p>
            <a:r>
              <a:rPr lang="en-US" sz="2200" dirty="0"/>
              <a:t>Text mode</a:t>
            </a:r>
          </a:p>
          <a:p>
            <a:r>
              <a:rPr lang="en-US" sz="2200" dirty="0"/>
              <a:t>Provides a way to control the computer via the keyboard.</a:t>
            </a:r>
          </a:p>
          <a:p>
            <a:r>
              <a:rPr lang="en-US" sz="2200" dirty="0"/>
              <a:t>Is common use on HPC</a:t>
            </a:r>
          </a:p>
          <a:p>
            <a:r>
              <a:rPr lang="en-US" sz="2200" dirty="0"/>
              <a:t>Is somewhat archaic, but very powerful. </a:t>
            </a:r>
          </a:p>
          <a:p>
            <a:r>
              <a:rPr lang="en-US" sz="2200" dirty="0"/>
              <a:t>Can be much quicker than a GUI.</a:t>
            </a:r>
          </a:p>
          <a:p>
            <a:r>
              <a:rPr lang="en-US" sz="2200" dirty="0"/>
              <a:t>Implicitly assumes that you know what you are doing</a:t>
            </a:r>
          </a:p>
          <a:p>
            <a:r>
              <a:rPr lang="en-US" sz="2200" dirty="0"/>
              <a:t>Don't be scared!</a:t>
            </a:r>
            <a:endParaRPr lang="pl-PL" sz="2200" dirty="0"/>
          </a:p>
          <a:p>
            <a:r>
              <a:rPr lang="pl-PL" sz="2200" dirty="0" err="1">
                <a:solidFill>
                  <a:srgbClr val="FF0000"/>
                </a:solidFill>
              </a:rPr>
              <a:t>If</a:t>
            </a:r>
            <a:r>
              <a:rPr lang="pl-PL" sz="2200" dirty="0">
                <a:solidFill>
                  <a:srgbClr val="FF0000"/>
                </a:solidFill>
              </a:rPr>
              <a:t> </a:t>
            </a:r>
            <a:r>
              <a:rPr lang="pl-PL" sz="2200" dirty="0" err="1">
                <a:solidFill>
                  <a:srgbClr val="FF0000"/>
                </a:solidFill>
              </a:rPr>
              <a:t>anything</a:t>
            </a:r>
            <a:r>
              <a:rPr lang="pl-PL" sz="2200" dirty="0">
                <a:solidFill>
                  <a:srgbClr val="FF0000"/>
                </a:solidFill>
              </a:rPr>
              <a:t> </a:t>
            </a:r>
            <a:r>
              <a:rPr lang="pl-PL" sz="2200" dirty="0" err="1">
                <a:solidFill>
                  <a:srgbClr val="FF0000"/>
                </a:solidFill>
              </a:rPr>
              <a:t>goes</a:t>
            </a:r>
            <a:r>
              <a:rPr lang="pl-PL" sz="2200" dirty="0">
                <a:solidFill>
                  <a:srgbClr val="FF0000"/>
                </a:solidFill>
              </a:rPr>
              <a:t> </a:t>
            </a:r>
            <a:r>
              <a:rPr lang="pl-PL" sz="2200" dirty="0" err="1">
                <a:solidFill>
                  <a:srgbClr val="FF0000"/>
                </a:solidFill>
              </a:rPr>
              <a:t>wrong</a:t>
            </a:r>
            <a:r>
              <a:rPr lang="pl-PL" sz="2200" dirty="0">
                <a:solidFill>
                  <a:srgbClr val="FF0000"/>
                </a:solidFill>
              </a:rPr>
              <a:t>, </a:t>
            </a:r>
            <a:r>
              <a:rPr lang="pl-PL" sz="2200" dirty="0" err="1">
                <a:solidFill>
                  <a:srgbClr val="FF0000"/>
                </a:solidFill>
              </a:rPr>
              <a:t>you</a:t>
            </a:r>
            <a:r>
              <a:rPr lang="pl-PL" sz="2200" dirty="0">
                <a:solidFill>
                  <a:srgbClr val="FF0000"/>
                </a:solidFill>
              </a:rPr>
              <a:t> </a:t>
            </a:r>
            <a:r>
              <a:rPr lang="pl-PL" sz="2200" dirty="0" err="1">
                <a:solidFill>
                  <a:srgbClr val="FF0000"/>
                </a:solidFill>
              </a:rPr>
              <a:t>can</a:t>
            </a:r>
            <a:r>
              <a:rPr lang="pl-PL" sz="2200" dirty="0">
                <a:solidFill>
                  <a:srgbClr val="FF0000"/>
                </a:solidFill>
              </a:rPr>
              <a:t> stop the </a:t>
            </a:r>
            <a:r>
              <a:rPr lang="pl-PL" sz="2200" dirty="0" err="1">
                <a:solidFill>
                  <a:srgbClr val="FF0000"/>
                </a:solidFill>
              </a:rPr>
              <a:t>command</a:t>
            </a:r>
            <a:r>
              <a:rPr lang="pl-PL" sz="2200" dirty="0">
                <a:solidFill>
                  <a:srgbClr val="FF0000"/>
                </a:solidFill>
              </a:rPr>
              <a:t> with </a:t>
            </a:r>
            <a:r>
              <a:rPr lang="pl-PL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Ctrl+C</a:t>
            </a:r>
            <a:endParaRPr lang="en-US" sz="2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92" y="1484784"/>
            <a:ext cx="4065793" cy="466950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24</a:t>
            </a:fld>
            <a:endParaRPr lang="nl-NL"/>
          </a:p>
        </p:txBody>
      </p:sp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DE22533A-8D75-C052-2104-EA8F54111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4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Linux te</a:t>
            </a:r>
            <a:r>
              <a:rPr lang="pl-PL" dirty="0"/>
              <a:t>x</a:t>
            </a:r>
            <a:r>
              <a:rPr lang="nl-BE" dirty="0"/>
              <a:t>t </a:t>
            </a:r>
            <a:r>
              <a:rPr lang="nl-BE" dirty="0" err="1"/>
              <a:t>based</a:t>
            </a:r>
            <a:r>
              <a:rPr lang="nl-BE" dirty="0"/>
              <a:t> interface: The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1440000"/>
            <a:ext cx="7920000" cy="2781088"/>
          </a:xfrm>
        </p:spPr>
        <p:txBody>
          <a:bodyPr/>
          <a:lstStyle/>
          <a:p>
            <a:r>
              <a:rPr lang="en-US" dirty="0"/>
              <a:t>Is the command line interpreter: a program that accepts input from a user (e.g. a command) and performs the requested task. </a:t>
            </a:r>
          </a:p>
          <a:p>
            <a:r>
              <a:rPr lang="en-US" dirty="0"/>
              <a:t>The shell's prompt identifies the type of shell being used. There are two basic types of shell prompts: </a:t>
            </a:r>
          </a:p>
          <a:p>
            <a:pPr lvl="1"/>
            <a:r>
              <a:rPr lang="en-US" b="1" dirty="0"/>
              <a:t>$ </a:t>
            </a:r>
            <a:r>
              <a:rPr lang="en-US" dirty="0"/>
              <a:t>Normal user shell (may also be </a:t>
            </a:r>
            <a:r>
              <a:rPr lang="en-US" b="1" dirty="0"/>
              <a:t>% </a:t>
            </a:r>
            <a:r>
              <a:rPr lang="en-US" dirty="0"/>
              <a:t>or </a:t>
            </a:r>
            <a:r>
              <a:rPr lang="en-US" b="1" dirty="0"/>
              <a:t>&gt; </a:t>
            </a:r>
            <a:r>
              <a:rPr lang="en-US" dirty="0"/>
              <a:t>on some systems) </a:t>
            </a:r>
            <a:endParaRPr lang="pl-PL" dirty="0"/>
          </a:p>
          <a:p>
            <a:pPr lvl="1"/>
            <a:r>
              <a:rPr lang="nl-BE" b="1" dirty="0"/>
              <a:t># </a:t>
            </a:r>
            <a:r>
              <a:rPr lang="nl-BE" dirty="0"/>
              <a:t>Root user shell </a:t>
            </a:r>
            <a:r>
              <a:rPr lang="pl-PL" dirty="0"/>
              <a:t>(login as root or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$ su</a:t>
            </a:r>
            <a:r>
              <a:rPr lang="pl-PL" dirty="0"/>
              <a:t>)</a:t>
            </a:r>
            <a:endParaRPr lang="nl-BE" dirty="0"/>
          </a:p>
          <a:p>
            <a:endParaRPr lang="en-US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endParaRPr lang="en-US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nl-BE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25</a:t>
            </a:fld>
            <a:endParaRPr lang="nl-N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83C216-96DE-1323-FAF7-74F01CF24EE9}"/>
              </a:ext>
            </a:extLst>
          </p:cNvPr>
          <p:cNvSpPr/>
          <p:nvPr/>
        </p:nvSpPr>
        <p:spPr>
          <a:xfrm>
            <a:off x="475544" y="5013176"/>
            <a:ext cx="6480720" cy="144016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b="1" dirty="0">
                <a:solidFill>
                  <a:srgbClr val="00407A"/>
                </a:solidFill>
              </a:rPr>
              <a:t>Warning:</a:t>
            </a:r>
            <a:r>
              <a:rPr lang="en-US" sz="2000" dirty="0">
                <a:solidFill>
                  <a:srgbClr val="00407A"/>
                </a:solidFill>
              </a:rPr>
              <a:t> The root user can do anything on Linux systems. It is important to know when you are working as root to prevent accidental damage to your system.</a:t>
            </a:r>
            <a:br>
              <a:rPr lang="en-US" sz="2000" dirty="0">
                <a:solidFill>
                  <a:srgbClr val="00407A"/>
                </a:solidFill>
              </a:rPr>
            </a:br>
            <a:r>
              <a:rPr lang="en-US" sz="2000" b="1" dirty="0">
                <a:solidFill>
                  <a:srgbClr val="00407A"/>
                </a:solidFill>
              </a:rPr>
              <a:t>Identify who you are with: </a:t>
            </a:r>
            <a:r>
              <a:rPr lang="pl-PL" sz="2000" b="1" dirty="0">
                <a:solidFill>
                  <a:srgbClr val="004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whoami</a:t>
            </a:r>
            <a:endParaRPr lang="en-US" sz="2000" b="1" dirty="0">
              <a:solidFill>
                <a:srgbClr val="00407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Using the root account</a:t>
            </a:r>
          </a:p>
        </p:txBody>
      </p:sp>
      <p:sp>
        <p:nvSpPr>
          <p:cNvPr id="3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If you have the root password:</a:t>
            </a:r>
            <a:br>
              <a:rPr lang="en-US" dirty="0">
                <a:latin typeface="+mn-lt"/>
              </a:rPr>
            </a:b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su</a:t>
            </a:r>
            <a:r>
              <a:rPr lang="en-US" dirty="0">
                <a:latin typeface="+mn-lt"/>
              </a:rPr>
              <a:t> - (switch user)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In modern distributions, the </a:t>
            </a:r>
            <a:r>
              <a:rPr lang="en-US" dirty="0" err="1">
                <a:latin typeface="+mn-lt"/>
              </a:rPr>
              <a:t>sudo</a:t>
            </a:r>
            <a:r>
              <a:rPr lang="en-US" dirty="0">
                <a:latin typeface="+mn-lt"/>
              </a:rPr>
              <a:t> (super user do) command gives you access to some root privileges with your own user password.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Example: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sudo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mount /dev/hda4 /home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root user privileges are only needed for very specific tasks with security risks: mounting, creating device files, loading drivers, starting networking,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changing file ownership, package upgrades...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Check the prompt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#</a:t>
            </a:r>
          </a:p>
          <a:p>
            <a:pPr marL="108000" indent="0">
              <a:buNone/>
            </a:pPr>
            <a:endParaRPr lang="en-US" dirty="0">
              <a:latin typeface="+mn-lt"/>
            </a:endParaRP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01697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Most </a:t>
            </a:r>
            <a:r>
              <a:rPr lang="nl-BE" dirty="0" err="1"/>
              <a:t>popular</a:t>
            </a:r>
            <a:r>
              <a:rPr lang="nl-BE" dirty="0"/>
              <a:t> shells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7920000" cy="4678362"/>
          </a:xfrm>
        </p:spPr>
        <p:txBody>
          <a:bodyPr/>
          <a:lstStyle/>
          <a:p>
            <a:r>
              <a:rPr lang="en-US" dirty="0"/>
              <a:t>There are several types of shells for Linux.</a:t>
            </a:r>
          </a:p>
          <a:p>
            <a:r>
              <a:rPr lang="en-US" dirty="0"/>
              <a:t>Check it with: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 echo $SHELL</a:t>
            </a:r>
            <a:r>
              <a:rPr lang="en-US" dirty="0"/>
              <a:t> </a:t>
            </a:r>
          </a:p>
          <a:p>
            <a:endParaRPr lang="en-US" b="1" dirty="0"/>
          </a:p>
          <a:p>
            <a:pPr marL="0" indent="0">
              <a:buNone/>
            </a:pPr>
            <a:endParaRPr lang="nl-BE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968288"/>
              </p:ext>
            </p:extLst>
          </p:nvPr>
        </p:nvGraphicFramePr>
        <p:xfrm>
          <a:off x="540000" y="2373869"/>
          <a:ext cx="6480720" cy="390602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43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1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309">
                <a:tc>
                  <a:txBody>
                    <a:bodyPr/>
                    <a:lstStyle/>
                    <a:p>
                      <a:r>
                        <a:rPr lang="nl-BE" dirty="0"/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Note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326">
                <a:tc>
                  <a:txBody>
                    <a:bodyPr/>
                    <a:lstStyle/>
                    <a:p>
                      <a:r>
                        <a:rPr lang="nl-BE" dirty="0"/>
                        <a:t>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1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Bourne</a:t>
                      </a:r>
                      <a:r>
                        <a:rPr lang="nl-BE" dirty="0"/>
                        <a:t>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 on some Unix systems 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7892">
                <a:tc>
                  <a:txBody>
                    <a:bodyPr/>
                    <a:lstStyle/>
                    <a:p>
                      <a:r>
                        <a:rPr lang="nl-BE" dirty="0" err="1"/>
                        <a:t>bash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1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Bourne</a:t>
                      </a:r>
                      <a:r>
                        <a:rPr lang="nl-BE" dirty="0"/>
                        <a:t> </a:t>
                      </a:r>
                      <a:r>
                        <a:rPr lang="nl-BE" dirty="0" err="1"/>
                        <a:t>Again</a:t>
                      </a:r>
                      <a:r>
                        <a:rPr lang="nl-BE" dirty="0"/>
                        <a:t>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Enhanced replacement for the Bourne shell Default on most Linux and Mac OS X systems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326">
                <a:tc>
                  <a:txBody>
                    <a:bodyPr/>
                    <a:lstStyle/>
                    <a:p>
                      <a:r>
                        <a:rPr lang="nl-BE" dirty="0" err="1"/>
                        <a:t>csh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1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C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 on many BSD systems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326">
                <a:tc>
                  <a:txBody>
                    <a:bodyPr/>
                    <a:lstStyle/>
                    <a:p>
                      <a:r>
                        <a:rPr lang="nl-BE" dirty="0" err="1"/>
                        <a:t>tcsh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TC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Enhanced replacement for the C shell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r>
                        <a:rPr lang="nl-BE" dirty="0" err="1"/>
                        <a:t>ksh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1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Korn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 on AIX systems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5008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D0517-C2E3-CBFF-D0A3-48FB2D6E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9FF80D-1185-4DE0-A6C0-0DABBBC8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Hands-on</a:t>
            </a:r>
            <a:r>
              <a:rPr lang="en-US" dirty="0"/>
              <a:t> 1</a:t>
            </a:r>
            <a:endParaRPr lang="nl-B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545262-F733-04A5-A4BE-21F3F3A398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3946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Command</a:t>
            </a:r>
            <a:r>
              <a:rPr lang="nl-BE" dirty="0"/>
              <a:t> line basics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1274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Important </a:t>
            </a:r>
            <a:r>
              <a:rPr lang="nl-BE" dirty="0" err="1"/>
              <a:t>rules</a:t>
            </a:r>
            <a:r>
              <a:rPr lang="nl-BE" dirty="0"/>
              <a:t> on the </a:t>
            </a:r>
            <a:r>
              <a:rPr lang="nl-BE" dirty="0" err="1"/>
              <a:t>command</a:t>
            </a:r>
            <a:r>
              <a:rPr lang="nl-BE" dirty="0"/>
              <a:t>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Linux systems are case (and space) sensitive. </a:t>
            </a:r>
          </a:p>
          <a:p>
            <a:pPr marL="857250" lvl="1" indent="-457200"/>
            <a:r>
              <a:rPr lang="en-US" dirty="0" err="1">
                <a:latin typeface="Courier New" pitchFamily="49" charset="0"/>
                <a:cs typeface="Courier New" pitchFamily="49" charset="0"/>
              </a:rPr>
              <a:t>MyFile</a:t>
            </a:r>
            <a:r>
              <a:rPr lang="en-US" dirty="0"/>
              <a:t> is not same as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myfile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no "recycle bin" or "trash can" when working in the command line environment. When files are deleted on the command line, they instantly disappear forever.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should always practice new commands on a test system that is not used in a production environment. </a:t>
            </a:r>
            <a:br>
              <a:rPr lang="en-US" dirty="0"/>
            </a:br>
            <a:r>
              <a:rPr lang="en-US" dirty="0"/>
              <a:t>This minimizes the chances of an accident that can take down an important system 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607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Important </a:t>
            </a:r>
            <a:r>
              <a:rPr lang="nl-BE" dirty="0" err="1"/>
              <a:t>rules</a:t>
            </a:r>
            <a:r>
              <a:rPr lang="nl-BE" dirty="0"/>
              <a:t> on the </a:t>
            </a:r>
            <a:r>
              <a:rPr lang="nl-BE" dirty="0" err="1"/>
              <a:t>command</a:t>
            </a:r>
            <a:r>
              <a:rPr lang="nl-BE" dirty="0"/>
              <a:t>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349998"/>
            <a:ext cx="8334000" cy="4887313"/>
          </a:xfrm>
        </p:spPr>
        <p:txBody>
          <a:bodyPr/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“\”</a:t>
            </a:r>
            <a:r>
              <a:rPr lang="en-US" sz="2200" dirty="0">
                <a:latin typeface="+mn-lt"/>
              </a:rPr>
              <a:t> vs.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“/”</a:t>
            </a:r>
            <a:r>
              <a:rPr lang="en-US" sz="2200" dirty="0">
                <a:latin typeface="+mn-lt"/>
              </a:rPr>
              <a:t>: </a:t>
            </a:r>
          </a:p>
          <a:p>
            <a:pPr lvl="1"/>
            <a:r>
              <a:rPr lang="en-US" sz="2200" dirty="0">
                <a:latin typeface="+mn-lt"/>
              </a:rPr>
              <a:t>In Linux,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“/”</a:t>
            </a:r>
            <a:r>
              <a:rPr lang="en-US" sz="2200" dirty="0">
                <a:latin typeface="+mn-lt"/>
              </a:rPr>
              <a:t> is the directory separator, and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“\”</a:t>
            </a:r>
            <a:r>
              <a:rPr lang="en-US" sz="2200" dirty="0">
                <a:latin typeface="+mn-lt"/>
              </a:rPr>
              <a:t> is an escape character. </a:t>
            </a:r>
          </a:p>
          <a:p>
            <a:pPr lvl="1"/>
            <a:r>
              <a:rPr lang="en-US" sz="2200" dirty="0">
                <a:latin typeface="+mn-lt"/>
              </a:rPr>
              <a:t>In Windows, the forward-slash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“/”</a:t>
            </a:r>
            <a:r>
              <a:rPr lang="en-US" sz="2200" dirty="0">
                <a:latin typeface="+mn-lt"/>
              </a:rPr>
              <a:t> is the command argument delimiter, while the backslash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“\”</a:t>
            </a:r>
            <a:r>
              <a:rPr lang="en-US" sz="2200" dirty="0">
                <a:latin typeface="+mn-lt"/>
              </a:rPr>
              <a:t> is a directory separator</a:t>
            </a:r>
          </a:p>
          <a:p>
            <a:r>
              <a:rPr lang="en-US" sz="2200" dirty="0">
                <a:latin typeface="+mn-lt"/>
              </a:rPr>
              <a:t>Filenames: </a:t>
            </a:r>
          </a:p>
          <a:p>
            <a:pPr lvl="1"/>
            <a:r>
              <a:rPr lang="en-US" sz="2200" dirty="0">
                <a:latin typeface="+mn-lt"/>
              </a:rPr>
              <a:t>In Linux, there is no such thing as a file extension. 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Periods can be placed at any part of the filename, and “extensions” may be interpreted differently by all programs, or not at all.</a:t>
            </a:r>
            <a:endParaRPr lang="nl-BE" sz="2200" dirty="0">
              <a:latin typeface="+mn-lt"/>
            </a:endParaRPr>
          </a:p>
          <a:p>
            <a:pPr lvl="1"/>
            <a:r>
              <a:rPr lang="en-US" sz="2200" dirty="0">
                <a:latin typeface="+mn-lt"/>
              </a:rPr>
              <a:t>Windows uses the “.extension” filename convention, (e.g. FILENAME.TXT).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3991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Auto-</a:t>
            </a:r>
            <a:r>
              <a:rPr lang="nl-BE" dirty="0" err="1"/>
              <a:t>Completion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349998"/>
            <a:ext cx="8334000" cy="4815305"/>
          </a:xfrm>
        </p:spPr>
        <p:txBody>
          <a:bodyPr/>
          <a:lstStyle/>
          <a:p>
            <a:r>
              <a:rPr lang="en-US" dirty="0"/>
              <a:t>Have the shell automatically complete commands or file paths. </a:t>
            </a:r>
          </a:p>
          <a:p>
            <a:r>
              <a:rPr lang="en-US" dirty="0"/>
              <a:t>Activated using the </a:t>
            </a:r>
            <a:r>
              <a:rPr lang="en-US" b="1" dirty="0"/>
              <a:t>&lt;TAB&gt; </a:t>
            </a:r>
            <a:r>
              <a:rPr lang="en-US" dirty="0"/>
              <a:t>key on most systems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&lt;TAB&gt; </a:t>
            </a:r>
          </a:p>
          <a:p>
            <a:pPr lvl="1"/>
            <a:r>
              <a:rPr lang="nl-BE" dirty="0">
                <a:latin typeface="Courier New" pitchFamily="49" charset="0"/>
                <a:cs typeface="Courier New" pitchFamily="49" charset="0"/>
              </a:rPr>
              <a:t>$ date</a:t>
            </a:r>
          </a:p>
          <a:p>
            <a:pPr lvl="1"/>
            <a:r>
              <a:rPr lang="nl-BE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/en&lt;TAB&gt; </a:t>
            </a:r>
          </a:p>
          <a:p>
            <a:pPr lvl="1"/>
            <a:r>
              <a:rPr lang="nl-BE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/environment 	</a:t>
            </a:r>
          </a:p>
          <a:p>
            <a:r>
              <a:rPr lang="en-US" dirty="0"/>
              <a:t>When more than one match is found, the shell will display all matching results  (use </a:t>
            </a:r>
            <a:r>
              <a:rPr lang="en-US" b="1" dirty="0"/>
              <a:t>&lt;TAB&gt; </a:t>
            </a:r>
            <a:r>
              <a:rPr lang="en-US" dirty="0"/>
              <a:t>twice)</a:t>
            </a:r>
          </a:p>
          <a:p>
            <a:pPr lvl="1"/>
            <a:r>
              <a:rPr lang="nl-BE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/host&lt;TAB&gt; </a:t>
            </a:r>
            <a:r>
              <a:rPr lang="nl-BE" dirty="0"/>
              <a:t>	</a:t>
            </a:r>
          </a:p>
          <a:p>
            <a:pPr lvl="1"/>
            <a:endParaRPr lang="nl-BE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6590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Command</a:t>
            </a:r>
            <a:r>
              <a:rPr lang="nl-BE" dirty="0"/>
              <a:t> </a:t>
            </a:r>
            <a:r>
              <a:rPr lang="nl-BE" dirty="0" err="1"/>
              <a:t>history</a:t>
            </a:r>
            <a:r>
              <a:rPr lang="nl-BE" dirty="0"/>
              <a:t>: Arrow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Previously executed commands can be recalled by using the </a:t>
            </a:r>
            <a:r>
              <a:rPr lang="en-US" sz="2200" b="1" dirty="0"/>
              <a:t>Up Arrow </a:t>
            </a:r>
            <a:r>
              <a:rPr lang="en-US" sz="2200" dirty="0"/>
              <a:t>key on the keyboard.</a:t>
            </a:r>
          </a:p>
          <a:p>
            <a:r>
              <a:rPr lang="nl-BE" sz="2200" dirty="0"/>
              <a:t>Most Linux </a:t>
            </a:r>
            <a:r>
              <a:rPr lang="nl-BE" sz="2200" dirty="0" err="1"/>
              <a:t>distributions</a:t>
            </a:r>
            <a:r>
              <a:rPr lang="nl-BE" sz="2200" dirty="0"/>
              <a:t> </a:t>
            </a:r>
            <a:r>
              <a:rPr lang="en-US" sz="2200" dirty="0"/>
              <a:t>remember the last five hundred commands by default. </a:t>
            </a:r>
          </a:p>
          <a:p>
            <a:r>
              <a:rPr lang="en-US" sz="2200" dirty="0"/>
              <a:t>Display commands that have recently been executed 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history</a:t>
            </a:r>
            <a:r>
              <a:rPr lang="en-US" sz="2200" b="1" dirty="0"/>
              <a:t> </a:t>
            </a:r>
            <a:r>
              <a:rPr lang="en-US" sz="2200" dirty="0"/>
              <a:t>command displays a user's command line history. </a:t>
            </a:r>
          </a:p>
          <a:p>
            <a:pPr lvl="1"/>
            <a:r>
              <a:rPr lang="en-US" sz="2200" dirty="0"/>
              <a:t>You can execute a previous command using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![NUM] </a:t>
            </a:r>
            <a:r>
              <a:rPr lang="en-US" sz="2200" dirty="0"/>
              <a:t>where NUM is the line number in history you want to recall. </a:t>
            </a:r>
          </a:p>
          <a:p>
            <a:r>
              <a:rPr lang="en-US" sz="2200" dirty="0"/>
              <a:t>Your command history is stored in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~/.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bash_history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sz="2200" dirty="0" err="1"/>
              <a:t>You</a:t>
            </a:r>
            <a:r>
              <a:rPr lang="nl-BE" sz="2200" dirty="0"/>
              <a:t> </a:t>
            </a:r>
            <a:r>
              <a:rPr lang="nl-BE" sz="2200" dirty="0" err="1"/>
              <a:t>can</a:t>
            </a:r>
            <a:r>
              <a:rPr lang="nl-BE" sz="2200" dirty="0"/>
              <a:t> </a:t>
            </a:r>
            <a:r>
              <a:rPr lang="nl-BE" sz="2200" dirty="0" err="1"/>
              <a:t>also</a:t>
            </a:r>
            <a:r>
              <a:rPr lang="nl-BE" sz="2200" dirty="0"/>
              <a:t> search </a:t>
            </a:r>
            <a:r>
              <a:rPr lang="nl-BE" sz="2200" dirty="0" err="1"/>
              <a:t>the</a:t>
            </a:r>
            <a:r>
              <a:rPr lang="nl-BE" sz="2200" dirty="0"/>
              <a:t> </a:t>
            </a:r>
            <a:r>
              <a:rPr lang="nl-BE" sz="2200" dirty="0" err="1"/>
              <a:t>history</a:t>
            </a:r>
            <a:r>
              <a:rPr lang="nl-BE" sz="2200" dirty="0"/>
              <a:t> </a:t>
            </a:r>
            <a:r>
              <a:rPr lang="nl-BE" sz="2200" dirty="0" err="1"/>
              <a:t>with</a:t>
            </a:r>
            <a:r>
              <a:rPr lang="nl-BE" sz="2200" dirty="0"/>
              <a:t> </a:t>
            </a:r>
            <a:r>
              <a:rPr lang="nl-BE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ctrl+R</a:t>
            </a:r>
            <a:endParaRPr lang="nl-BE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4594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Getting</a:t>
            </a:r>
            <a:r>
              <a:rPr lang="nl-BE" dirty="0"/>
              <a:t> help: </a:t>
            </a:r>
            <a:r>
              <a:rPr lang="nl-BE" dirty="0" err="1"/>
              <a:t>command</a:t>
            </a:r>
            <a:r>
              <a:rPr lang="nl-BE" dirty="0"/>
              <a:t> built-in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on most Linux commands is typically built  into the command themself</a:t>
            </a:r>
          </a:p>
          <a:p>
            <a:r>
              <a:rPr lang="en-US" dirty="0"/>
              <a:t>These flags usually look like “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-h</a:t>
            </a:r>
            <a:r>
              <a:rPr lang="en-US" dirty="0"/>
              <a:t>” or “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--help</a:t>
            </a:r>
            <a:r>
              <a:rPr lang="en-US" dirty="0"/>
              <a:t>”.</a:t>
            </a:r>
          </a:p>
          <a:p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--help</a:t>
            </a:r>
          </a:p>
          <a:p>
            <a:pPr marL="0" indent="0"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3870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Getting</a:t>
            </a:r>
            <a:r>
              <a:rPr lang="nl-BE" dirty="0"/>
              <a:t> help: man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source of information can be found in the online manual pages, “</a:t>
            </a:r>
            <a:r>
              <a:rPr lang="en-US" b="1" dirty="0"/>
              <a:t>man pages</a:t>
            </a:r>
            <a:r>
              <a:rPr lang="en-US" dirty="0"/>
              <a:t>” for short. </a:t>
            </a:r>
            <a:br>
              <a:rPr lang="en-US" dirty="0"/>
            </a:br>
            <a:r>
              <a:rPr lang="en-US" dirty="0"/>
              <a:t>type “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man command</a:t>
            </a:r>
            <a:r>
              <a:rPr lang="en-US" dirty="0"/>
              <a:t>”.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$ man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grep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Tips: </a:t>
            </a:r>
          </a:p>
          <a:p>
            <a:pPr lvl="1"/>
            <a:r>
              <a:rPr lang="en-US" dirty="0"/>
              <a:t>To search for a particular word (e.g. file) within a man page, type “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/word</a:t>
            </a:r>
            <a:r>
              <a:rPr lang="en-US" dirty="0"/>
              <a:t>”. </a:t>
            </a:r>
          </a:p>
          <a:p>
            <a:pPr lvl="1"/>
            <a:r>
              <a:rPr lang="en-US" dirty="0"/>
              <a:t>To quit from a man page, </a:t>
            </a:r>
            <a:r>
              <a:rPr lang="nl-BE" dirty="0"/>
              <a:t>type the “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q</a:t>
            </a:r>
            <a:r>
              <a:rPr lang="nl-BE" dirty="0"/>
              <a:t>” </a:t>
            </a:r>
            <a:r>
              <a:rPr lang="nl-BE" dirty="0" err="1"/>
              <a:t>key</a:t>
            </a:r>
            <a:r>
              <a:rPr lang="nl-BE" dirty="0"/>
              <a:t>.</a:t>
            </a:r>
          </a:p>
          <a:p>
            <a:pPr lvl="1"/>
            <a:r>
              <a:rPr lang="en-US" dirty="0"/>
              <a:t>If you do not remember the name of Linux command and you know a keyword relating to the command, search the man pages with 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–k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 man -k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2010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Getting</a:t>
            </a:r>
            <a:r>
              <a:rPr lang="nl-BE" dirty="0"/>
              <a:t> help: info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 pages are similar to man page, but instead of being displayed on one long scrolling screen, they are presented in shorter segments with links to other pieces of information. </a:t>
            </a:r>
          </a:p>
          <a:p>
            <a:r>
              <a:rPr lang="en-US" dirty="0"/>
              <a:t>Access with the “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info</a:t>
            </a:r>
            <a:r>
              <a:rPr lang="en-US" dirty="0"/>
              <a:t>” command</a:t>
            </a:r>
            <a:br>
              <a:rPr lang="en-US" dirty="0"/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info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Tips: </a:t>
            </a:r>
          </a:p>
          <a:p>
            <a:pPr lvl="1"/>
            <a:r>
              <a:rPr lang="en-US" dirty="0"/>
              <a:t>To exit an info page, </a:t>
            </a:r>
            <a:r>
              <a:rPr lang="nl-BE" dirty="0"/>
              <a:t>type the “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q</a:t>
            </a:r>
            <a:r>
              <a:rPr lang="nl-BE" dirty="0"/>
              <a:t>” </a:t>
            </a:r>
            <a:r>
              <a:rPr lang="nl-BE" dirty="0" err="1"/>
              <a:t>key</a:t>
            </a:r>
            <a:r>
              <a:rPr lang="nl-BE" dirty="0"/>
              <a:t>.</a:t>
            </a:r>
          </a:p>
          <a:p>
            <a:pPr lvl="1"/>
            <a:r>
              <a:rPr lang="nl-BE" dirty="0"/>
              <a:t>Type “h” </a:t>
            </a:r>
            <a:r>
              <a:rPr lang="nl-BE" dirty="0" err="1"/>
              <a:t>to</a:t>
            </a:r>
            <a:r>
              <a:rPr lang="nl-BE" dirty="0"/>
              <a:t> get more help on the info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91176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Getting</a:t>
            </a:r>
            <a:r>
              <a:rPr lang="nl-BE" dirty="0"/>
              <a:t>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bash has a built-in help facility available for each of the shell </a:t>
            </a:r>
            <a:r>
              <a:rPr lang="en-US" i="1" dirty="0" err="1"/>
              <a:t>builtins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help cd</a:t>
            </a:r>
            <a:r>
              <a:rPr lang="en-US" dirty="0"/>
              <a:t> </a:t>
            </a:r>
            <a:br>
              <a:rPr lang="nl-BE" dirty="0"/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help </a:t>
            </a:r>
            <a:r>
              <a:rPr lang="pl-PL" dirty="0" err="1">
                <a:latin typeface="Courier New" pitchFamily="49" charset="0"/>
                <a:cs typeface="Courier New" pitchFamily="49" charset="0"/>
              </a:rPr>
              <a:t>pwd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whatis</a:t>
            </a:r>
            <a:r>
              <a:rPr lang="en-US" dirty="0"/>
              <a:t> displays a very brief description of a command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whatis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l-PL" dirty="0" err="1">
                <a:latin typeface="Courier New" pitchFamily="49" charset="0"/>
                <a:cs typeface="Courier New" pitchFamily="49" charset="0"/>
              </a:rPr>
              <a:t>pwd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39774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Useful</a:t>
            </a:r>
            <a:r>
              <a:rPr lang="nl-BE" dirty="0"/>
              <a:t> </a:t>
            </a:r>
            <a:r>
              <a:rPr lang="nl-BE" dirty="0" err="1"/>
              <a:t>commands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Clear the contents of the current screen </a:t>
            </a:r>
            <a:br>
              <a:rPr lang="en-US" sz="2200" dirty="0"/>
            </a:b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nl-BE" sz="2200" dirty="0" err="1">
                <a:latin typeface="Courier New" pitchFamily="49" charset="0"/>
                <a:cs typeface="Courier New" pitchFamily="49" charset="0"/>
              </a:rPr>
              <a:t>clear</a:t>
            </a:r>
            <a:endParaRPr lang="nl-BE" sz="2200" dirty="0">
              <a:latin typeface="Courier New" pitchFamily="49" charset="0"/>
              <a:cs typeface="Courier New" pitchFamily="49" charset="0"/>
            </a:endParaRPr>
          </a:p>
          <a:p>
            <a:r>
              <a:rPr lang="pl-PL" sz="2200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sz="2200" dirty="0" err="1">
                <a:latin typeface="Courier New" pitchFamily="49" charset="0"/>
                <a:cs typeface="Courier New" pitchFamily="49" charset="0"/>
              </a:rPr>
              <a:t>logout</a:t>
            </a:r>
            <a:endParaRPr lang="nl-BE" sz="22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200" dirty="0"/>
              <a:t>The logout</a:t>
            </a:r>
            <a:r>
              <a:rPr lang="en-US" sz="2200" b="1" dirty="0"/>
              <a:t> </a:t>
            </a:r>
            <a:r>
              <a:rPr lang="en-US" sz="2200" dirty="0"/>
              <a:t>command logs your account out of the system</a:t>
            </a:r>
            <a:r>
              <a:rPr lang="pl-PL" sz="2200" dirty="0"/>
              <a:t> (in a text mode)</a:t>
            </a:r>
            <a:r>
              <a:rPr lang="en-US" sz="2200" dirty="0"/>
              <a:t>. </a:t>
            </a:r>
          </a:p>
          <a:p>
            <a:pPr lvl="1"/>
            <a:r>
              <a:rPr lang="en-US" sz="2200" dirty="0"/>
              <a:t>This will end your terminal session and return to the login screen. </a:t>
            </a:r>
          </a:p>
          <a:p>
            <a:pPr lvl="1"/>
            <a:r>
              <a:rPr lang="en-US" sz="2200" dirty="0"/>
              <a:t>Some systems may have a file called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.logout </a:t>
            </a:r>
            <a:r>
              <a:rPr lang="en-US" sz="2200" dirty="0"/>
              <a:t>or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bash_logout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/>
              <a:t>in each user's home directory. </a:t>
            </a:r>
            <a:endParaRPr lang="nl-BE" sz="2200" dirty="0"/>
          </a:p>
          <a:p>
            <a:r>
              <a:rPr lang="pl-PL" sz="2200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sz="2200" dirty="0">
                <a:latin typeface="Courier New" pitchFamily="49" charset="0"/>
                <a:cs typeface="Courier New" pitchFamily="49" charset="0"/>
              </a:rPr>
              <a:t>exit</a:t>
            </a:r>
          </a:p>
          <a:p>
            <a:pPr lvl="1"/>
            <a:r>
              <a:rPr lang="nl-BE" sz="2200" dirty="0">
                <a:cs typeface="Courier New" pitchFamily="49" charset="0"/>
              </a:rPr>
              <a:t>Exit </a:t>
            </a:r>
            <a:r>
              <a:rPr lang="nl-BE" sz="2200" dirty="0"/>
              <a:t>the </a:t>
            </a:r>
            <a:r>
              <a:rPr lang="nl-BE" sz="2200" dirty="0" err="1"/>
              <a:t>current</a:t>
            </a:r>
            <a:r>
              <a:rPr lang="nl-BE" sz="2200" dirty="0"/>
              <a:t> shell. </a:t>
            </a:r>
            <a:r>
              <a:rPr lang="en-US" sz="2200" dirty="0"/>
              <a:t>The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exit</a:t>
            </a:r>
            <a:r>
              <a:rPr lang="en-US" sz="2200" b="1" dirty="0"/>
              <a:t> </a:t>
            </a:r>
            <a:r>
              <a:rPr lang="en-US" sz="2200" dirty="0"/>
              <a:t>command is similar to the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logout</a:t>
            </a:r>
            <a:r>
              <a:rPr lang="en-US" sz="2200" b="1" dirty="0"/>
              <a:t> </a:t>
            </a:r>
            <a:r>
              <a:rPr lang="en-US" sz="2200" dirty="0"/>
              <a:t>command with the exception that it does not run the logout script located in the user's home directory. </a:t>
            </a:r>
            <a:endParaRPr lang="nl-BE" sz="2200" dirty="0"/>
          </a:p>
          <a:p>
            <a:endParaRPr lang="nl-BE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19446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Standard output</a:t>
            </a:r>
          </a:p>
        </p:txBody>
      </p:sp>
      <p:sp>
        <p:nvSpPr>
          <p:cNvPr id="3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All the commands outputting text on your terminal do it by writing to the </a:t>
            </a:r>
            <a:r>
              <a:rPr lang="en-US" b="1" dirty="0">
                <a:latin typeface="+mn-lt"/>
              </a:rPr>
              <a:t>standard output</a:t>
            </a:r>
            <a:r>
              <a:rPr lang="en-US" dirty="0">
                <a:latin typeface="+mn-lt"/>
              </a:rPr>
              <a:t>.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This is where the normal output from a program goes. 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Standard output can be written (</a:t>
            </a:r>
            <a:r>
              <a:rPr lang="en-US" b="1" dirty="0">
                <a:latin typeface="+mn-lt"/>
              </a:rPr>
              <a:t>redirected</a:t>
            </a:r>
            <a:r>
              <a:rPr lang="en-US" dirty="0">
                <a:latin typeface="+mn-lt"/>
              </a:rPr>
              <a:t>) to a file using 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>
                <a:latin typeface="+mn-lt"/>
              </a:rPr>
              <a:t> symbol</a:t>
            </a:r>
          </a:p>
          <a:p>
            <a:pPr marL="108000" indent="0">
              <a:buSzPct val="100000"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ls &gt; 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/list.txt</a:t>
            </a:r>
          </a:p>
          <a:p>
            <a:pPr marL="108000" indent="0">
              <a:buSzPct val="100000"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date &gt; date.txt	</a:t>
            </a:r>
            <a:r>
              <a:rPr lang="en-US" dirty="0">
                <a:latin typeface="+mj-lt"/>
                <a:cs typeface="Courier New" pitchFamily="49" charset="0"/>
              </a:rPr>
              <a:t>(writes date info to date.txt)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Standard output can be </a:t>
            </a:r>
            <a:r>
              <a:rPr lang="en-US" b="1" dirty="0">
                <a:latin typeface="+mn-lt"/>
              </a:rPr>
              <a:t>appended</a:t>
            </a:r>
            <a:r>
              <a:rPr lang="en-US" dirty="0">
                <a:latin typeface="+mn-lt"/>
              </a:rPr>
              <a:t> to an existing file using 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dirty="0">
                <a:latin typeface="+mn-lt"/>
              </a:rPr>
              <a:t> symbol</a:t>
            </a:r>
          </a:p>
          <a:p>
            <a:pPr marL="108000" indent="0">
              <a:buSzPct val="100000"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ls &gt;&gt; 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/list.txt</a:t>
            </a:r>
          </a:p>
          <a:p>
            <a:pPr>
              <a:buSzPct val="100000"/>
              <a:buFont typeface="Arial" pitchFamily="34" charset="0"/>
              <a:buChar char="•"/>
            </a:pPr>
            <a:endParaRPr lang="en-US" dirty="0">
              <a:latin typeface="+mn-lt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en-US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62670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1440000"/>
            <a:ext cx="8173342" cy="4678362"/>
          </a:xfrm>
        </p:spPr>
        <p:txBody>
          <a:bodyPr/>
          <a:lstStyle/>
          <a:p>
            <a:r>
              <a:rPr lang="en-US" dirty="0"/>
              <a:t>There are two different types of output: </a:t>
            </a:r>
          </a:p>
          <a:p>
            <a:pPr lvl="1"/>
            <a:r>
              <a:rPr lang="nl-BE" dirty="0"/>
              <a:t>1. Standard output (STDOUT) </a:t>
            </a:r>
          </a:p>
          <a:p>
            <a:pPr lvl="1"/>
            <a:r>
              <a:rPr lang="nl-BE" dirty="0"/>
              <a:t>2. Error output (STDERR) </a:t>
            </a:r>
          </a:p>
          <a:p>
            <a:pPr lvl="1"/>
            <a:endParaRPr lang="nl-BE" dirty="0"/>
          </a:p>
          <a:p>
            <a:pPr marL="0" indent="0">
              <a:buNone/>
            </a:pPr>
            <a:r>
              <a:rPr lang="nl-BE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NonExi</a:t>
            </a:r>
            <a:r>
              <a:rPr lang="pl-PL" dirty="0" err="1">
                <a:latin typeface="Courier New" pitchFamily="49" charset="0"/>
                <a:cs typeface="Courier New" pitchFamily="49" charset="0"/>
              </a:rPr>
              <a:t>st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File 1&gt;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ls.out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2&gt;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ls.err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nl-BE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-l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* </a:t>
            </a:r>
            <a:endParaRPr lang="pl-PL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pl-PL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pl-PL" dirty="0" err="1">
                <a:latin typeface="Courier New" pitchFamily="49" charset="0"/>
                <a:cs typeface="Courier New" pitchFamily="49" charset="0"/>
              </a:rPr>
              <a:t>cat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.out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cat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.err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ls: cannot access 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NonExistFile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No such file or directory 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lvl="1" indent="0">
              <a:buNone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40</a:t>
            </a:fld>
            <a:endParaRPr lang="nl-NL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7D63634-07E4-5B6C-1CF5-5B18CD01FB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180000"/>
            <a:ext cx="8334000" cy="900000"/>
          </a:xfrm>
        </p:spPr>
        <p:txBody>
          <a:bodyPr/>
          <a:lstStyle/>
          <a:p>
            <a:r>
              <a:rPr lang="nl-BE" dirty="0"/>
              <a:t>Standard output</a:t>
            </a:r>
          </a:p>
        </p:txBody>
      </p:sp>
    </p:spTree>
    <p:extLst>
      <p:ext uri="{BB962C8B-B14F-4D97-AF65-F5344CB8AC3E}">
        <p14:creationId xmlns:p14="http://schemas.microsoft.com/office/powerpoint/2010/main" val="12749094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addition to </a:t>
            </a:r>
            <a:r>
              <a:rPr lang="en-US" i="1" dirty="0"/>
              <a:t>STDOUT </a:t>
            </a:r>
            <a:r>
              <a:rPr lang="en-US" dirty="0"/>
              <a:t>and </a:t>
            </a:r>
            <a:r>
              <a:rPr lang="en-US" i="1" dirty="0"/>
              <a:t>STDERR </a:t>
            </a:r>
            <a:r>
              <a:rPr lang="en-US" dirty="0"/>
              <a:t>you can also redirect input from another location (such as a file) to a command. This is known as standard input or </a:t>
            </a:r>
            <a:r>
              <a:rPr lang="en-US" i="1" dirty="0"/>
              <a:t>STDIN</a:t>
            </a:r>
            <a:r>
              <a:rPr lang="en-US" dirty="0"/>
              <a:t>.</a:t>
            </a:r>
          </a:p>
          <a:p>
            <a:r>
              <a:rPr lang="en-US" dirty="0"/>
              <a:t>the source of input data for command line programs</a:t>
            </a:r>
          </a:p>
          <a:p>
            <a:r>
              <a:rPr lang="en-US" dirty="0"/>
              <a:t>STDIN: usually keyboard</a:t>
            </a:r>
          </a:p>
          <a:p>
            <a:r>
              <a:rPr lang="en-US" dirty="0"/>
              <a:t>redirect also possible</a:t>
            </a:r>
          </a:p>
          <a:p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sort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&lt; tabel.dat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41</a:t>
            </a:fld>
            <a:endParaRPr lang="nl-NL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6DE92786-6D27-4429-4B6B-94092A293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180000"/>
            <a:ext cx="8334000" cy="900000"/>
          </a:xfrm>
        </p:spPr>
        <p:txBody>
          <a:bodyPr/>
          <a:lstStyle/>
          <a:p>
            <a:r>
              <a:rPr lang="nl-BE" dirty="0"/>
              <a:t>Standard input</a:t>
            </a:r>
          </a:p>
        </p:txBody>
      </p:sp>
    </p:spTree>
    <p:extLst>
      <p:ext uri="{BB962C8B-B14F-4D97-AF65-F5344CB8AC3E}">
        <p14:creationId xmlns:p14="http://schemas.microsoft.com/office/powerpoint/2010/main" val="2985903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Pipes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Pipes (also referred to as pipelines) can be used to direct the output of one command to the input of another. </a:t>
            </a:r>
            <a:br>
              <a:rPr lang="en-US" dirty="0"/>
            </a:br>
            <a:r>
              <a:rPr lang="en-US" dirty="0"/>
              <a:t>The Shell arranges it so that the standard output of one command is fed to another command</a:t>
            </a:r>
          </a:p>
          <a:p>
            <a:r>
              <a:rPr lang="en-US" dirty="0"/>
              <a:t>use the </a:t>
            </a:r>
            <a:r>
              <a:rPr lang="en-US" b="1" dirty="0"/>
              <a:t>| </a:t>
            </a:r>
            <a:r>
              <a:rPr lang="en-US" dirty="0"/>
              <a:t>key on the keyboard</a:t>
            </a:r>
            <a:endParaRPr lang="nl-BE" dirty="0"/>
          </a:p>
          <a:p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/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|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sort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nl-BE" dirty="0" err="1">
                <a:latin typeface="+mj-lt"/>
                <a:cs typeface="Courier New" pitchFamily="49" charset="0"/>
              </a:rPr>
              <a:t>sorts</a:t>
            </a:r>
            <a:r>
              <a:rPr lang="nl-BE" dirty="0">
                <a:latin typeface="+mj-lt"/>
                <a:cs typeface="Courier New" pitchFamily="49" charset="0"/>
              </a:rPr>
              <a:t> </a:t>
            </a:r>
            <a:r>
              <a:rPr lang="nl-BE" dirty="0" err="1">
                <a:latin typeface="+mj-lt"/>
                <a:cs typeface="Courier New" pitchFamily="49" charset="0"/>
              </a:rPr>
              <a:t>ls</a:t>
            </a:r>
            <a:r>
              <a:rPr lang="nl-BE" dirty="0">
                <a:latin typeface="+mj-lt"/>
                <a:cs typeface="Courier New" pitchFamily="49" charset="0"/>
              </a:rPr>
              <a:t> output </a:t>
            </a:r>
            <a:r>
              <a:rPr lang="nl-BE" dirty="0" err="1">
                <a:latin typeface="+mj-lt"/>
                <a:cs typeface="Courier New" pitchFamily="49" charset="0"/>
              </a:rPr>
              <a:t>alphabetically</a:t>
            </a:r>
            <a:br>
              <a:rPr lang="nl-BE" b="1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+mn-lt"/>
                <a:cs typeface="Courier New" pitchFamily="49" charset="0"/>
              </a:rPr>
              <a:t>(</a:t>
            </a:r>
            <a:r>
              <a:rPr lang="nl-BE" dirty="0" err="1">
                <a:latin typeface="+mn-lt"/>
                <a:cs typeface="Courier New" pitchFamily="49" charset="0"/>
              </a:rPr>
              <a:t>c</a:t>
            </a:r>
            <a:r>
              <a:rPr lang="nl-BE" dirty="0" err="1">
                <a:latin typeface="+mj-lt"/>
                <a:cs typeface="Courier New" pitchFamily="49" charset="0"/>
              </a:rPr>
              <a:t>ompare</a:t>
            </a:r>
            <a:r>
              <a:rPr lang="nl-BE" dirty="0">
                <a:latin typeface="+mj-lt"/>
                <a:cs typeface="Courier New" pitchFamily="49" charset="0"/>
              </a:rPr>
              <a:t> </a:t>
            </a:r>
            <a:r>
              <a:rPr lang="nl-BE" dirty="0" err="1">
                <a:latin typeface="+mj-lt"/>
                <a:cs typeface="Courier New" pitchFamily="49" charset="0"/>
              </a:rPr>
              <a:t>with</a:t>
            </a:r>
            <a:r>
              <a:rPr lang="nl-BE" dirty="0">
                <a:latin typeface="+mj-lt"/>
                <a:cs typeface="Courier New" pitchFamily="49" charset="0"/>
              </a:rPr>
              <a:t> 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/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&gt;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sort</a:t>
            </a:r>
            <a:r>
              <a:rPr lang="nl-BE" dirty="0">
                <a:latin typeface="+mn-lt"/>
                <a:cs typeface="Courier New" pitchFamily="49" charset="0"/>
              </a:rPr>
              <a:t>)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42</a:t>
            </a:fld>
            <a:endParaRPr lang="nl-NL"/>
          </a:p>
        </p:txBody>
      </p:sp>
      <p:pic>
        <p:nvPicPr>
          <p:cNvPr id="3074" name="Picture 2" descr="Pipeline of Mario Bros by MoꓷElos Creaciones | Download free STL model ...">
            <a:extLst>
              <a:ext uri="{FF2B5EF4-FFF2-40B4-BE49-F238E27FC236}">
                <a16:creationId xmlns:a16="http://schemas.microsoft.com/office/drawing/2014/main" id="{F0AB49CE-C66F-4BCC-8507-46B74ACC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250" l="3942" r="96058">
                        <a14:foregroundMark x1="6569" y1="59000" x2="16642" y2="73500"/>
                        <a14:foregroundMark x1="16642" y1="73500" x2="8613" y2="63250"/>
                        <a14:foregroundMark x1="3942" y1="56750" x2="4380" y2="87250"/>
                        <a14:foregroundMark x1="51533" y1="42500" x2="69927" y2="47000"/>
                        <a14:foregroundMark x1="69927" y1="47000" x2="65109" y2="74250"/>
                        <a14:foregroundMark x1="65109" y1="74250" x2="58832" y2="54750"/>
                        <a14:foregroundMark x1="58832" y1="54750" x2="54453" y2="76500"/>
                        <a14:foregroundMark x1="54453" y1="76500" x2="66569" y2="88500"/>
                        <a14:foregroundMark x1="66569" y1="88500" x2="68467" y2="88500"/>
                        <a14:foregroundMark x1="5693" y1="51750" x2="12409" y2="52250"/>
                        <a14:foregroundMark x1="27007" y1="26250" x2="27299" y2="25750"/>
                        <a14:foregroundMark x1="26715" y1="25500" x2="26861" y2="17500"/>
                        <a14:foregroundMark x1="4088" y1="61250" x2="4234" y2="72750"/>
                        <a14:foregroundMark x1="77372" y1="73750" x2="90511" y2="75500"/>
                        <a14:foregroundMark x1="90511" y1="75500" x2="80000" y2="89500"/>
                        <a14:foregroundMark x1="80000" y1="89500" x2="78832" y2="85750"/>
                        <a14:foregroundMark x1="93577" y1="64500" x2="95620" y2="87250"/>
                        <a14:foregroundMark x1="95620" y1="87250" x2="96204" y2="68000"/>
                        <a14:foregroundMark x1="28613" y1="90250" x2="43504" y2="90000"/>
                        <a14:foregroundMark x1="43504" y1="90000" x2="47007" y2="90000"/>
                        <a14:foregroundMark x1="78978" y1="64000" x2="86131" y2="64250"/>
                        <a14:foregroundMark x1="54599" y1="38500" x2="60438" y2="38500"/>
                        <a14:foregroundMark x1="28613" y1="17000" x2="44526" y2="17750"/>
                        <a14:foregroundMark x1="96058" y1="71250" x2="94891" y2="83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427881"/>
            <a:ext cx="3699410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A8A11123-3E90-E15D-892B-3E3CC9720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59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Globbing</a:t>
            </a:r>
            <a:r>
              <a:rPr lang="nl-BE" dirty="0"/>
              <a:t>: </a:t>
            </a:r>
            <a:r>
              <a:rPr lang="nl-BE" dirty="0" err="1"/>
              <a:t>use</a:t>
            </a:r>
            <a:r>
              <a:rPr lang="nl-BE"/>
              <a:t> wildcard</a:t>
            </a:r>
            <a:endParaRPr lang="nl-B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19138" y="1439863"/>
          <a:ext cx="7920038" cy="33223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60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2400" u="none" strike="noStrike" baseline="0" dirty="0"/>
                        <a:t>Wildcard 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u="none" strike="noStrike" baseline="0" dirty="0" err="1"/>
                        <a:t>Function</a:t>
                      </a:r>
                      <a:r>
                        <a:rPr lang="nl-BE" sz="2400" u="none" strike="noStrike" baseline="0" dirty="0"/>
                        <a:t> </a:t>
                      </a:r>
                      <a:endParaRPr lang="nl-B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Matches 0 or more characters 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800" u="none" strike="noStrike" baseline="0" dirty="0"/>
                        <a:t>Matches 1 </a:t>
                      </a:r>
                      <a:r>
                        <a:rPr lang="nl-BE" sz="1800" u="none" strike="noStrike" baseline="0" dirty="0" err="1"/>
                        <a:t>character</a:t>
                      </a:r>
                      <a:r>
                        <a:rPr lang="nl-BE" sz="1800" u="none" strike="noStrike" baseline="0" dirty="0"/>
                        <a:t> 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[</a:t>
                      </a:r>
                      <a:r>
                        <a:rPr lang="en-US" sz="1800" u="none" strike="noStrike" baseline="0" dirty="0" err="1"/>
                        <a:t>abc</a:t>
                      </a:r>
                      <a:r>
                        <a:rPr lang="en-US" sz="1800" u="none" strike="noStrike" baseline="0" dirty="0"/>
                        <a:t>] 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baseline="0" dirty="0"/>
                        <a:t>Matches one of the characters listed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[a-c] 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Matches one character in the range 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[!</a:t>
                      </a:r>
                      <a:r>
                        <a:rPr lang="en-US" sz="1800" u="none" strike="noStrike" baseline="0" dirty="0" err="1"/>
                        <a:t>abc</a:t>
                      </a:r>
                      <a:r>
                        <a:rPr lang="en-US" sz="1800" u="none" strike="noStrike" baseline="0" dirty="0"/>
                        <a:t>] 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Matches any character not listed 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[!a-c] 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Matches any character not listed in the range 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{</a:t>
                      </a:r>
                      <a:r>
                        <a:rPr lang="en-US" sz="1800" u="none" strike="noStrike" baseline="0" dirty="0" err="1"/>
                        <a:t>tacos,nachos</a:t>
                      </a:r>
                      <a:r>
                        <a:rPr lang="en-US" sz="1800" u="none" strike="noStrike" baseline="0" dirty="0"/>
                        <a:t>} 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baseline="0" dirty="0"/>
                        <a:t>Matches one word in the list 	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5576" y="5013176"/>
            <a:ext cx="480131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/host*</a:t>
            </a:r>
          </a:p>
          <a:p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/host.{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conf,allow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} 	</a:t>
            </a:r>
          </a:p>
          <a:p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/host[!s]* 	</a:t>
            </a:r>
          </a:p>
          <a:p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 -l /</a:t>
            </a:r>
            <a:r>
              <a:rPr lang="nl-BE" dirty="0" err="1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etc</a:t>
            </a:r>
            <a:r>
              <a:rPr lang="nl-BE" dirty="0">
                <a:solidFill>
                  <a:srgbClr val="182B52"/>
                </a:solidFill>
                <a:latin typeface="Courier New" pitchFamily="49" charset="0"/>
                <a:cs typeface="Courier New" pitchFamily="49" charset="0"/>
              </a:rPr>
              <a:t>/host? 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43</a:t>
            </a:fld>
            <a:endParaRPr lang="nl-NL"/>
          </a:p>
        </p:txBody>
      </p:sp>
      <p:pic>
        <p:nvPicPr>
          <p:cNvPr id="7" name="Graphic 6" descr="Key with solid fill">
            <a:extLst>
              <a:ext uri="{FF2B5EF4-FFF2-40B4-BE49-F238E27FC236}">
                <a16:creationId xmlns:a16="http://schemas.microsoft.com/office/drawing/2014/main" id="{87DB6851-A4C3-2936-F93F-93CD4EAAF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34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2987824" y="2304000"/>
            <a:ext cx="5886176" cy="1800200"/>
          </a:xfrm>
        </p:spPr>
        <p:txBody>
          <a:bodyPr/>
          <a:lstStyle/>
          <a:p>
            <a:r>
              <a:rPr lang="nl-BE" dirty="0"/>
              <a:t>The Linux file system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74155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Linux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1268760"/>
            <a:ext cx="7920000" cy="4678362"/>
          </a:xfrm>
        </p:spPr>
        <p:txBody>
          <a:bodyPr/>
          <a:lstStyle/>
          <a:p>
            <a:r>
              <a:rPr lang="en-US" sz="1800" i="1" dirty="0"/>
              <a:t>hierarchical directory structure</a:t>
            </a:r>
            <a:r>
              <a:rPr lang="en-US" sz="1800" dirty="0"/>
              <a:t>: files are organized in a tree-like pattern of directories (folders), which may contain files and other directories, etc.</a:t>
            </a:r>
          </a:p>
          <a:p>
            <a:r>
              <a:rPr lang="en-US" sz="1800" dirty="0">
                <a:ea typeface="HG Mincho Light J"/>
                <a:cs typeface="Tahoma" pitchFamily="34" charset="0"/>
              </a:rPr>
              <a:t>Everything is a file:</a:t>
            </a:r>
          </a:p>
          <a:p>
            <a:pPr lvl="1"/>
            <a:r>
              <a:rPr lang="en-US" sz="1800" dirty="0">
                <a:ea typeface="HG Mincho Light J"/>
                <a:cs typeface="Tahoma" pitchFamily="34" charset="0"/>
              </a:rPr>
              <a:t>Regular files</a:t>
            </a:r>
          </a:p>
          <a:p>
            <a:pPr lvl="1"/>
            <a:r>
              <a:rPr lang="en-US" sz="1800" dirty="0">
                <a:ea typeface="HG Mincho Light J"/>
                <a:cs typeface="Tahoma" pitchFamily="34" charset="0"/>
              </a:rPr>
              <a:t>Directories: files listing a set of files</a:t>
            </a:r>
          </a:p>
          <a:p>
            <a:pPr lvl="1"/>
            <a:r>
              <a:rPr lang="en-US" sz="1800" dirty="0">
                <a:ea typeface="HG Mincho Light J"/>
                <a:cs typeface="Tahoma" pitchFamily="34" charset="0"/>
              </a:rPr>
              <a:t>Symbolic links: files referring to the name of another file</a:t>
            </a:r>
          </a:p>
          <a:p>
            <a:r>
              <a:rPr lang="en-US" sz="1800" i="1" dirty="0"/>
              <a:t>root </a:t>
            </a:r>
            <a:r>
              <a:rPr lang="en-US" sz="1800" b="1" i="1" dirty="0">
                <a:solidFill>
                  <a:schemeClr val="accent1"/>
                </a:solidFill>
              </a:rPr>
              <a:t>/</a:t>
            </a:r>
            <a:r>
              <a:rPr lang="en-US" sz="1800" i="1" dirty="0"/>
              <a:t>: th</a:t>
            </a:r>
            <a:r>
              <a:rPr lang="en-US" sz="1800" dirty="0"/>
              <a:t>e first directory in the file system. </a:t>
            </a:r>
          </a:p>
          <a:p>
            <a:r>
              <a:rPr lang="en-US" sz="1800" dirty="0"/>
              <a:t>Note: comparison with Windows, </a:t>
            </a:r>
          </a:p>
          <a:p>
            <a:pPr lvl="1"/>
            <a:r>
              <a:rPr lang="en-US" sz="1800" dirty="0"/>
              <a:t>Windows has a separate file system tree for each storage device (e.g. C-drive, D-drive, I-drive, …)</a:t>
            </a:r>
          </a:p>
          <a:p>
            <a:pPr lvl="1"/>
            <a:r>
              <a:rPr lang="en-US" sz="1800" dirty="0"/>
              <a:t>Linux has a single file system tree, regardless of how many drives or storage devices are attached to the computer. </a:t>
            </a:r>
            <a:br>
              <a:rPr lang="en-US" sz="1800" dirty="0"/>
            </a:br>
            <a:r>
              <a:rPr lang="en-US" sz="1800" dirty="0"/>
              <a:t>Storage devices are attached (or </a:t>
            </a:r>
            <a:r>
              <a:rPr lang="en-US" sz="1800" i="1" dirty="0"/>
              <a:t>mounted</a:t>
            </a:r>
            <a:r>
              <a:rPr lang="en-US" sz="1800" dirty="0"/>
              <a:t>) at various points on the tree.</a:t>
            </a:r>
            <a:endParaRPr lang="nl-BE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79007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Linux File System</a:t>
            </a:r>
          </a:p>
        </p:txBody>
      </p:sp>
      <p:sp>
        <p:nvSpPr>
          <p:cNvPr id="5" name="Rechthoek 4"/>
          <p:cNvSpPr/>
          <p:nvPr/>
        </p:nvSpPr>
        <p:spPr>
          <a:xfrm>
            <a:off x="323528" y="6104329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>
                <a:solidFill>
                  <a:schemeClr val="tx1"/>
                </a:solidFill>
              </a:rPr>
              <a:t>Source: http://linuxsuperuser07.blogspot.be/2011/09/rhel-6-file-system.html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46</a:t>
            </a:fld>
            <a:endParaRPr lang="nl-NL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3167DF4-6D55-4708-40DE-4841C871F1E6}"/>
              </a:ext>
            </a:extLst>
          </p:cNvPr>
          <p:cNvGrpSpPr/>
          <p:nvPr/>
        </p:nvGrpSpPr>
        <p:grpSpPr>
          <a:xfrm>
            <a:off x="705908" y="3176223"/>
            <a:ext cx="4616736" cy="2664056"/>
            <a:chOff x="720000" y="3168000"/>
            <a:chExt cx="4616736" cy="266405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C9D635A-3A07-1C7C-31C3-A74E8112E71D}"/>
                </a:ext>
              </a:extLst>
            </p:cNvPr>
            <p:cNvSpPr/>
            <p:nvPr/>
          </p:nvSpPr>
          <p:spPr>
            <a:xfrm>
              <a:off x="720000" y="316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>
                      <a:lumMod val="50000"/>
                    </a:schemeClr>
                  </a:solidFill>
                </a:rPr>
                <a:t>Super user home directory</a:t>
              </a:r>
              <a:endParaRPr lang="nl-BE" sz="14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24C3A4A-B358-8D51-1863-1B14D49E42EA}"/>
                </a:ext>
              </a:extLst>
            </p:cNvPr>
            <p:cNvSpPr/>
            <p:nvPr/>
          </p:nvSpPr>
          <p:spPr>
            <a:xfrm>
              <a:off x="1008000" y="388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>
                      <a:lumMod val="50000"/>
                    </a:schemeClr>
                  </a:solidFill>
                </a:rPr>
                <a:t>Kernel image</a:t>
              </a:r>
              <a:endParaRPr lang="nl-BE" sz="14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D2CF0333-1C73-1B17-9AA1-4D35E7C4E1B4}"/>
                </a:ext>
              </a:extLst>
            </p:cNvPr>
            <p:cNvSpPr/>
            <p:nvPr/>
          </p:nvSpPr>
          <p:spPr>
            <a:xfrm>
              <a:off x="1296000" y="460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4">
                      <a:lumMod val="50000"/>
                    </a:schemeClr>
                  </a:solidFill>
                </a:rPr>
                <a:t>System configuration files</a:t>
              </a:r>
              <a:endParaRPr lang="nl-BE" sz="12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72DF476-8BEC-00E3-F8D4-96F0FEB7C6CE}"/>
                </a:ext>
              </a:extLst>
            </p:cNvPr>
            <p:cNvSpPr/>
            <p:nvPr/>
          </p:nvSpPr>
          <p:spPr>
            <a:xfrm>
              <a:off x="1584000" y="532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>
                      <a:lumMod val="50000"/>
                    </a:schemeClr>
                  </a:solidFill>
                </a:rPr>
                <a:t>User home directories</a:t>
              </a:r>
              <a:endParaRPr lang="nl-BE" sz="14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001F18A-1FF2-B797-D8F0-F23B0651BBC1}"/>
                </a:ext>
              </a:extLst>
            </p:cNvPr>
            <p:cNvSpPr/>
            <p:nvPr/>
          </p:nvSpPr>
          <p:spPr>
            <a:xfrm>
              <a:off x="2960568" y="316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4">
                      <a:lumMod val="50000"/>
                    </a:schemeClr>
                  </a:solidFill>
                </a:rPr>
                <a:t>General purpose mount point</a:t>
              </a:r>
              <a:endParaRPr lang="nl-BE" sz="12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DDDB5C4-5560-8580-7C23-F42CEC4D0C80}"/>
                </a:ext>
              </a:extLst>
            </p:cNvPr>
            <p:cNvSpPr/>
            <p:nvPr/>
          </p:nvSpPr>
          <p:spPr>
            <a:xfrm>
              <a:off x="3248568" y="388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>
                      <a:lumMod val="50000"/>
                    </a:schemeClr>
                  </a:solidFill>
                </a:rPr>
                <a:t>View of internal </a:t>
              </a:r>
              <a:r>
                <a:rPr lang="en-US" sz="1400" dirty="0" err="1">
                  <a:solidFill>
                    <a:schemeClr val="accent4">
                      <a:lumMod val="50000"/>
                    </a:schemeClr>
                  </a:solidFill>
                </a:rPr>
                <a:t>kernal</a:t>
              </a:r>
              <a:r>
                <a:rPr lang="en-US" sz="1400" dirty="0">
                  <a:solidFill>
                    <a:schemeClr val="accent4">
                      <a:lumMod val="50000"/>
                    </a:schemeClr>
                  </a:solidFill>
                </a:rPr>
                <a:t> data</a:t>
              </a:r>
              <a:endParaRPr lang="nl-BE" sz="14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7725439-F828-9B77-BB83-BCAF2CADD800}"/>
                </a:ext>
              </a:extLst>
            </p:cNvPr>
            <p:cNvSpPr/>
            <p:nvPr/>
          </p:nvSpPr>
          <p:spPr>
            <a:xfrm>
              <a:off x="3536568" y="460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>
                      <a:lumMod val="50000"/>
                    </a:schemeClr>
                  </a:solidFill>
                </a:rPr>
                <a:t>Kernel view of the hardware</a:t>
              </a:r>
              <a:endParaRPr lang="nl-BE" sz="14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E2F5729-A191-58EB-3312-090DFE90681E}"/>
                </a:ext>
              </a:extLst>
            </p:cNvPr>
            <p:cNvSpPr/>
            <p:nvPr/>
          </p:nvSpPr>
          <p:spPr>
            <a:xfrm>
              <a:off x="3824568" y="5328000"/>
              <a:ext cx="1512168" cy="504056"/>
            </a:xfrm>
            <a:prstGeom prst="roundRect">
              <a:avLst/>
            </a:prstGeom>
            <a:noFill/>
            <a:ln>
              <a:solidFill>
                <a:srgbClr val="167C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>
                      <a:lumMod val="50000"/>
                    </a:schemeClr>
                  </a:solidFill>
                </a:rPr>
                <a:t>Special device files</a:t>
              </a:r>
              <a:endParaRPr lang="nl-BE" sz="14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D7EE74D-962B-24C7-4682-2EBD4574DE7C}"/>
              </a:ext>
            </a:extLst>
          </p:cNvPr>
          <p:cNvSpPr/>
          <p:nvPr/>
        </p:nvSpPr>
        <p:spPr>
          <a:xfrm>
            <a:off x="5546600" y="3526912"/>
            <a:ext cx="1187576" cy="297684"/>
          </a:xfrm>
          <a:prstGeom prst="roundRect">
            <a:avLst/>
          </a:prstGeom>
          <a:noFill/>
          <a:ln>
            <a:solidFill>
              <a:srgbClr val="167C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Executables</a:t>
            </a:r>
            <a:endParaRPr lang="nl-BE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067455E-DBF0-6C6F-6859-62F0C2480098}"/>
              </a:ext>
            </a:extLst>
          </p:cNvPr>
          <p:cNvSpPr/>
          <p:nvPr/>
        </p:nvSpPr>
        <p:spPr>
          <a:xfrm>
            <a:off x="6554624" y="3111294"/>
            <a:ext cx="914374" cy="297683"/>
          </a:xfrm>
          <a:prstGeom prst="roundRect">
            <a:avLst/>
          </a:prstGeom>
          <a:noFill/>
          <a:ln>
            <a:solidFill>
              <a:srgbClr val="167C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Libraries</a:t>
            </a:r>
            <a:endParaRPr lang="nl-BE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127" name="Rectangle: Rounded Corners 5126">
            <a:extLst>
              <a:ext uri="{FF2B5EF4-FFF2-40B4-BE49-F238E27FC236}">
                <a16:creationId xmlns:a16="http://schemas.microsoft.com/office/drawing/2014/main" id="{20E90A72-0162-232B-3783-062EC2F2B2D6}"/>
              </a:ext>
            </a:extLst>
          </p:cNvPr>
          <p:cNvSpPr/>
          <p:nvPr/>
        </p:nvSpPr>
        <p:spPr>
          <a:xfrm>
            <a:off x="5827862" y="4996165"/>
            <a:ext cx="1512168" cy="504056"/>
          </a:xfrm>
          <a:prstGeom prst="roundRect">
            <a:avLst/>
          </a:prstGeom>
          <a:noFill/>
          <a:ln>
            <a:solidFill>
              <a:srgbClr val="167C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More Executables</a:t>
            </a:r>
            <a:endParaRPr lang="nl-BE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128" name="Rectangle: Rounded Corners 5127">
            <a:extLst>
              <a:ext uri="{FF2B5EF4-FFF2-40B4-BE49-F238E27FC236}">
                <a16:creationId xmlns:a16="http://schemas.microsoft.com/office/drawing/2014/main" id="{F96B2D29-1EB0-88B0-ACE9-EC16A7E49DE0}"/>
              </a:ext>
            </a:extLst>
          </p:cNvPr>
          <p:cNvSpPr/>
          <p:nvPr/>
        </p:nvSpPr>
        <p:spPr>
          <a:xfrm>
            <a:off x="7512122" y="4989862"/>
            <a:ext cx="1187576" cy="504056"/>
          </a:xfrm>
          <a:prstGeom prst="roundRect">
            <a:avLst/>
          </a:prstGeom>
          <a:noFill/>
          <a:ln>
            <a:solidFill>
              <a:srgbClr val="167C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More Libraries</a:t>
            </a:r>
            <a:endParaRPr lang="nl-BE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5273" name="Group 5272">
            <a:extLst>
              <a:ext uri="{FF2B5EF4-FFF2-40B4-BE49-F238E27FC236}">
                <a16:creationId xmlns:a16="http://schemas.microsoft.com/office/drawing/2014/main" id="{7035CDB8-1F05-BD82-E233-ECA5CE173B4D}"/>
              </a:ext>
            </a:extLst>
          </p:cNvPr>
          <p:cNvGrpSpPr/>
          <p:nvPr/>
        </p:nvGrpSpPr>
        <p:grpSpPr>
          <a:xfrm>
            <a:off x="1097362" y="1315810"/>
            <a:ext cx="7543038" cy="3280107"/>
            <a:chOff x="1097362" y="1315810"/>
            <a:chExt cx="7543038" cy="3280107"/>
          </a:xfrm>
        </p:grpSpPr>
        <p:grpSp>
          <p:nvGrpSpPr>
            <p:cNvPr id="5256" name="Group 5255">
              <a:extLst>
                <a:ext uri="{FF2B5EF4-FFF2-40B4-BE49-F238E27FC236}">
                  <a16:creationId xmlns:a16="http://schemas.microsoft.com/office/drawing/2014/main" id="{EC0AA81A-F9B7-0F65-4D23-DC91E69C6690}"/>
                </a:ext>
              </a:extLst>
            </p:cNvPr>
            <p:cNvGrpSpPr/>
            <p:nvPr/>
          </p:nvGrpSpPr>
          <p:grpSpPr>
            <a:xfrm>
              <a:off x="1101486" y="1315810"/>
              <a:ext cx="7256408" cy="3280107"/>
              <a:chOff x="1101486" y="1315810"/>
              <a:chExt cx="7256408" cy="3280107"/>
            </a:xfrm>
          </p:grpSpPr>
          <p:sp>
            <p:nvSpPr>
              <p:cNvPr id="5120" name="Oval 5119">
                <a:extLst>
                  <a:ext uri="{FF2B5EF4-FFF2-40B4-BE49-F238E27FC236}">
                    <a16:creationId xmlns:a16="http://schemas.microsoft.com/office/drawing/2014/main" id="{855F2CE6-D63E-FCEF-421A-A93A361DC56B}"/>
                  </a:ext>
                </a:extLst>
              </p:cNvPr>
              <p:cNvSpPr/>
              <p:nvPr/>
            </p:nvSpPr>
            <p:spPr>
              <a:xfrm>
                <a:off x="7565806" y="4154935"/>
                <a:ext cx="792088" cy="43204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 sz="14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21" name="Oval 5120">
                <a:extLst>
                  <a:ext uri="{FF2B5EF4-FFF2-40B4-BE49-F238E27FC236}">
                    <a16:creationId xmlns:a16="http://schemas.microsoft.com/office/drawing/2014/main" id="{C1BC0B3D-8AD5-7C36-B129-AFD1276F3029}"/>
                  </a:ext>
                </a:extLst>
              </p:cNvPr>
              <p:cNvSpPr/>
              <p:nvPr/>
            </p:nvSpPr>
            <p:spPr>
              <a:xfrm>
                <a:off x="5762536" y="4163869"/>
                <a:ext cx="792088" cy="43204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 sz="14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23" name="Oval 5122">
                <a:extLst>
                  <a:ext uri="{FF2B5EF4-FFF2-40B4-BE49-F238E27FC236}">
                    <a16:creationId xmlns:a16="http://schemas.microsoft.com/office/drawing/2014/main" id="{A75CC560-C12D-9ADF-B89B-0C7B45A40A42}"/>
                  </a:ext>
                </a:extLst>
              </p:cNvPr>
              <p:cNvSpPr/>
              <p:nvPr/>
            </p:nvSpPr>
            <p:spPr>
              <a:xfrm>
                <a:off x="6651696" y="4163869"/>
                <a:ext cx="792088" cy="43204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 sz="14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70193018-B0CA-F4BB-0778-1E05B16E45E5}"/>
                  </a:ext>
                </a:extLst>
              </p:cNvPr>
              <p:cNvGrpSpPr/>
              <p:nvPr/>
            </p:nvGrpSpPr>
            <p:grpSpPr>
              <a:xfrm>
                <a:off x="1101486" y="1986576"/>
                <a:ext cx="6853700" cy="938368"/>
                <a:chOff x="1101486" y="1986576"/>
                <a:chExt cx="6853700" cy="938368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5816B755-3BE0-DEAD-0EA0-E56FF36B843A}"/>
                    </a:ext>
                  </a:extLst>
                </p:cNvPr>
                <p:cNvSpPr/>
                <p:nvPr/>
              </p:nvSpPr>
              <p:spPr>
                <a:xfrm>
                  <a:off x="1101486" y="1988840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981FBAF-D638-F9DF-DC33-54475A746FD8}"/>
                    </a:ext>
                  </a:extLst>
                </p:cNvPr>
                <p:cNvSpPr/>
                <p:nvPr/>
              </p:nvSpPr>
              <p:spPr>
                <a:xfrm>
                  <a:off x="2699792" y="2492896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FD575BC8-96FA-A760-AD91-8A81FBD56AE4}"/>
                    </a:ext>
                  </a:extLst>
                </p:cNvPr>
                <p:cNvSpPr/>
                <p:nvPr/>
              </p:nvSpPr>
              <p:spPr>
                <a:xfrm>
                  <a:off x="2188390" y="1993816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7C9C7FB-3FBE-F616-D139-C64A128FD0C9}"/>
                    </a:ext>
                  </a:extLst>
                </p:cNvPr>
                <p:cNvSpPr/>
                <p:nvPr/>
              </p:nvSpPr>
              <p:spPr>
                <a:xfrm>
                  <a:off x="1624380" y="2491764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2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9094984-F5F3-AF4A-340E-B1A3232235B2}"/>
                    </a:ext>
                  </a:extLst>
                </p:cNvPr>
                <p:cNvSpPr/>
                <p:nvPr/>
              </p:nvSpPr>
              <p:spPr>
                <a:xfrm>
                  <a:off x="3406652" y="1987708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7A9D6FE-0328-53A5-ADC2-3E997995379F}"/>
                    </a:ext>
                  </a:extLst>
                </p:cNvPr>
                <p:cNvSpPr/>
                <p:nvPr/>
              </p:nvSpPr>
              <p:spPr>
                <a:xfrm>
                  <a:off x="5004958" y="2491764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04293D62-50FB-2465-D02B-B719655D9451}"/>
                    </a:ext>
                  </a:extLst>
                </p:cNvPr>
                <p:cNvSpPr/>
                <p:nvPr/>
              </p:nvSpPr>
              <p:spPr>
                <a:xfrm>
                  <a:off x="4493556" y="1992684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A5822F6-F50A-8835-CB4C-17EA9E98ABD8}"/>
                    </a:ext>
                  </a:extLst>
                </p:cNvPr>
                <p:cNvSpPr/>
                <p:nvPr/>
              </p:nvSpPr>
              <p:spPr>
                <a:xfrm>
                  <a:off x="3929546" y="2490632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71E99C12-BEA0-6AAA-EB38-CB925BFFE732}"/>
                    </a:ext>
                  </a:extLst>
                </p:cNvPr>
                <p:cNvSpPr/>
                <p:nvPr/>
              </p:nvSpPr>
              <p:spPr>
                <a:xfrm>
                  <a:off x="5564792" y="1986576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A1BD8CD7-28FE-D585-F3BE-778618E381D8}"/>
                    </a:ext>
                  </a:extLst>
                </p:cNvPr>
                <p:cNvSpPr/>
                <p:nvPr/>
              </p:nvSpPr>
              <p:spPr>
                <a:xfrm>
                  <a:off x="7163098" y="2490632"/>
                  <a:ext cx="792088" cy="432048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74748CA7-B732-3B97-5F9E-CB1A24E6BDD4}"/>
                    </a:ext>
                  </a:extLst>
                </p:cNvPr>
                <p:cNvSpPr/>
                <p:nvPr/>
              </p:nvSpPr>
              <p:spPr>
                <a:xfrm>
                  <a:off x="6651696" y="1991552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81A1106-681A-AED3-DAED-B23CFB6C8A1B}"/>
                    </a:ext>
                  </a:extLst>
                </p:cNvPr>
                <p:cNvSpPr/>
                <p:nvPr/>
              </p:nvSpPr>
              <p:spPr>
                <a:xfrm>
                  <a:off x="6087686" y="2489500"/>
                  <a:ext cx="792088" cy="432048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 sz="1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2F02FD5-9AA6-445F-36AA-62E400B04972}"/>
                  </a:ext>
                </a:extLst>
              </p:cNvPr>
              <p:cNvSpPr/>
              <p:nvPr/>
            </p:nvSpPr>
            <p:spPr>
              <a:xfrm>
                <a:off x="4260726" y="1315810"/>
                <a:ext cx="437666" cy="413190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 sz="14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29" name="Left Brace 5128">
                <a:extLst>
                  <a:ext uri="{FF2B5EF4-FFF2-40B4-BE49-F238E27FC236}">
                    <a16:creationId xmlns:a16="http://schemas.microsoft.com/office/drawing/2014/main" id="{36B041AB-276C-A78A-8AEF-3A4F316A6D03}"/>
                  </a:ext>
                </a:extLst>
              </p:cNvPr>
              <p:cNvSpPr/>
              <p:nvPr/>
            </p:nvSpPr>
            <p:spPr>
              <a:xfrm rot="5400000">
                <a:off x="4387951" y="-1184611"/>
                <a:ext cx="241462" cy="6100914"/>
              </a:xfrm>
              <a:prstGeom prst="leftBrace">
                <a:avLst>
                  <a:gd name="adj1" fmla="val 8333"/>
                  <a:gd name="adj2" fmla="val 50410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130" name="Left Brace 5129">
                <a:extLst>
                  <a:ext uri="{FF2B5EF4-FFF2-40B4-BE49-F238E27FC236}">
                    <a16:creationId xmlns:a16="http://schemas.microsoft.com/office/drawing/2014/main" id="{36693341-8D80-EE34-2BD9-6D9AC4F3B29C}"/>
                  </a:ext>
                </a:extLst>
              </p:cNvPr>
              <p:cNvSpPr/>
              <p:nvPr/>
            </p:nvSpPr>
            <p:spPr>
              <a:xfrm rot="5400000">
                <a:off x="4405293" y="-84622"/>
                <a:ext cx="257570" cy="3899305"/>
              </a:xfrm>
              <a:prstGeom prst="leftBrace">
                <a:avLst>
                  <a:gd name="adj1" fmla="val 8333"/>
                  <a:gd name="adj2" fmla="val 51201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131" name="Left Brace 5130">
                <a:extLst>
                  <a:ext uri="{FF2B5EF4-FFF2-40B4-BE49-F238E27FC236}">
                    <a16:creationId xmlns:a16="http://schemas.microsoft.com/office/drawing/2014/main" id="{0F440CD8-A124-1F8C-9704-274E31B0A508}"/>
                  </a:ext>
                </a:extLst>
              </p:cNvPr>
              <p:cNvSpPr/>
              <p:nvPr/>
            </p:nvSpPr>
            <p:spPr>
              <a:xfrm rot="5400000">
                <a:off x="4470772" y="1056347"/>
                <a:ext cx="241462" cy="1618996"/>
              </a:xfrm>
              <a:prstGeom prst="leftBrace">
                <a:avLst>
                  <a:gd name="adj1" fmla="val 8333"/>
                  <a:gd name="adj2" fmla="val 56354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132" name="Left Brace 5131">
                <a:extLst>
                  <a:ext uri="{FF2B5EF4-FFF2-40B4-BE49-F238E27FC236}">
                    <a16:creationId xmlns:a16="http://schemas.microsoft.com/office/drawing/2014/main" id="{F0A65C90-DE00-A01E-30CC-9739007D1222}"/>
                  </a:ext>
                </a:extLst>
              </p:cNvPr>
              <p:cNvSpPr/>
              <p:nvPr/>
            </p:nvSpPr>
            <p:spPr>
              <a:xfrm rot="5400000">
                <a:off x="4389379" y="-632706"/>
                <a:ext cx="261942" cy="4999847"/>
              </a:xfrm>
              <a:prstGeom prst="leftBrace">
                <a:avLst>
                  <a:gd name="adj1" fmla="val 8333"/>
                  <a:gd name="adj2" fmla="val 50672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133" name="Left Brace 5132">
                <a:extLst>
                  <a:ext uri="{FF2B5EF4-FFF2-40B4-BE49-F238E27FC236}">
                    <a16:creationId xmlns:a16="http://schemas.microsoft.com/office/drawing/2014/main" id="{0FDDE0DB-AE7C-CAFA-3774-5AC5F19C2F62}"/>
                  </a:ext>
                </a:extLst>
              </p:cNvPr>
              <p:cNvSpPr/>
              <p:nvPr/>
            </p:nvSpPr>
            <p:spPr>
              <a:xfrm rot="5400000">
                <a:off x="4387024" y="445061"/>
                <a:ext cx="261940" cy="2844316"/>
              </a:xfrm>
              <a:prstGeom prst="leftBrace">
                <a:avLst>
                  <a:gd name="adj1" fmla="val 8333"/>
                  <a:gd name="adj2" fmla="val 51110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134" name="Left Brace 5133">
                <a:extLst>
                  <a:ext uri="{FF2B5EF4-FFF2-40B4-BE49-F238E27FC236}">
                    <a16:creationId xmlns:a16="http://schemas.microsoft.com/office/drawing/2014/main" id="{30CE2BCA-CB3A-A156-9ABE-6555AE81C52D}"/>
                  </a:ext>
                </a:extLst>
              </p:cNvPr>
              <p:cNvSpPr/>
              <p:nvPr/>
            </p:nvSpPr>
            <p:spPr>
              <a:xfrm rot="5400000">
                <a:off x="4470947" y="1599761"/>
                <a:ext cx="243727" cy="534442"/>
              </a:xfrm>
              <a:prstGeom prst="leftBrace">
                <a:avLst>
                  <a:gd name="adj1" fmla="val 8333"/>
                  <a:gd name="adj2" fmla="val 70055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5136" name="Straight Connector 5135">
                <a:extLst>
                  <a:ext uri="{FF2B5EF4-FFF2-40B4-BE49-F238E27FC236}">
                    <a16:creationId xmlns:a16="http://schemas.microsoft.com/office/drawing/2014/main" id="{EFC7CFBF-716B-54C3-52F6-7DE334BE790D}"/>
                  </a:ext>
                </a:extLst>
              </p:cNvPr>
              <p:cNvCxnSpPr>
                <a:cxnSpLocks/>
                <a:stCxn id="48" idx="0"/>
                <a:endCxn id="5132" idx="2"/>
              </p:cNvCxnSpPr>
              <p:nvPr/>
            </p:nvCxnSpPr>
            <p:spPr>
              <a:xfrm flipV="1">
                <a:off x="2020424" y="1998189"/>
                <a:ext cx="3" cy="493575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8" name="Straight Connector 5137">
                <a:extLst>
                  <a:ext uri="{FF2B5EF4-FFF2-40B4-BE49-F238E27FC236}">
                    <a16:creationId xmlns:a16="http://schemas.microsoft.com/office/drawing/2014/main" id="{1AEDC6AC-74D5-12C4-8BA4-5CE02C5718AB}"/>
                  </a:ext>
                </a:extLst>
              </p:cNvPr>
              <p:cNvCxnSpPr>
                <a:cxnSpLocks/>
                <a:stCxn id="46" idx="0"/>
                <a:endCxn id="5133" idx="2"/>
              </p:cNvCxnSpPr>
              <p:nvPr/>
            </p:nvCxnSpPr>
            <p:spPr>
              <a:xfrm flipV="1">
                <a:off x="3095836" y="1998189"/>
                <a:ext cx="0" cy="494707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2" name="Straight Connector 5141">
                <a:extLst>
                  <a:ext uri="{FF2B5EF4-FFF2-40B4-BE49-F238E27FC236}">
                    <a16:creationId xmlns:a16="http://schemas.microsoft.com/office/drawing/2014/main" id="{1A53C3A1-7A0E-4266-28E6-99B910A16567}"/>
                  </a:ext>
                </a:extLst>
              </p:cNvPr>
              <p:cNvCxnSpPr>
                <a:cxnSpLocks/>
                <a:stCxn id="52" idx="0"/>
                <a:endCxn id="5134" idx="2"/>
              </p:cNvCxnSpPr>
              <p:nvPr/>
            </p:nvCxnSpPr>
            <p:spPr>
              <a:xfrm flipV="1">
                <a:off x="4325590" y="1988846"/>
                <a:ext cx="0" cy="501786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5" name="Straight Connector 5144">
                <a:extLst>
                  <a:ext uri="{FF2B5EF4-FFF2-40B4-BE49-F238E27FC236}">
                    <a16:creationId xmlns:a16="http://schemas.microsoft.com/office/drawing/2014/main" id="{9E62C4CA-BBE6-5FA5-720A-0502F4B396A5}"/>
                  </a:ext>
                </a:extLst>
              </p:cNvPr>
              <p:cNvCxnSpPr>
                <a:cxnSpLocks/>
                <a:stCxn id="50" idx="0"/>
                <a:endCxn id="5131" idx="0"/>
              </p:cNvCxnSpPr>
              <p:nvPr/>
            </p:nvCxnSpPr>
            <p:spPr>
              <a:xfrm flipH="1" flipV="1">
                <a:off x="5401001" y="1986576"/>
                <a:ext cx="1" cy="505188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8" name="Straight Connector 5147">
                <a:extLst>
                  <a:ext uri="{FF2B5EF4-FFF2-40B4-BE49-F238E27FC236}">
                    <a16:creationId xmlns:a16="http://schemas.microsoft.com/office/drawing/2014/main" id="{20D1D14E-36A7-1760-A3F5-8D745FFDF954}"/>
                  </a:ext>
                </a:extLst>
              </p:cNvPr>
              <p:cNvCxnSpPr>
                <a:cxnSpLocks/>
                <a:stCxn id="56" idx="0"/>
                <a:endCxn id="5130" idx="0"/>
              </p:cNvCxnSpPr>
              <p:nvPr/>
            </p:nvCxnSpPr>
            <p:spPr>
              <a:xfrm flipV="1">
                <a:off x="6483730" y="1993816"/>
                <a:ext cx="1" cy="495684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8" name="Straight Connector 5217">
                <a:extLst>
                  <a:ext uri="{FF2B5EF4-FFF2-40B4-BE49-F238E27FC236}">
                    <a16:creationId xmlns:a16="http://schemas.microsoft.com/office/drawing/2014/main" id="{87FE7A81-20BA-9AE6-78AB-D2833E718FD7}"/>
                  </a:ext>
                </a:extLst>
              </p:cNvPr>
              <p:cNvCxnSpPr>
                <a:cxnSpLocks/>
                <a:stCxn id="54" idx="0"/>
                <a:endCxn id="5129" idx="0"/>
              </p:cNvCxnSpPr>
              <p:nvPr/>
            </p:nvCxnSpPr>
            <p:spPr>
              <a:xfrm flipH="1" flipV="1">
                <a:off x="7559139" y="1986577"/>
                <a:ext cx="3" cy="504055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46" name="Left Brace 5245">
                <a:extLst>
                  <a:ext uri="{FF2B5EF4-FFF2-40B4-BE49-F238E27FC236}">
                    <a16:creationId xmlns:a16="http://schemas.microsoft.com/office/drawing/2014/main" id="{65A65ADD-D687-F807-2075-23B3F4234EE9}"/>
                  </a:ext>
                </a:extLst>
              </p:cNvPr>
              <p:cNvSpPr/>
              <p:nvPr/>
            </p:nvSpPr>
            <p:spPr>
              <a:xfrm rot="5400000">
                <a:off x="6924711" y="3129004"/>
                <a:ext cx="261940" cy="1799010"/>
              </a:xfrm>
              <a:prstGeom prst="leftBrace">
                <a:avLst>
                  <a:gd name="adj1" fmla="val 8333"/>
                  <a:gd name="adj2" fmla="val 21756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247" name="Left Brace 5246">
                <a:extLst>
                  <a:ext uri="{FF2B5EF4-FFF2-40B4-BE49-F238E27FC236}">
                    <a16:creationId xmlns:a16="http://schemas.microsoft.com/office/drawing/2014/main" id="{D1BCADE0-CBE1-51DF-9B67-965D2167EE1A}"/>
                  </a:ext>
                </a:extLst>
              </p:cNvPr>
              <p:cNvSpPr/>
              <p:nvPr/>
            </p:nvSpPr>
            <p:spPr>
              <a:xfrm rot="5400000">
                <a:off x="7374976" y="3578939"/>
                <a:ext cx="262800" cy="900000"/>
              </a:xfrm>
              <a:prstGeom prst="leftBrace">
                <a:avLst>
                  <a:gd name="adj1" fmla="val 8333"/>
                  <a:gd name="adj2" fmla="val 43450"/>
                </a:avLst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cxnSp>
            <p:nvCxnSpPr>
              <p:cNvPr id="5248" name="Straight Connector 5247">
                <a:extLst>
                  <a:ext uri="{FF2B5EF4-FFF2-40B4-BE49-F238E27FC236}">
                    <a16:creationId xmlns:a16="http://schemas.microsoft.com/office/drawing/2014/main" id="{9A3527DC-2A5C-D9CE-8355-76E13A05FF16}"/>
                  </a:ext>
                </a:extLst>
              </p:cNvPr>
              <p:cNvCxnSpPr>
                <a:cxnSpLocks/>
                <a:stCxn id="5247" idx="1"/>
                <a:endCxn id="54" idx="4"/>
              </p:cNvCxnSpPr>
              <p:nvPr/>
            </p:nvCxnSpPr>
            <p:spPr>
              <a:xfrm flipH="1" flipV="1">
                <a:off x="7559142" y="2922680"/>
                <a:ext cx="6184" cy="974859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57" name="TextBox 5256">
              <a:extLst>
                <a:ext uri="{FF2B5EF4-FFF2-40B4-BE49-F238E27FC236}">
                  <a16:creationId xmlns:a16="http://schemas.microsoft.com/office/drawing/2014/main" id="{1DFB6BBB-E9AC-9CF7-00D1-F76B764A4DF3}"/>
                </a:ext>
              </a:extLst>
            </p:cNvPr>
            <p:cNvSpPr txBox="1"/>
            <p:nvPr/>
          </p:nvSpPr>
          <p:spPr>
            <a:xfrm>
              <a:off x="3908274" y="2527250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/proc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58" name="TextBox 5257">
              <a:extLst>
                <a:ext uri="{FF2B5EF4-FFF2-40B4-BE49-F238E27FC236}">
                  <a16:creationId xmlns:a16="http://schemas.microsoft.com/office/drawing/2014/main" id="{F9B29810-3562-7CB4-29B8-12A739B7272C}"/>
                </a:ext>
              </a:extLst>
            </p:cNvPr>
            <p:cNvSpPr txBox="1"/>
            <p:nvPr/>
          </p:nvSpPr>
          <p:spPr>
            <a:xfrm>
              <a:off x="2686823" y="2529709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/home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59" name="TextBox 5258">
              <a:extLst>
                <a:ext uri="{FF2B5EF4-FFF2-40B4-BE49-F238E27FC236}">
                  <a16:creationId xmlns:a16="http://schemas.microsoft.com/office/drawing/2014/main" id="{CAC25060-6890-9A77-039B-A5D83DCD72C8}"/>
                </a:ext>
              </a:extLst>
            </p:cNvPr>
            <p:cNvSpPr txBox="1"/>
            <p:nvPr/>
          </p:nvSpPr>
          <p:spPr>
            <a:xfrm>
              <a:off x="1603108" y="2531336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/boot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0" name="TextBox 5259">
              <a:extLst>
                <a:ext uri="{FF2B5EF4-FFF2-40B4-BE49-F238E27FC236}">
                  <a16:creationId xmlns:a16="http://schemas.microsoft.com/office/drawing/2014/main" id="{84DD2B3E-9FF7-56F9-CAA2-BFAB54F32908}"/>
                </a:ext>
              </a:extLst>
            </p:cNvPr>
            <p:cNvSpPr txBox="1"/>
            <p:nvPr/>
          </p:nvSpPr>
          <p:spPr>
            <a:xfrm>
              <a:off x="1097362" y="2031116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/root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1" name="TextBox 5260">
              <a:extLst>
                <a:ext uri="{FF2B5EF4-FFF2-40B4-BE49-F238E27FC236}">
                  <a16:creationId xmlns:a16="http://schemas.microsoft.com/office/drawing/2014/main" id="{F6A545DB-FC19-FA0D-A91A-62C0A9FA4A38}"/>
                </a:ext>
              </a:extLst>
            </p:cNvPr>
            <p:cNvSpPr txBox="1"/>
            <p:nvPr/>
          </p:nvSpPr>
          <p:spPr>
            <a:xfrm>
              <a:off x="2237008" y="2032093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etc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2" name="TextBox 5261">
              <a:extLst>
                <a:ext uri="{FF2B5EF4-FFF2-40B4-BE49-F238E27FC236}">
                  <a16:creationId xmlns:a16="http://schemas.microsoft.com/office/drawing/2014/main" id="{22E3290B-F6B5-FEE9-5FEC-78A6F87409CA}"/>
                </a:ext>
              </a:extLst>
            </p:cNvPr>
            <p:cNvSpPr txBox="1"/>
            <p:nvPr/>
          </p:nvSpPr>
          <p:spPr>
            <a:xfrm>
              <a:off x="3434198" y="2023882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mnt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3" name="TextBox 5262">
              <a:extLst>
                <a:ext uri="{FF2B5EF4-FFF2-40B4-BE49-F238E27FC236}">
                  <a16:creationId xmlns:a16="http://schemas.microsoft.com/office/drawing/2014/main" id="{73D3655E-C037-B7FF-4F8F-A573ED615CB4}"/>
                </a:ext>
              </a:extLst>
            </p:cNvPr>
            <p:cNvSpPr txBox="1"/>
            <p:nvPr/>
          </p:nvSpPr>
          <p:spPr>
            <a:xfrm>
              <a:off x="4553665" y="2026950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/sys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4" name="TextBox 5263">
              <a:extLst>
                <a:ext uri="{FF2B5EF4-FFF2-40B4-BE49-F238E27FC236}">
                  <a16:creationId xmlns:a16="http://schemas.microsoft.com/office/drawing/2014/main" id="{78BEC4BE-0233-2A75-ABF3-A7887420D2D0}"/>
                </a:ext>
              </a:extLst>
            </p:cNvPr>
            <p:cNvSpPr txBox="1"/>
            <p:nvPr/>
          </p:nvSpPr>
          <p:spPr>
            <a:xfrm>
              <a:off x="5610522" y="2025224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/bin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5" name="TextBox 5264">
              <a:extLst>
                <a:ext uri="{FF2B5EF4-FFF2-40B4-BE49-F238E27FC236}">
                  <a16:creationId xmlns:a16="http://schemas.microsoft.com/office/drawing/2014/main" id="{E37582A2-BFBC-EBCB-18E5-23692DE87858}"/>
                </a:ext>
              </a:extLst>
            </p:cNvPr>
            <p:cNvSpPr txBox="1"/>
            <p:nvPr/>
          </p:nvSpPr>
          <p:spPr>
            <a:xfrm>
              <a:off x="6083106" y="2544496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sbin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6" name="TextBox 5265">
              <a:extLst>
                <a:ext uri="{FF2B5EF4-FFF2-40B4-BE49-F238E27FC236}">
                  <a16:creationId xmlns:a16="http://schemas.microsoft.com/office/drawing/2014/main" id="{E2538FCF-538F-0BA8-BEB9-59D896AD81BC}"/>
                </a:ext>
              </a:extLst>
            </p:cNvPr>
            <p:cNvSpPr txBox="1"/>
            <p:nvPr/>
          </p:nvSpPr>
          <p:spPr>
            <a:xfrm>
              <a:off x="5042270" y="2544496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/dev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7" name="TextBox 5266">
              <a:extLst>
                <a:ext uri="{FF2B5EF4-FFF2-40B4-BE49-F238E27FC236}">
                  <a16:creationId xmlns:a16="http://schemas.microsoft.com/office/drawing/2014/main" id="{4E073F73-2A48-5284-0BC9-277B9E1DD21D}"/>
                </a:ext>
              </a:extLst>
            </p:cNvPr>
            <p:cNvSpPr txBox="1"/>
            <p:nvPr/>
          </p:nvSpPr>
          <p:spPr>
            <a:xfrm>
              <a:off x="6689859" y="2036824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/lib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8" name="TextBox 5267">
              <a:extLst>
                <a:ext uri="{FF2B5EF4-FFF2-40B4-BE49-F238E27FC236}">
                  <a16:creationId xmlns:a16="http://schemas.microsoft.com/office/drawing/2014/main" id="{9CFDBB6B-C220-E734-3C36-61D8374F536E}"/>
                </a:ext>
              </a:extLst>
            </p:cNvPr>
            <p:cNvSpPr txBox="1"/>
            <p:nvPr/>
          </p:nvSpPr>
          <p:spPr>
            <a:xfrm>
              <a:off x="7209498" y="2538511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usr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69" name="TextBox 5268">
              <a:extLst>
                <a:ext uri="{FF2B5EF4-FFF2-40B4-BE49-F238E27FC236}">
                  <a16:creationId xmlns:a16="http://schemas.microsoft.com/office/drawing/2014/main" id="{C91543AC-CC86-8196-C104-89629796308C}"/>
                </a:ext>
              </a:extLst>
            </p:cNvPr>
            <p:cNvSpPr txBox="1"/>
            <p:nvPr/>
          </p:nvSpPr>
          <p:spPr>
            <a:xfrm>
              <a:off x="7638721" y="4207691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/lib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70" name="TextBox 5269">
              <a:extLst>
                <a:ext uri="{FF2B5EF4-FFF2-40B4-BE49-F238E27FC236}">
                  <a16:creationId xmlns:a16="http://schemas.microsoft.com/office/drawing/2014/main" id="{DDF355B4-BAB9-142A-DB1B-BDAF17E63C97}"/>
                </a:ext>
              </a:extLst>
            </p:cNvPr>
            <p:cNvSpPr txBox="1"/>
            <p:nvPr/>
          </p:nvSpPr>
          <p:spPr>
            <a:xfrm>
              <a:off x="6621623" y="4214559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sbin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71" name="TextBox 5270">
              <a:extLst>
                <a:ext uri="{FF2B5EF4-FFF2-40B4-BE49-F238E27FC236}">
                  <a16:creationId xmlns:a16="http://schemas.microsoft.com/office/drawing/2014/main" id="{D4CC1723-2303-BF88-8FEC-FD0CA9FE282A}"/>
                </a:ext>
              </a:extLst>
            </p:cNvPr>
            <p:cNvSpPr txBox="1"/>
            <p:nvPr/>
          </p:nvSpPr>
          <p:spPr>
            <a:xfrm>
              <a:off x="5818698" y="4223942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/bin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72" name="TextBox 5271">
              <a:extLst>
                <a:ext uri="{FF2B5EF4-FFF2-40B4-BE49-F238E27FC236}">
                  <a16:creationId xmlns:a16="http://schemas.microsoft.com/office/drawing/2014/main" id="{72EF4911-F4CA-A219-66D0-E1CC7A679F63}"/>
                </a:ext>
              </a:extLst>
            </p:cNvPr>
            <p:cNvSpPr txBox="1"/>
            <p:nvPr/>
          </p:nvSpPr>
          <p:spPr>
            <a:xfrm>
              <a:off x="4311570" y="1361537"/>
              <a:ext cx="1001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endParaRPr lang="nl-BE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5275" name="Straight Arrow Connector 5274">
            <a:extLst>
              <a:ext uri="{FF2B5EF4-FFF2-40B4-BE49-F238E27FC236}">
                <a16:creationId xmlns:a16="http://schemas.microsoft.com/office/drawing/2014/main" id="{AE6123F9-4353-4CA6-0227-C998DFE637EF}"/>
              </a:ext>
            </a:extLst>
          </p:cNvPr>
          <p:cNvCxnSpPr>
            <a:cxnSpLocks/>
          </p:cNvCxnSpPr>
          <p:nvPr/>
        </p:nvCxnSpPr>
        <p:spPr>
          <a:xfrm flipV="1">
            <a:off x="1404000" y="2489500"/>
            <a:ext cx="0" cy="67850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0" name="Straight Arrow Connector 5279">
            <a:extLst>
              <a:ext uri="{FF2B5EF4-FFF2-40B4-BE49-F238E27FC236}">
                <a16:creationId xmlns:a16="http://schemas.microsoft.com/office/drawing/2014/main" id="{EEFF3762-BBC4-F546-C427-A15165E76356}"/>
              </a:ext>
            </a:extLst>
          </p:cNvPr>
          <p:cNvCxnSpPr>
            <a:cxnSpLocks/>
          </p:cNvCxnSpPr>
          <p:nvPr/>
        </p:nvCxnSpPr>
        <p:spPr>
          <a:xfrm flipV="1">
            <a:off x="2300963" y="2924944"/>
            <a:ext cx="0" cy="96369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2" name="Straight Arrow Connector 5281">
            <a:extLst>
              <a:ext uri="{FF2B5EF4-FFF2-40B4-BE49-F238E27FC236}">
                <a16:creationId xmlns:a16="http://schemas.microsoft.com/office/drawing/2014/main" id="{E8C510E4-3C63-0D1B-42F4-45B62CE1ADA2}"/>
              </a:ext>
            </a:extLst>
          </p:cNvPr>
          <p:cNvCxnSpPr>
            <a:cxnSpLocks/>
          </p:cNvCxnSpPr>
          <p:nvPr/>
        </p:nvCxnSpPr>
        <p:spPr>
          <a:xfrm flipV="1">
            <a:off x="2584425" y="2492896"/>
            <a:ext cx="0" cy="2125591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7" name="Straight Arrow Connector 5286">
            <a:extLst>
              <a:ext uri="{FF2B5EF4-FFF2-40B4-BE49-F238E27FC236}">
                <a16:creationId xmlns:a16="http://schemas.microsoft.com/office/drawing/2014/main" id="{A1609B02-B635-7A15-E346-4A5F96FD2004}"/>
              </a:ext>
            </a:extLst>
          </p:cNvPr>
          <p:cNvCxnSpPr>
            <a:cxnSpLocks/>
          </p:cNvCxnSpPr>
          <p:nvPr/>
        </p:nvCxnSpPr>
        <p:spPr>
          <a:xfrm flipV="1">
            <a:off x="2880000" y="2996952"/>
            <a:ext cx="0" cy="2332639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9" name="Straight Arrow Connector 5288">
            <a:extLst>
              <a:ext uri="{FF2B5EF4-FFF2-40B4-BE49-F238E27FC236}">
                <a16:creationId xmlns:a16="http://schemas.microsoft.com/office/drawing/2014/main" id="{ADB29622-C89F-E0DA-A49B-892F3D064129}"/>
              </a:ext>
            </a:extLst>
          </p:cNvPr>
          <p:cNvCxnSpPr>
            <a:cxnSpLocks/>
          </p:cNvCxnSpPr>
          <p:nvPr/>
        </p:nvCxnSpPr>
        <p:spPr>
          <a:xfrm flipV="1">
            <a:off x="5148064" y="2997549"/>
            <a:ext cx="0" cy="2332639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0" name="Straight Arrow Connector 5289">
            <a:extLst>
              <a:ext uri="{FF2B5EF4-FFF2-40B4-BE49-F238E27FC236}">
                <a16:creationId xmlns:a16="http://schemas.microsoft.com/office/drawing/2014/main" id="{D4B7E032-140A-CD3A-E66E-F0CC4C980F23}"/>
              </a:ext>
            </a:extLst>
          </p:cNvPr>
          <p:cNvCxnSpPr>
            <a:cxnSpLocks/>
          </p:cNvCxnSpPr>
          <p:nvPr/>
        </p:nvCxnSpPr>
        <p:spPr>
          <a:xfrm flipV="1">
            <a:off x="4836490" y="2489500"/>
            <a:ext cx="0" cy="2125591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1" name="Straight Arrow Connector 5290">
            <a:extLst>
              <a:ext uri="{FF2B5EF4-FFF2-40B4-BE49-F238E27FC236}">
                <a16:creationId xmlns:a16="http://schemas.microsoft.com/office/drawing/2014/main" id="{781591BB-C126-70B3-48D8-3D4CDE45D1EB}"/>
              </a:ext>
            </a:extLst>
          </p:cNvPr>
          <p:cNvCxnSpPr>
            <a:cxnSpLocks/>
          </p:cNvCxnSpPr>
          <p:nvPr/>
        </p:nvCxnSpPr>
        <p:spPr>
          <a:xfrm flipV="1">
            <a:off x="4553665" y="2946406"/>
            <a:ext cx="0" cy="96369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2" name="Straight Arrow Connector 5291">
            <a:extLst>
              <a:ext uri="{FF2B5EF4-FFF2-40B4-BE49-F238E27FC236}">
                <a16:creationId xmlns:a16="http://schemas.microsoft.com/office/drawing/2014/main" id="{88EEDADD-4D01-AEDC-0F95-596FC43BCBF9}"/>
              </a:ext>
            </a:extLst>
          </p:cNvPr>
          <p:cNvCxnSpPr>
            <a:cxnSpLocks/>
          </p:cNvCxnSpPr>
          <p:nvPr/>
        </p:nvCxnSpPr>
        <p:spPr>
          <a:xfrm flipV="1">
            <a:off x="3702560" y="2497723"/>
            <a:ext cx="0" cy="67850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3" name="Straight Arrow Connector 5292">
            <a:extLst>
              <a:ext uri="{FF2B5EF4-FFF2-40B4-BE49-F238E27FC236}">
                <a16:creationId xmlns:a16="http://schemas.microsoft.com/office/drawing/2014/main" id="{6C630672-95ED-5EDF-CB7B-D28E54D6AD34}"/>
              </a:ext>
            </a:extLst>
          </p:cNvPr>
          <p:cNvCxnSpPr>
            <a:cxnSpLocks/>
          </p:cNvCxnSpPr>
          <p:nvPr/>
        </p:nvCxnSpPr>
        <p:spPr>
          <a:xfrm flipV="1">
            <a:off x="5961095" y="2497723"/>
            <a:ext cx="0" cy="1010463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4" name="Straight Arrow Connector 5293">
            <a:extLst>
              <a:ext uri="{FF2B5EF4-FFF2-40B4-BE49-F238E27FC236}">
                <a16:creationId xmlns:a16="http://schemas.microsoft.com/office/drawing/2014/main" id="{05136368-CD5A-2E4D-7EFA-3BE292764FB5}"/>
              </a:ext>
            </a:extLst>
          </p:cNvPr>
          <p:cNvCxnSpPr>
            <a:cxnSpLocks/>
          </p:cNvCxnSpPr>
          <p:nvPr/>
        </p:nvCxnSpPr>
        <p:spPr>
          <a:xfrm flipV="1">
            <a:off x="6292234" y="2996952"/>
            <a:ext cx="0" cy="52996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7" name="Straight Arrow Connector 5296">
            <a:extLst>
              <a:ext uri="{FF2B5EF4-FFF2-40B4-BE49-F238E27FC236}">
                <a16:creationId xmlns:a16="http://schemas.microsoft.com/office/drawing/2014/main" id="{E61F857F-564B-0C18-B91C-6DF445DA9EAB}"/>
              </a:ext>
            </a:extLst>
          </p:cNvPr>
          <p:cNvCxnSpPr>
            <a:cxnSpLocks/>
          </p:cNvCxnSpPr>
          <p:nvPr/>
        </p:nvCxnSpPr>
        <p:spPr>
          <a:xfrm flipV="1">
            <a:off x="7031642" y="2527250"/>
            <a:ext cx="0" cy="584044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1" name="Straight Arrow Connector 5300">
            <a:extLst>
              <a:ext uri="{FF2B5EF4-FFF2-40B4-BE49-F238E27FC236}">
                <a16:creationId xmlns:a16="http://schemas.microsoft.com/office/drawing/2014/main" id="{7200C8A9-1231-75D7-CB5F-DB1B08AF031A}"/>
              </a:ext>
            </a:extLst>
          </p:cNvPr>
          <p:cNvCxnSpPr>
            <a:cxnSpLocks/>
          </p:cNvCxnSpPr>
          <p:nvPr/>
        </p:nvCxnSpPr>
        <p:spPr>
          <a:xfrm flipV="1">
            <a:off x="7031642" y="4665862"/>
            <a:ext cx="0" cy="32400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5" name="Straight Arrow Connector 5304">
            <a:extLst>
              <a:ext uri="{FF2B5EF4-FFF2-40B4-BE49-F238E27FC236}">
                <a16:creationId xmlns:a16="http://schemas.microsoft.com/office/drawing/2014/main" id="{7756FD2E-A245-023F-3A28-6A1245CBB6C9}"/>
              </a:ext>
            </a:extLst>
          </p:cNvPr>
          <p:cNvCxnSpPr>
            <a:cxnSpLocks/>
          </p:cNvCxnSpPr>
          <p:nvPr/>
        </p:nvCxnSpPr>
        <p:spPr>
          <a:xfrm flipV="1">
            <a:off x="6156176" y="4665862"/>
            <a:ext cx="0" cy="32400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6" name="Straight Arrow Connector 5305">
            <a:extLst>
              <a:ext uri="{FF2B5EF4-FFF2-40B4-BE49-F238E27FC236}">
                <a16:creationId xmlns:a16="http://schemas.microsoft.com/office/drawing/2014/main" id="{44553CA3-FC4F-A4DD-2EB4-D4D3B4E83866}"/>
              </a:ext>
            </a:extLst>
          </p:cNvPr>
          <p:cNvCxnSpPr>
            <a:cxnSpLocks/>
          </p:cNvCxnSpPr>
          <p:nvPr/>
        </p:nvCxnSpPr>
        <p:spPr>
          <a:xfrm flipV="1">
            <a:off x="7961850" y="4656262"/>
            <a:ext cx="0" cy="324000"/>
          </a:xfrm>
          <a:prstGeom prst="straightConnector1">
            <a:avLst/>
          </a:prstGeom>
          <a:ln w="28575">
            <a:solidFill>
              <a:srgbClr val="167C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07" name="Graphic 5306" descr="Key with solid fill">
            <a:extLst>
              <a:ext uri="{FF2B5EF4-FFF2-40B4-BE49-F238E27FC236}">
                <a16:creationId xmlns:a16="http://schemas.microsoft.com/office/drawing/2014/main" id="{7A1051CA-D17A-B06D-0B19-201B5DF0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540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 txBox="1">
            <a:spLocks noGrp="1"/>
          </p:cNvSpPr>
          <p:nvPr>
            <p:ph type="title"/>
          </p:nvPr>
        </p:nvSpPr>
        <p:spPr>
          <a:xfrm>
            <a:off x="719138" y="190048"/>
            <a:ext cx="7920000" cy="699404"/>
          </a:xfrm>
        </p:spPr>
        <p:txBody>
          <a:bodyPr>
            <a:spAutoFit/>
          </a:bodyPr>
          <a:lstStyle/>
          <a:p>
            <a:pPr>
              <a:buSzPct val="45000"/>
            </a:pPr>
            <a:r>
              <a:rPr lang="nl-BE" dirty="0"/>
              <a:t>Linux File System</a:t>
            </a:r>
            <a:endParaRPr dirty="0">
              <a:latin typeface="Nimbus Sans L"/>
              <a:ea typeface="HG Mincho Light J"/>
              <a:cs typeface="Tahoma" pitchFamily="34" charset="0"/>
            </a:endParaRPr>
          </a:p>
        </p:txBody>
      </p:sp>
      <p:sp>
        <p:nvSpPr>
          <p:cNvPr id="14339" name="Tijdelijke aanduiding voor tekst 2"/>
          <p:cNvSpPr txBox="1">
            <a:spLocks noGrp="1"/>
          </p:cNvSpPr>
          <p:nvPr>
            <p:ph idx="1"/>
          </p:nvPr>
        </p:nvSpPr>
        <p:spPr bwMode="auto">
          <a:xfrm>
            <a:off x="719138" y="1440000"/>
            <a:ext cx="8245350" cy="4308872"/>
          </a:xfrm>
          <a:noFill/>
        </p:spPr>
        <p:txBody>
          <a:bodyPr vert="horz" wrap="square" numCol="1" anchor="t" anchorCtr="0" compatLnSpc="1">
            <a:prstTxWarp prst="textNoShape">
              <a:avLst/>
            </a:prstTxWarp>
            <a:spAutoFit/>
          </a:bodyPr>
          <a:lstStyle/>
          <a:p>
            <a:pPr marL="123842" indent="0">
              <a:spcBef>
                <a:spcPct val="0"/>
              </a:spcBef>
              <a:spcAft>
                <a:spcPts val="1191"/>
              </a:spcAft>
              <a:buSzPts val="3400"/>
              <a:buNone/>
            </a:pPr>
            <a:r>
              <a:rPr dirty="0">
                <a:ea typeface="HG Mincho Light J"/>
                <a:cs typeface="Tahoma" pitchFamily="34" charset="0"/>
              </a:rPr>
              <a:t>Not imposed by the system. Can vary from one system to the other, even between two GNU/Linux installations!</a:t>
            </a:r>
          </a:p>
          <a:p>
            <a:pPr marL="123842" indent="0">
              <a:spcBef>
                <a:spcPct val="0"/>
              </a:spcBef>
              <a:spcAft>
                <a:spcPts val="1191"/>
              </a:spcAft>
              <a:buSzPts val="3400"/>
              <a:buNone/>
            </a:pPr>
            <a:br>
              <a:rPr sz="2000" dirty="0">
                <a:latin typeface="Courier 10 Pitch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		</a:t>
            </a:r>
            <a:r>
              <a:rPr dirty="0">
                <a:ea typeface="HG Mincho Light J"/>
                <a:cs typeface="Tahoma" pitchFamily="34" charset="0"/>
              </a:rPr>
              <a:t>Root directory</a:t>
            </a:r>
            <a:br>
              <a:rPr dirty="0"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/bin/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	</a:t>
            </a:r>
            <a:r>
              <a:rPr dirty="0">
                <a:ea typeface="HG Mincho Light J"/>
                <a:cs typeface="Tahoma" pitchFamily="34" charset="0"/>
              </a:rPr>
              <a:t>Basic, essential system commands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/boot/</a:t>
            </a:r>
            <a:r>
              <a:rPr dirty="0">
                <a:latin typeface="Courier 10 Pitch"/>
                <a:ea typeface="HG Mincho Light J"/>
                <a:cs typeface="Tahoma" pitchFamily="34" charset="0"/>
              </a:rPr>
              <a:t>	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</a:t>
            </a:r>
            <a:r>
              <a:rPr dirty="0">
                <a:ea typeface="HG Mincho Light J"/>
                <a:cs typeface="Tahoma" pitchFamily="34" charset="0"/>
              </a:rPr>
              <a:t>Kernel images, </a:t>
            </a:r>
            <a:r>
              <a:rPr dirty="0" err="1">
                <a:ea typeface="HG Mincho Light J"/>
                <a:cs typeface="Tahoma" pitchFamily="34" charset="0"/>
              </a:rPr>
              <a:t>initrd</a:t>
            </a:r>
            <a:r>
              <a:rPr lang="nl-BE" dirty="0">
                <a:ea typeface="HG Mincho Light J"/>
                <a:cs typeface="Tahoma" pitchFamily="34" charset="0"/>
              </a:rPr>
              <a:t>, </a:t>
            </a:r>
            <a:r>
              <a:rPr dirty="0">
                <a:ea typeface="HG Mincho Light J"/>
                <a:cs typeface="Tahoma" pitchFamily="34" charset="0"/>
              </a:rPr>
              <a:t>configuration files</a:t>
            </a:r>
            <a:br>
              <a:rPr dirty="0"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/dev/</a:t>
            </a:r>
            <a:r>
              <a:rPr dirty="0">
                <a:latin typeface="Courier 10 Pitch"/>
                <a:ea typeface="HG Mincho Light J"/>
                <a:cs typeface="Tahoma" pitchFamily="34" charset="0"/>
              </a:rPr>
              <a:t>	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</a:t>
            </a:r>
            <a:r>
              <a:rPr dirty="0">
                <a:ea typeface="HG Mincho Light J"/>
                <a:cs typeface="Tahoma" pitchFamily="34" charset="0"/>
              </a:rPr>
              <a:t>Files representing devices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/etc/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	</a:t>
            </a:r>
            <a:r>
              <a:rPr dirty="0">
                <a:ea typeface="HG Mincho Light J"/>
                <a:cs typeface="Tahoma" pitchFamily="34" charset="0"/>
              </a:rPr>
              <a:t>System configuration files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/home/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	</a:t>
            </a:r>
            <a:r>
              <a:rPr dirty="0">
                <a:ea typeface="HG Mincho Light J"/>
                <a:cs typeface="Tahoma" pitchFamily="34" charset="0"/>
              </a:rPr>
              <a:t>User directories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/lib/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	</a:t>
            </a:r>
            <a:r>
              <a:rPr dirty="0">
                <a:ea typeface="HG Mincho Light J"/>
                <a:cs typeface="Tahoma" pitchFamily="34" charset="0"/>
              </a:rPr>
              <a:t>Basic system shared libraries</a:t>
            </a:r>
            <a:endParaRPr lang="nl-BE" dirty="0">
              <a:ea typeface="HG Mincho Light J"/>
              <a:cs typeface="Tahoma" pitchFamily="34" charset="0"/>
            </a:endParaRPr>
          </a:p>
          <a:p>
            <a:pPr marL="123842" indent="0">
              <a:spcBef>
                <a:spcPct val="0"/>
              </a:spcBef>
              <a:spcAft>
                <a:spcPts val="1191"/>
              </a:spcAft>
              <a:buSzPts val="3400"/>
              <a:buNone/>
            </a:pPr>
            <a:r>
              <a:rPr lang="en-US" dirty="0">
                <a:latin typeface="Courier New" pitchFamily="49" charset="0"/>
                <a:ea typeface="HG Mincho Light J"/>
                <a:cs typeface="Courier New" pitchFamily="49" charset="0"/>
              </a:rPr>
              <a:t>/media</a:t>
            </a:r>
            <a:r>
              <a:rPr lang="pl-PL"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lang="en-US" dirty="0">
                <a:latin typeface="Nimbus Sans L"/>
                <a:ea typeface="HG Mincho Light J"/>
                <a:cs typeface="Tahoma" pitchFamily="34" charset="0"/>
              </a:rPr>
              <a:t>		</a:t>
            </a:r>
            <a:r>
              <a:rPr lang="en-US" dirty="0">
                <a:ea typeface="HG Mincho Light J"/>
                <a:cs typeface="Tahoma" pitchFamily="34" charset="0"/>
              </a:rPr>
              <a:t>Mount points for removable media</a:t>
            </a:r>
            <a:endParaRPr dirty="0">
              <a:ea typeface="HG Mincho Light J"/>
              <a:cs typeface="Tahoma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728424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 txBox="1">
            <a:spLocks noGrp="1"/>
          </p:cNvSpPr>
          <p:nvPr>
            <p:ph type="title"/>
          </p:nvPr>
        </p:nvSpPr>
        <p:spPr>
          <a:xfrm>
            <a:off x="719138" y="190048"/>
            <a:ext cx="7920000" cy="699404"/>
          </a:xfrm>
        </p:spPr>
        <p:txBody>
          <a:bodyPr>
            <a:spAutoFit/>
          </a:bodyPr>
          <a:lstStyle/>
          <a:p>
            <a:pPr>
              <a:buSzPct val="45000"/>
            </a:pPr>
            <a:r>
              <a:rPr lang="nl-BE" dirty="0"/>
              <a:t>Linux File System</a:t>
            </a:r>
            <a:endParaRPr dirty="0">
              <a:latin typeface="Nimbus Sans L"/>
              <a:ea typeface="HG Mincho Light J"/>
              <a:cs typeface="Tahoma" pitchFamily="34" charset="0"/>
            </a:endParaRPr>
          </a:p>
        </p:txBody>
      </p:sp>
      <p:sp>
        <p:nvSpPr>
          <p:cNvPr id="15363" name="Tijdelijke aanduiding voor tekst 2"/>
          <p:cNvSpPr txBox="1">
            <a:spLocks noGrp="1"/>
          </p:cNvSpPr>
          <p:nvPr>
            <p:ph idx="1"/>
          </p:nvPr>
        </p:nvSpPr>
        <p:spPr bwMode="auto">
          <a:xfrm>
            <a:off x="719138" y="1440000"/>
            <a:ext cx="7920000" cy="5663089"/>
          </a:xfrm>
          <a:noFill/>
        </p:spPr>
        <p:txBody>
          <a:bodyPr vert="horz" wrap="square" numCol="1" anchor="t" anchorCtr="0" compatLnSpc="1">
            <a:prstTxWarp prst="textNoShape">
              <a:avLst/>
            </a:prstTxWarp>
            <a:spAutoFit/>
          </a:bodyPr>
          <a:lstStyle/>
          <a:p>
            <a:pPr marL="97921" indent="0">
              <a:spcBef>
                <a:spcPct val="0"/>
              </a:spcBef>
              <a:buSzPts val="3400"/>
              <a:buNone/>
            </a:pP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dirty="0" err="1">
                <a:latin typeface="Courier New" pitchFamily="49" charset="0"/>
                <a:ea typeface="HG Mincho Light J"/>
                <a:cs typeface="Courier New" pitchFamily="49" charset="0"/>
              </a:rPr>
              <a:t>lost+found</a:t>
            </a:r>
            <a:r>
              <a:rPr lang="pl-PL"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</a:t>
            </a:r>
            <a:r>
              <a:rPr dirty="0">
                <a:ea typeface="HG Mincho Light J"/>
                <a:cs typeface="Tahoma" pitchFamily="34" charset="0"/>
              </a:rPr>
              <a:t>Corrupt files the system tried to </a:t>
            </a:r>
            <a:r>
              <a:rPr lang="nl-BE" dirty="0">
                <a:ea typeface="HG Mincho Light J"/>
                <a:cs typeface="Tahoma" pitchFamily="34" charset="0"/>
              </a:rPr>
              <a:t>				</a:t>
            </a:r>
            <a:r>
              <a:rPr dirty="0">
                <a:ea typeface="HG Mincho Light J"/>
                <a:cs typeface="Tahoma" pitchFamily="34" charset="0"/>
              </a:rPr>
              <a:t>recover</a:t>
            </a:r>
            <a:br>
              <a:rPr dirty="0"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dirty="0" err="1">
                <a:latin typeface="Courier New" pitchFamily="49" charset="0"/>
                <a:ea typeface="HG Mincho Light J"/>
                <a:cs typeface="Courier New" pitchFamily="49" charset="0"/>
              </a:rPr>
              <a:t>mnt</a:t>
            </a: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	</a:t>
            </a:r>
            <a:r>
              <a:rPr dirty="0">
                <a:ea typeface="HG Mincho Light J"/>
                <a:cs typeface="Tahoma" pitchFamily="34" charset="0"/>
              </a:rPr>
              <a:t>Mount points for temporarily mounted </a:t>
            </a:r>
            <a:r>
              <a:rPr lang="nl-BE" dirty="0">
                <a:ea typeface="HG Mincho Light J"/>
                <a:cs typeface="Tahoma" pitchFamily="34" charset="0"/>
              </a:rPr>
              <a:t>			</a:t>
            </a:r>
            <a:r>
              <a:rPr dirty="0">
                <a:ea typeface="HG Mincho Light J"/>
                <a:cs typeface="Tahoma" pitchFamily="34" charset="0"/>
              </a:rPr>
              <a:t>file</a:t>
            </a:r>
            <a:r>
              <a:rPr lang="en-US" dirty="0">
                <a:ea typeface="HG Mincho Light J"/>
                <a:cs typeface="Tahoma" pitchFamily="34" charset="0"/>
              </a:rPr>
              <a:t> </a:t>
            </a:r>
            <a:r>
              <a:rPr dirty="0">
                <a:ea typeface="HG Mincho Light J"/>
                <a:cs typeface="Tahoma" pitchFamily="34" charset="0"/>
              </a:rPr>
              <a:t>systems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/opt/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	</a:t>
            </a:r>
            <a:r>
              <a:rPr dirty="0">
                <a:ea typeface="HG Mincho Light J"/>
                <a:cs typeface="Tahoma" pitchFamily="34" charset="0"/>
              </a:rPr>
              <a:t>Specific tools installed by the </a:t>
            </a:r>
            <a:r>
              <a:rPr lang="nl-BE" dirty="0">
                <a:latin typeface="Nimbus Sans L"/>
                <a:ea typeface="HG Mincho Light J"/>
                <a:cs typeface="Tahoma" pitchFamily="34" charset="0"/>
              </a:rPr>
              <a:t>				</a:t>
            </a:r>
            <a:r>
              <a:rPr dirty="0" err="1">
                <a:ea typeface="HG Mincho Light J"/>
                <a:cs typeface="Tahoma" pitchFamily="34" charset="0"/>
              </a:rPr>
              <a:t>sysadmin</a:t>
            </a:r>
            <a:r>
              <a:rPr lang="nl-BE" dirty="0">
                <a:latin typeface="Nimbus Sans L"/>
                <a:ea typeface="HG Mincho Light J"/>
                <a:cs typeface="Tahoma" pitchFamily="34" charset="0"/>
              </a:rPr>
              <a:t> </a:t>
            </a: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dirty="0" err="1">
                <a:latin typeface="Courier New" pitchFamily="49" charset="0"/>
                <a:ea typeface="HG Mincho Light J"/>
                <a:cs typeface="Courier New" pitchFamily="49" charset="0"/>
              </a:rPr>
              <a:t>usr</a:t>
            </a: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/local/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 o</a:t>
            </a:r>
            <a:r>
              <a:rPr dirty="0">
                <a:ea typeface="HG Mincho Light J"/>
                <a:cs typeface="Tahoma" pitchFamily="34" charset="0"/>
              </a:rPr>
              <a:t>ften used </a:t>
            </a:r>
            <a:r>
              <a:rPr lang="nl-BE" dirty="0">
                <a:ea typeface="HG Mincho Light J"/>
                <a:cs typeface="Tahoma" pitchFamily="34" charset="0"/>
              </a:rPr>
              <a:t>			</a:t>
            </a:r>
            <a:r>
              <a:rPr dirty="0">
                <a:ea typeface="HG Mincho Light J"/>
                <a:cs typeface="Tahoma" pitchFamily="34" charset="0"/>
              </a:rPr>
              <a:t>instead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/proc/	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</a:t>
            </a:r>
            <a:r>
              <a:rPr dirty="0">
                <a:ea typeface="HG Mincho Light J"/>
                <a:cs typeface="Tahoma" pitchFamily="34" charset="0"/>
              </a:rPr>
              <a:t>Access to system information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dirty="0" err="1">
                <a:latin typeface="Courier New" pitchFamily="49" charset="0"/>
                <a:ea typeface="HG Mincho Light J"/>
                <a:cs typeface="Courier New" pitchFamily="49" charset="0"/>
              </a:rPr>
              <a:t>sbin</a:t>
            </a: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	</a:t>
            </a:r>
            <a:r>
              <a:rPr dirty="0">
                <a:latin typeface="Nimbus Sans L"/>
                <a:ea typeface="HG Mincho Light J"/>
                <a:cs typeface="Tahoma" pitchFamily="34" charset="0"/>
              </a:rPr>
              <a:t>	</a:t>
            </a:r>
            <a:r>
              <a:rPr dirty="0">
                <a:ea typeface="HG Mincho Light J"/>
                <a:cs typeface="Tahoma" pitchFamily="34" charset="0"/>
              </a:rPr>
              <a:t>Administrator-only commands</a:t>
            </a:r>
            <a:br>
              <a:rPr dirty="0">
                <a:latin typeface="Nimbus Sans L"/>
                <a:ea typeface="HG Mincho Light J"/>
                <a:cs typeface="Tahoma" pitchFamily="34" charset="0"/>
              </a:rPr>
            </a:br>
            <a:r>
              <a:rPr dirty="0">
                <a:latin typeface="Courier New" pitchFamily="49" charset="0"/>
                <a:ea typeface="HG Mincho Light J"/>
                <a:cs typeface="Courier New" pitchFamily="49" charset="0"/>
              </a:rPr>
              <a:t>/sys/</a:t>
            </a:r>
            <a:r>
              <a:rPr dirty="0">
                <a:latin typeface="Courier 10 Pitch"/>
                <a:ea typeface="HG Mincho Light J"/>
                <a:cs typeface="Tahoma" pitchFamily="34" charset="0"/>
              </a:rPr>
              <a:t>		</a:t>
            </a:r>
            <a:r>
              <a:rPr dirty="0">
                <a:ea typeface="HG Mincho Light J"/>
                <a:cs typeface="Tahoma" pitchFamily="34" charset="0"/>
              </a:rPr>
              <a:t>System and device controls</a:t>
            </a:r>
            <a:endParaRPr lang="pl-PL" dirty="0">
              <a:ea typeface="HG Mincho Light J"/>
              <a:cs typeface="Tahoma" pitchFamily="34" charset="0"/>
            </a:endParaRPr>
          </a:p>
          <a:p>
            <a:pPr marL="97921" indent="0">
              <a:spcBef>
                <a:spcPct val="0"/>
              </a:spcBef>
              <a:spcAft>
                <a:spcPts val="1191"/>
              </a:spcAft>
              <a:buSzPts val="3400"/>
              <a:buNone/>
            </a:pPr>
            <a:r>
              <a:rPr lang="en-US"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lang="pl-PL" dirty="0" err="1">
                <a:latin typeface="Courier New" pitchFamily="49" charset="0"/>
                <a:ea typeface="HG Mincho Light J"/>
                <a:cs typeface="Courier New" pitchFamily="49" charset="0"/>
              </a:rPr>
              <a:t>tmp</a:t>
            </a:r>
            <a:r>
              <a:rPr lang="en-US" dirty="0">
                <a:latin typeface="Courier New" pitchFamily="49" charset="0"/>
                <a:ea typeface="HG Mincho Light J"/>
                <a:cs typeface="Courier New" pitchFamily="49" charset="0"/>
              </a:rPr>
              <a:t>/</a:t>
            </a:r>
            <a:r>
              <a:rPr lang="en-US" dirty="0">
                <a:latin typeface="Courier 10 Pitch"/>
                <a:ea typeface="HG Mincho Light J"/>
                <a:cs typeface="Tahoma" pitchFamily="34" charset="0"/>
              </a:rPr>
              <a:t>		</a:t>
            </a:r>
            <a:r>
              <a:rPr lang="pl-PL" dirty="0" err="1">
                <a:ea typeface="HG Mincho Light J"/>
                <a:cs typeface="Tahoma" pitchFamily="34" charset="0"/>
              </a:rPr>
              <a:t>Temporary</a:t>
            </a:r>
            <a:r>
              <a:rPr lang="pl-PL" dirty="0">
                <a:ea typeface="HG Mincho Light J"/>
                <a:cs typeface="Tahoma" pitchFamily="34" charset="0"/>
              </a:rPr>
              <a:t> </a:t>
            </a:r>
            <a:r>
              <a:rPr lang="pl-PL" dirty="0" err="1">
                <a:ea typeface="HG Mincho Light J"/>
                <a:cs typeface="Tahoma" pitchFamily="34" charset="0"/>
              </a:rPr>
              <a:t>files</a:t>
            </a:r>
            <a:endParaRPr lang="en-US" dirty="0">
              <a:ea typeface="HG Mincho Light J"/>
              <a:cs typeface="Tahoma" pitchFamily="34" charset="0"/>
            </a:endParaRPr>
          </a:p>
          <a:p>
            <a:pPr marL="97921" indent="0">
              <a:spcBef>
                <a:spcPct val="0"/>
              </a:spcBef>
              <a:spcAft>
                <a:spcPts val="1191"/>
              </a:spcAft>
              <a:buSzPts val="3400"/>
              <a:buNone/>
            </a:pPr>
            <a:r>
              <a:rPr lang="en-US" sz="1600" dirty="0">
                <a:latin typeface="+mj-lt"/>
                <a:ea typeface="HG Mincho Light J"/>
                <a:cs typeface="Tahoma" pitchFamily="34" charset="0"/>
              </a:rPr>
              <a:t>The Unix file system structure is defined by the File system Hierarchy Standard (FHS): </a:t>
            </a:r>
            <a:r>
              <a:rPr lang="en-US" sz="1600" dirty="0">
                <a:solidFill>
                  <a:srgbClr val="000000"/>
                </a:solidFill>
                <a:latin typeface="+mj-lt"/>
                <a:ea typeface="HG Mincho Light J"/>
                <a:cs typeface="Tahoma" pitchFamily="34" charset="0"/>
                <a:hlinkClick r:id="rId3"/>
              </a:rPr>
              <a:t>http://www.pathname.com/fhs/</a:t>
            </a:r>
            <a:r>
              <a:rPr lang="pl-PL" sz="1600" dirty="0">
                <a:solidFill>
                  <a:srgbClr val="000000"/>
                </a:solidFill>
                <a:latin typeface="+mj-lt"/>
                <a:ea typeface="HG Mincho Light J"/>
                <a:cs typeface="Tahoma" pitchFamily="34" charset="0"/>
                <a:hlinkClick r:id="rId3"/>
              </a:rPr>
              <a:t>pub/fhs-2.3.html</a:t>
            </a:r>
          </a:p>
          <a:p>
            <a:pPr marL="97921" indent="0">
              <a:spcBef>
                <a:spcPct val="0"/>
              </a:spcBef>
              <a:spcAft>
                <a:spcPts val="1191"/>
              </a:spcAft>
              <a:buSzPts val="3400"/>
              <a:buNone/>
            </a:pPr>
            <a:endParaRPr lang="en-US" sz="1400" dirty="0">
              <a:solidFill>
                <a:srgbClr val="000000"/>
              </a:solidFill>
              <a:latin typeface="+mj-lt"/>
              <a:ea typeface="HG Mincho Light J"/>
              <a:cs typeface="Tahoma" pitchFamily="34" charset="0"/>
              <a:hlinkClick r:id="rId3"/>
            </a:endParaRPr>
          </a:p>
          <a:p>
            <a:pPr marL="97921" indent="0">
              <a:spcBef>
                <a:spcPct val="0"/>
              </a:spcBef>
              <a:spcAft>
                <a:spcPts val="1191"/>
              </a:spcAft>
              <a:buSzPts val="3400"/>
              <a:buNone/>
            </a:pPr>
            <a:r>
              <a:rPr lang="nl-BE" sz="1400" dirty="0">
                <a:solidFill>
                  <a:srgbClr val="000000"/>
                </a:solidFill>
                <a:latin typeface="+mj-lt"/>
                <a:ea typeface="HG Mincho Light J"/>
                <a:cs typeface="Tahoma" pitchFamily="34" charset="0"/>
              </a:rPr>
              <a:t>http://en.wikipedia.org/wiki/Filesystem_Hierarchy_Standard</a:t>
            </a:r>
            <a:br>
              <a:rPr sz="1400" dirty="0">
                <a:solidFill>
                  <a:srgbClr val="000000"/>
                </a:solidFill>
                <a:latin typeface="+mj-lt"/>
                <a:ea typeface="HG Mincho Light J"/>
                <a:cs typeface="Tahoma" pitchFamily="34" charset="0"/>
              </a:rPr>
            </a:br>
            <a:endParaRPr sz="1400" dirty="0">
              <a:solidFill>
                <a:srgbClr val="000000"/>
              </a:solidFill>
              <a:latin typeface="+mj-lt"/>
              <a:ea typeface="HG Mincho Light J"/>
              <a:cs typeface="Tahoma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304849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Linux File System</a:t>
            </a:r>
            <a:r>
              <a:rPr lang="pl-PL" dirty="0"/>
              <a:t>-home directory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49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2454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ls command</a:t>
            </a:r>
            <a:endParaRPr lang="nl-BE" dirty="0"/>
          </a:p>
        </p:txBody>
      </p:sp>
      <p:sp>
        <p:nvSpPr>
          <p:cNvPr id="21507" name="Tijdelijke aanduiding voor tekst 2"/>
          <p:cNvSpPr txBox="1">
            <a:spLocks noGrp="1"/>
          </p:cNvSpPr>
          <p:nvPr>
            <p:ph idx="1"/>
          </p:nvPr>
        </p:nvSpPr>
        <p:spPr>
          <a:xfrm>
            <a:off x="719138" y="1268760"/>
            <a:ext cx="7920000" cy="467836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Lists the files in the current directory, in alphanumeric order, except files starting with the “.” character.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 -a </a:t>
            </a:r>
            <a:r>
              <a:rPr lang="en-US" sz="2000" dirty="0">
                <a:latin typeface="+mn-lt"/>
              </a:rPr>
              <a:t>(all)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Lists all the files (including .* files)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 -l </a:t>
            </a:r>
            <a:r>
              <a:rPr lang="en-US" sz="2000" dirty="0">
                <a:latin typeface="+mn-lt"/>
              </a:rPr>
              <a:t>(long)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Long listing (type, date, size, owner, permissions)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 -t </a:t>
            </a:r>
            <a:r>
              <a:rPr lang="en-US" sz="2000" dirty="0">
                <a:latin typeface="+mn-lt"/>
              </a:rPr>
              <a:t>(time)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Lists the most recent files first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 -S </a:t>
            </a:r>
            <a:r>
              <a:rPr lang="en-US" sz="2000" dirty="0">
                <a:latin typeface="+mn-lt"/>
              </a:rPr>
              <a:t>(size)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Lists the biggest files first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 -r </a:t>
            </a:r>
            <a:r>
              <a:rPr lang="en-US" sz="2000" dirty="0">
                <a:latin typeface="+mn-lt"/>
              </a:rPr>
              <a:t>(reverse)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Reverses the sort order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 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+mn-lt"/>
              </a:rPr>
              <a:t>(options can be combined)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Long listing, most recent files at the end</a:t>
            </a:r>
          </a:p>
          <a:p>
            <a:endParaRPr lang="en-US" sz="200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50</a:t>
            </a:fld>
            <a:endParaRPr lang="nl-NL"/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91BC4201-7666-95BA-EBA5-23E0216CA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0086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ls</a:t>
            </a:r>
            <a:r>
              <a:rPr lang="nl-BE" dirty="0"/>
              <a:t> </a:t>
            </a:r>
            <a:r>
              <a:rPr lang="nl-BE" dirty="0" err="1"/>
              <a:t>command</a:t>
            </a:r>
            <a:endParaRPr lang="nl-BE" dirty="0"/>
          </a:p>
        </p:txBody>
      </p:sp>
      <p:sp>
        <p:nvSpPr>
          <p:cNvPr id="3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>
              <a:buSzPct val="100000"/>
              <a:buFont typeface="Arial" pitchFamily="34" charset="0"/>
              <a:buChar char="•"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ls *txt</a:t>
            </a:r>
            <a:br>
              <a:rPr lang="en-US" sz="2200" b="1" dirty="0">
                <a:latin typeface="+mj-lt"/>
              </a:rPr>
            </a:br>
            <a:r>
              <a:rPr lang="en-US" sz="2200" dirty="0">
                <a:latin typeface="+mj-lt"/>
              </a:rPr>
              <a:t>The shell first replaces *txt by all the file and directory names ending by txt (including .txt), except those starting with ., and then executes the ls command line.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ls -d .*</a:t>
            </a:r>
            <a:br>
              <a:rPr lang="en-US" sz="2200" b="1" dirty="0">
                <a:latin typeface="+mj-lt"/>
              </a:rPr>
            </a:br>
            <a:r>
              <a:rPr lang="en-US" sz="2200" dirty="0">
                <a:latin typeface="+mj-lt"/>
              </a:rPr>
              <a:t>Lists all the files and directories starting with .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-d tells ls not to display the contents of directories.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ls -d */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ls ?.log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+mj-lt"/>
              </a:rPr>
              <a:t>Lists all the files which names start by 1 character and end by .log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en-US" sz="2000" dirty="0">
                <a:latin typeface="+mj-lt"/>
                <a:hlinkClick r:id="rId4"/>
              </a:rPr>
              <a:t>http://www.thegeekstuff.com/2009/07/linux-ls-command-examples/</a:t>
            </a:r>
            <a:endParaRPr lang="en-US" sz="20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51</a:t>
            </a:fld>
            <a:endParaRPr lang="nl-NL"/>
          </a:p>
        </p:txBody>
      </p:sp>
      <p:pic>
        <p:nvPicPr>
          <p:cNvPr id="4" name="Graphic 3" descr="Key with solid fill">
            <a:extLst>
              <a:ext uri="{FF2B5EF4-FFF2-40B4-BE49-F238E27FC236}">
                <a16:creationId xmlns:a16="http://schemas.microsoft.com/office/drawing/2014/main" id="{8A8D58C3-DAA9-2393-3A9E-5EF7E65F0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1736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400" dirty="0">
                <a:latin typeface="Courier New" pitchFamily="49" charset="0"/>
                <a:cs typeface="Courier New" pitchFamily="49" charset="0"/>
              </a:rPr>
              <a:t>vsc30051@login1:~/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matlab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/test&gt;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-al</a:t>
            </a:r>
          </a:p>
          <a:p>
            <a:pPr marL="0" indent="0">
              <a:buNone/>
            </a:pP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total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1156</a:t>
            </a:r>
          </a:p>
          <a:p>
            <a:pPr marL="0" indent="0">
              <a:buNone/>
            </a:pP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drwxr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-x 9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  8192 2011-03-29 16:10 .</a:t>
            </a:r>
          </a:p>
          <a:p>
            <a:pPr marL="0" indent="0">
              <a:buNone/>
            </a:pP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drwxr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-x 9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  4096 2011-06-20 12:08 ..</a:t>
            </a:r>
          </a:p>
          <a:p>
            <a:pPr marL="0" indent="0">
              <a:buNone/>
            </a:pP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drwxr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-x 3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  4096 2010-01-08 10:54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courseAndreas</a:t>
            </a:r>
            <a:endParaRPr lang="nl-B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rwxr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--r-- 1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149326 2011-03-10 15:14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fibonacci</a:t>
            </a:r>
            <a:endParaRPr lang="nl-B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rw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-r--r-- 1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   681 2011-03-10 15:09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fibonacci.m</a:t>
            </a:r>
            <a:endParaRPr lang="nl-B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rwxr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--r-- 1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149068 2011-03-10 12:16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ftest</a:t>
            </a:r>
            <a:endParaRPr lang="nl-B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rw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-r--r-- 1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   443 2011-03-10 12:17 ftest_compiled.sh</a:t>
            </a:r>
          </a:p>
          <a:p>
            <a:pPr marL="0" indent="0">
              <a:buNone/>
            </a:pP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rw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-r--r-- 1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   442 2011-03-10 11:28 ftest_compiled.sh~</a:t>
            </a:r>
          </a:p>
          <a:p>
            <a:pPr marL="0" indent="0">
              <a:buNone/>
            </a:pPr>
            <a:r>
              <a:rPr lang="nl-BE" sz="1400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rw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-r--r-- 1 vsc30051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vsc30051</a:t>
            </a:r>
            <a:r>
              <a:rPr lang="nl-BE" sz="1400" dirty="0">
                <a:latin typeface="Courier New" pitchFamily="49" charset="0"/>
                <a:cs typeface="Courier New" pitchFamily="49" charset="0"/>
              </a:rPr>
              <a:t>     70 2011-03-10 12:15 </a:t>
            </a:r>
            <a:r>
              <a:rPr lang="nl-BE" sz="1400" dirty="0" err="1">
                <a:latin typeface="Courier New" pitchFamily="49" charset="0"/>
                <a:cs typeface="Courier New" pitchFamily="49" charset="0"/>
              </a:rPr>
              <a:t>ftest.m</a:t>
            </a:r>
            <a:endParaRPr lang="nl-B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nl-BE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52</a:t>
            </a:fld>
            <a:endParaRPr lang="nl-NL"/>
          </a:p>
        </p:txBody>
      </p:sp>
      <p:sp>
        <p:nvSpPr>
          <p:cNvPr id="6" name="Titel 1"/>
          <p:cNvSpPr txBox="1">
            <a:spLocks noGrp="1"/>
          </p:cNvSpPr>
          <p:nvPr>
            <p:ph type="title"/>
          </p:nvPr>
        </p:nvSpPr>
        <p:spPr>
          <a:xfrm>
            <a:off x="719138" y="0"/>
            <a:ext cx="7920000" cy="1079500"/>
          </a:xfrm>
        </p:spPr>
        <p:txBody>
          <a:bodyPr/>
          <a:lstStyle/>
          <a:p>
            <a:r>
              <a:rPr lang="nl-BE" dirty="0" err="1"/>
              <a:t>ls</a:t>
            </a:r>
            <a:r>
              <a:rPr lang="nl-BE" dirty="0"/>
              <a:t> </a:t>
            </a:r>
            <a:r>
              <a:rPr lang="nl-BE" dirty="0" err="1"/>
              <a:t>command</a:t>
            </a:r>
            <a:endParaRPr lang="nl-BE" dirty="0"/>
          </a:p>
        </p:txBody>
      </p:sp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405000" y="4727376"/>
            <a:ext cx="8334000" cy="1610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spcBef>
                <a:spcPts val="580"/>
              </a:spcBef>
              <a:buSzPct val="110000"/>
              <a:buFont typeface="Arial" pitchFamily="34" charset="0"/>
              <a:buChar char="•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20000" indent="-360363" algn="l" defTabSz="914400" rtl="0" eaLnBrk="1" latinLnBrk="0" hangingPunct="1">
              <a:spcBef>
                <a:spcPts val="580"/>
              </a:spcBef>
              <a:buSzPct val="75000"/>
              <a:buFont typeface="Courier New" pitchFamily="49" charset="0"/>
              <a:buChar char="o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90000" indent="-2700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168400" indent="-180000" algn="l" defTabSz="914400" rtl="0" eaLnBrk="1" latinLnBrk="0" hangingPunct="1">
              <a:spcBef>
                <a:spcPts val="380"/>
              </a:spcBef>
              <a:buSzPct val="80000"/>
              <a:buFont typeface="Arial" pitchFamily="34" charset="0"/>
              <a:buChar char="•"/>
              <a:defRPr sz="16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338263" indent="-179388" algn="l" defTabSz="914400" rtl="0" eaLnBrk="1" latinLnBrk="0" hangingPunct="1">
              <a:spcBef>
                <a:spcPts val="380"/>
              </a:spcBef>
              <a:buFont typeface="Arial" pitchFamily="34" charset="0"/>
              <a:buChar char="-"/>
              <a:defRPr lang="nl-BE" sz="1600" kern="1200" dirty="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200" dirty="0">
                <a:latin typeface="+mj-lt"/>
              </a:rPr>
              <a:t>In Linux, file is defined as simply the thing that deals with a sequence of bytes</a:t>
            </a:r>
          </a:p>
          <a:p>
            <a:pPr>
              <a:lnSpc>
                <a:spcPct val="80000"/>
              </a:lnSpc>
            </a:pPr>
            <a:r>
              <a:rPr lang="en-US" sz="2200" dirty="0">
                <a:latin typeface="+mj-lt"/>
              </a:rPr>
              <a:t>Hence everything are files</a:t>
            </a:r>
            <a:r>
              <a:rPr lang="pl-PL" sz="2200" dirty="0">
                <a:latin typeface="+mj-lt"/>
              </a:rPr>
              <a:t>: a</a:t>
            </a:r>
            <a:r>
              <a:rPr lang="en-US" sz="2200" dirty="0">
                <a:latin typeface="+mj-lt"/>
              </a:rPr>
              <a:t>n ordinary file is a file; a directory is also file; a network card, a hard disk, any device are also files since they deal with a sequence of bytes </a:t>
            </a:r>
          </a:p>
        </p:txBody>
      </p:sp>
      <p:pic>
        <p:nvPicPr>
          <p:cNvPr id="2" name="Graphic 1" descr="Key with solid fill">
            <a:extLst>
              <a:ext uri="{FF2B5EF4-FFF2-40B4-BE49-F238E27FC236}">
                <a16:creationId xmlns:a16="http://schemas.microsoft.com/office/drawing/2014/main" id="{8F1FF8FA-8FF8-B304-34C1-657D115FD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4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Moving</a:t>
            </a:r>
            <a:r>
              <a:rPr lang="nl-BE" dirty="0"/>
              <a:t> </a:t>
            </a:r>
            <a:r>
              <a:rPr lang="nl-BE" dirty="0" err="1"/>
              <a:t>around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nl-BE" sz="2000" b="1" dirty="0" err="1">
                <a:latin typeface="+mj-lt"/>
              </a:rPr>
              <a:t>Symbolic</a:t>
            </a:r>
            <a:r>
              <a:rPr lang="nl-BE" sz="2000" b="1" dirty="0">
                <a:latin typeface="+mj-lt"/>
              </a:rPr>
              <a:t> (soft) link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  <a:cs typeface="Courier New" pitchFamily="49" charset="0"/>
              </a:rPr>
              <a:t>Not a real file, just a link to another file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</a:rPr>
              <a:t>Allow</a:t>
            </a:r>
            <a:r>
              <a:rPr lang="pl-PL" sz="2000" dirty="0">
                <a:latin typeface="+mj-lt"/>
              </a:rPr>
              <a:t>s</a:t>
            </a:r>
            <a:r>
              <a:rPr lang="en-US" sz="2000" dirty="0">
                <a:latin typeface="+mj-lt"/>
              </a:rPr>
              <a:t> giving another name to a file without actually </a:t>
            </a:r>
            <a:r>
              <a:rPr lang="en-US" sz="2000" dirty="0" err="1">
                <a:latin typeface="+mj-lt"/>
              </a:rPr>
              <a:t>duplicat</a:t>
            </a:r>
            <a:r>
              <a:rPr lang="pl-PL" sz="2000" dirty="0" err="1">
                <a:latin typeface="+mj-lt"/>
              </a:rPr>
              <a:t>ing</a:t>
            </a:r>
            <a:r>
              <a:rPr lang="en-US" sz="2000" dirty="0">
                <a:latin typeface="+mj-lt"/>
              </a:rPr>
              <a:t> it – hence save</a:t>
            </a:r>
            <a:r>
              <a:rPr lang="pl-PL" sz="2000" dirty="0">
                <a:latin typeface="+mj-lt"/>
              </a:rPr>
              <a:t>s</a:t>
            </a:r>
            <a:r>
              <a:rPr lang="en-US" sz="2000" dirty="0">
                <a:latin typeface="+mj-lt"/>
              </a:rPr>
              <a:t> memory space</a:t>
            </a:r>
            <a:endParaRPr lang="pl-PL" sz="2000" dirty="0">
              <a:latin typeface="+mj-lt"/>
            </a:endParaRPr>
          </a:p>
          <a:p>
            <a:pPr marL="359637" lvl="1" indent="0">
              <a:lnSpc>
                <a:spcPct val="80000"/>
              </a:lnSpc>
              <a:buNone/>
            </a:pPr>
            <a:endParaRPr lang="en-US" sz="2000" dirty="0">
              <a:latin typeface="+mj-lt"/>
            </a:endParaRPr>
          </a:p>
          <a:p>
            <a:pPr>
              <a:lnSpc>
                <a:spcPct val="80000"/>
              </a:lnSpc>
            </a:pPr>
            <a:r>
              <a:rPr lang="nl-BE" sz="2000" b="1" dirty="0">
                <a:latin typeface="+mj-lt"/>
              </a:rPr>
              <a:t>Special file (device)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  <a:cs typeface="Courier New" pitchFamily="49" charset="0"/>
              </a:rPr>
              <a:t>Each hardware device, e.g. keyboard, hard disk, CD-ROM, etc. is associated with at least one file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  <a:cs typeface="Courier New" pitchFamily="49" charset="0"/>
              </a:rPr>
              <a:t>Usually store in /</a:t>
            </a:r>
            <a:r>
              <a:rPr lang="en-US" sz="2000" dirty="0" err="1">
                <a:latin typeface="+mj-lt"/>
                <a:cs typeface="Courier New" pitchFamily="49" charset="0"/>
              </a:rPr>
              <a:t>dev</a:t>
            </a:r>
            <a:r>
              <a:rPr lang="en-US" sz="2000" dirty="0">
                <a:latin typeface="+mj-lt"/>
                <a:cs typeface="Courier New" pitchFamily="49" charset="0"/>
              </a:rPr>
              <a:t> directory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  <a:cs typeface="Courier New" pitchFamily="49" charset="0"/>
              </a:rPr>
              <a:t>Applications can read and write any devices by reading and writing their associate file – hence the access method is known as device independent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  <a:cs typeface="Courier New" pitchFamily="49" charset="0"/>
              </a:rPr>
              <a:t>Divide into two types: character special files, e.g. keyboard, and block special files, e.g. disk</a:t>
            </a:r>
          </a:p>
          <a:p>
            <a:endParaRPr lang="nl-BE" sz="20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68027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ls</a:t>
            </a:r>
            <a:r>
              <a:rPr lang="nl-BE" dirty="0"/>
              <a:t> </a:t>
            </a:r>
            <a:r>
              <a:rPr lang="nl-BE" dirty="0" err="1"/>
              <a:t>command</a:t>
            </a:r>
            <a:endParaRPr lang="nl-BE" dirty="0"/>
          </a:p>
        </p:txBody>
      </p:sp>
      <p:sp>
        <p:nvSpPr>
          <p:cNvPr id="3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>
              <a:buSzPct val="100000"/>
              <a:buFont typeface="Arial" pitchFamily="34" charset="0"/>
              <a:buChar char="•"/>
            </a:pPr>
            <a:endParaRPr lang="en-US" sz="200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54</a:t>
            </a:fld>
            <a:endParaRPr lang="nl-NL"/>
          </a:p>
        </p:txBody>
      </p:sp>
      <p:grpSp>
        <p:nvGrpSpPr>
          <p:cNvPr id="5" name="Groep 4"/>
          <p:cNvGrpSpPr/>
          <p:nvPr/>
        </p:nvGrpSpPr>
        <p:grpSpPr>
          <a:xfrm>
            <a:off x="183520" y="1298865"/>
            <a:ext cx="7844864" cy="4650416"/>
            <a:chOff x="543560" y="1298863"/>
            <a:chExt cx="8636952" cy="5384875"/>
          </a:xfrm>
        </p:grpSpPr>
        <p:pic>
          <p:nvPicPr>
            <p:cNvPr id="6" name="Picture 7" descr="CUI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312" y="1349738"/>
              <a:ext cx="8585200" cy="533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ep 6"/>
            <p:cNvGrpSpPr/>
            <p:nvPr/>
          </p:nvGrpSpPr>
          <p:grpSpPr>
            <a:xfrm>
              <a:off x="543560" y="1298863"/>
              <a:ext cx="8596596" cy="5077132"/>
              <a:chOff x="543560" y="1298863"/>
              <a:chExt cx="8596596" cy="5077132"/>
            </a:xfrm>
          </p:grpSpPr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3078480" y="1844755"/>
                <a:ext cx="2819400" cy="425450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9" name="Text Box 9"/>
              <p:cNvSpPr txBox="1">
                <a:spLocks noChangeArrowheads="1"/>
              </p:cNvSpPr>
              <p:nvPr/>
            </p:nvSpPr>
            <p:spPr bwMode="auto">
              <a:xfrm>
                <a:off x="5711156" y="1298863"/>
                <a:ext cx="3429000" cy="10156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TW" sz="1700" dirty="0">
                    <a:solidFill>
                      <a:srgbClr val="182B52"/>
                    </a:solidFill>
                    <a:ea typeface="新細明體" panose="02020500000000000000" pitchFamily="18" charset="-120"/>
                  </a:rPr>
                  <a:t>Command that sets a symbolic link to a file called CUI to </a:t>
                </a:r>
                <a:r>
                  <a:rPr lang="en-US" altLang="zh-TW" sz="1700" dirty="0" err="1">
                    <a:solidFill>
                      <a:srgbClr val="182B52"/>
                    </a:solidFill>
                    <a:ea typeface="新細明體" panose="02020500000000000000" pitchFamily="18" charset="-120"/>
                  </a:rPr>
                  <a:t>anotherCUI</a:t>
                </a:r>
                <a:endParaRPr lang="en-US" altLang="zh-TW" sz="1700" dirty="0">
                  <a:solidFill>
                    <a:srgbClr val="182B52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 flipH="1">
                <a:off x="4648200" y="1625392"/>
                <a:ext cx="1059112" cy="20340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H="1">
                <a:off x="7524328" y="2222192"/>
                <a:ext cx="360040" cy="192688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  <p:sp>
            <p:nvSpPr>
              <p:cNvPr id="12" name="Text Box 12"/>
              <p:cNvSpPr txBox="1">
                <a:spLocks noChangeArrowheads="1"/>
              </p:cNvSpPr>
              <p:nvPr/>
            </p:nvSpPr>
            <p:spPr bwMode="auto">
              <a:xfrm>
                <a:off x="1205597" y="5802708"/>
                <a:ext cx="3993466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1800" dirty="0">
                    <a:solidFill>
                      <a:srgbClr val="182B52"/>
                    </a:solidFill>
                    <a:ea typeface="新細明體" panose="02020500000000000000" pitchFamily="18" charset="-120"/>
                  </a:rPr>
                  <a:t>A symbolic link begins with a letter </a:t>
                </a:r>
                <a:r>
                  <a:rPr lang="en-US" altLang="zh-TW" sz="1800" i="1" dirty="0">
                    <a:solidFill>
                      <a:srgbClr val="182B52"/>
                    </a:solidFill>
                    <a:ea typeface="新細明體" panose="02020500000000000000" pitchFamily="18" charset="-120"/>
                  </a:rPr>
                  <a:t>l   </a:t>
                </a: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 flipH="1" flipV="1">
                <a:off x="1209566" y="4321175"/>
                <a:ext cx="1562234" cy="147978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  <p:sp>
            <p:nvSpPr>
              <p:cNvPr id="14" name="Oval 14"/>
              <p:cNvSpPr>
                <a:spLocks noChangeArrowheads="1"/>
              </p:cNvSpPr>
              <p:nvPr/>
            </p:nvSpPr>
            <p:spPr bwMode="auto">
              <a:xfrm>
                <a:off x="543560" y="4017315"/>
                <a:ext cx="1332012" cy="288925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15" name="Text Box 8"/>
              <p:cNvSpPr txBox="1">
                <a:spLocks noChangeArrowheads="1"/>
              </p:cNvSpPr>
              <p:nvPr/>
            </p:nvSpPr>
            <p:spPr bwMode="auto">
              <a:xfrm>
                <a:off x="5805091" y="5057371"/>
                <a:ext cx="2732880" cy="13186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700" dirty="0">
                    <a:solidFill>
                      <a:srgbClr val="182B52"/>
                    </a:solidFill>
                    <a:latin typeface="+mj-lt"/>
                    <a:ea typeface="新細明體" panose="02020500000000000000" pitchFamily="18" charset="-120"/>
                  </a:rPr>
                  <a:t>Names in blue are directories, indicated by a letter d at the beginning of the line</a:t>
                </a:r>
              </a:p>
            </p:txBody>
          </p:sp>
          <p:sp>
            <p:nvSpPr>
              <p:cNvPr id="16" name="Oval 14"/>
              <p:cNvSpPr>
                <a:spLocks noChangeArrowheads="1"/>
              </p:cNvSpPr>
              <p:nvPr/>
            </p:nvSpPr>
            <p:spPr bwMode="auto">
              <a:xfrm>
                <a:off x="543560" y="3663300"/>
                <a:ext cx="1292136" cy="258736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H="1" flipV="1">
                <a:off x="1835696" y="3879769"/>
                <a:ext cx="3969394" cy="146557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 flipH="1" flipV="1">
                <a:off x="6732240" y="3866665"/>
                <a:ext cx="349746" cy="119070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873151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Moving</a:t>
            </a:r>
            <a:r>
              <a:rPr lang="nl-BE" dirty="0"/>
              <a:t> </a:t>
            </a:r>
            <a:r>
              <a:rPr lang="nl-BE" dirty="0" err="1"/>
              <a:t>around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nl-BE" sz="2000" dirty="0">
                <a:latin typeface="+mj-lt"/>
              </a:rPr>
              <a:t>Display the </a:t>
            </a:r>
            <a:r>
              <a:rPr lang="nl-BE" sz="2000" dirty="0" err="1">
                <a:latin typeface="+mj-lt"/>
              </a:rPr>
              <a:t>current</a:t>
            </a:r>
            <a:r>
              <a:rPr lang="nl-BE" sz="2000" dirty="0">
                <a:latin typeface="+mj-lt"/>
              </a:rPr>
              <a:t>/</a:t>
            </a:r>
            <a:r>
              <a:rPr lang="nl-BE" sz="2000" dirty="0" err="1">
                <a:latin typeface="+mj-lt"/>
              </a:rPr>
              <a:t>working</a:t>
            </a:r>
            <a:r>
              <a:rPr lang="nl-BE" sz="2000" dirty="0">
                <a:latin typeface="+mj-lt"/>
              </a:rPr>
              <a:t> directory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sz="2000" b="1" dirty="0">
                <a:latin typeface="+mj-lt"/>
              </a:rPr>
              <a:t>P</a:t>
            </a:r>
            <a:r>
              <a:rPr lang="en-US" sz="2000" dirty="0">
                <a:latin typeface="+mj-lt"/>
              </a:rPr>
              <a:t>rint </a:t>
            </a:r>
            <a:r>
              <a:rPr lang="en-US" sz="2000" b="1" dirty="0">
                <a:latin typeface="+mj-lt"/>
              </a:rPr>
              <a:t>W</a:t>
            </a:r>
            <a:r>
              <a:rPr lang="en-US" sz="2000" dirty="0">
                <a:latin typeface="+mj-lt"/>
              </a:rPr>
              <a:t>orking </a:t>
            </a:r>
            <a:r>
              <a:rPr lang="en-US" sz="2000" b="1" dirty="0">
                <a:latin typeface="+mj-lt"/>
              </a:rPr>
              <a:t>D</a:t>
            </a:r>
            <a:r>
              <a:rPr lang="en-US" sz="2000" dirty="0">
                <a:latin typeface="+mj-lt"/>
              </a:rPr>
              <a:t>irectory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</a:rPr>
              <a:t>displays your current location within the file system.</a:t>
            </a:r>
          </a:p>
          <a:p>
            <a:pPr>
              <a:lnSpc>
                <a:spcPct val="80000"/>
              </a:lnSpc>
            </a:pPr>
            <a:r>
              <a:rPr lang="nl-BE" sz="2000" dirty="0">
                <a:latin typeface="+mj-lt"/>
              </a:rPr>
              <a:t>Change (</a:t>
            </a:r>
            <a:r>
              <a:rPr lang="nl-BE" sz="2000" dirty="0" err="1">
                <a:latin typeface="+mj-lt"/>
              </a:rPr>
              <a:t>navigate</a:t>
            </a:r>
            <a:r>
              <a:rPr lang="nl-BE" sz="2000" dirty="0">
                <a:latin typeface="+mj-lt"/>
              </a:rPr>
              <a:t>) directories.</a:t>
            </a:r>
            <a:endParaRPr lang="en-US" sz="2000" dirty="0">
              <a:latin typeface="+mj-lt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nl-BE" sz="2000" b="1" dirty="0">
                <a:latin typeface="+mj-lt"/>
              </a:rPr>
              <a:t>C</a:t>
            </a:r>
            <a:r>
              <a:rPr lang="nl-BE" sz="2000" dirty="0">
                <a:latin typeface="+mj-lt"/>
              </a:rPr>
              <a:t>hange </a:t>
            </a:r>
            <a:r>
              <a:rPr lang="nl-BE" sz="2000" b="1" dirty="0">
                <a:latin typeface="+mj-lt"/>
              </a:rPr>
              <a:t>D</a:t>
            </a:r>
            <a:r>
              <a:rPr lang="nl-BE" sz="2000" dirty="0">
                <a:latin typeface="+mj-lt"/>
              </a:rPr>
              <a:t>irectories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</a:rPr>
              <a:t>changes the position to the specific directory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+mj-lt"/>
              </a:rPr>
              <a:t>You can specify directory names in two ways: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</a:rPr>
              <a:t>Absolute pathname (starts from the root of the tree)</a:t>
            </a:r>
          </a:p>
          <a:p>
            <a:pPr lvl="2"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/u/home/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hpc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/test/bin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j-lt"/>
              </a:rPr>
              <a:t>Relative pathname (relative to your current directory)</a:t>
            </a:r>
          </a:p>
          <a:p>
            <a:pPr lvl="2"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</a:p>
          <a:p>
            <a:pPr lvl="2"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.</a:t>
            </a:r>
          </a:p>
          <a:p>
            <a:pPr lvl="2"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</a:p>
          <a:p>
            <a:pPr lvl="2"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test/bin</a:t>
            </a:r>
          </a:p>
          <a:p>
            <a:endParaRPr lang="nl-BE" sz="20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55</a:t>
            </a:fld>
            <a:endParaRPr lang="nl-NL"/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796F5628-FEEF-2208-369A-6D28F6F77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60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Nimbus Sans L"/>
                <a:ea typeface="HG Mincho Light J"/>
                <a:cs typeface="Tahoma" pitchFamily="34" charset="0"/>
              </a:rPr>
              <a:t>Special directories 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1124744"/>
            <a:ext cx="7920000" cy="4678362"/>
          </a:xfrm>
        </p:spPr>
        <p:txBody>
          <a:bodyPr/>
          <a:lstStyle/>
          <a:p>
            <a:r>
              <a:rPr lang="nl-BE" sz="1800" b="1" dirty="0">
                <a:latin typeface="+mj-lt"/>
              </a:rPr>
              <a:t>.</a:t>
            </a:r>
          </a:p>
          <a:p>
            <a:pPr marL="865387" lvl="1" indent="-342900" fontAlgn="auto">
              <a:defRPr/>
            </a:pPr>
            <a:r>
              <a:rPr lang="en-US" sz="1800" dirty="0">
                <a:latin typeface="+mj-lt"/>
              </a:rPr>
              <a:t>The current directory. </a:t>
            </a:r>
          </a:p>
          <a:p>
            <a:pPr marL="865387" lvl="1" indent="-342900" fontAlgn="auto">
              <a:defRPr/>
            </a:pPr>
            <a:r>
              <a:rPr lang="en-US" sz="1800" dirty="0">
                <a:latin typeface="+mj-lt"/>
              </a:rPr>
              <a:t>Useful for commands taking a directory argument. </a:t>
            </a:r>
          </a:p>
          <a:p>
            <a:pPr marL="865387" lvl="1" indent="-342900" fontAlgn="auto">
              <a:defRPr/>
            </a:pPr>
            <a:r>
              <a:rPr lang="en-US" sz="1800" dirty="0">
                <a:latin typeface="+mj-lt"/>
              </a:rPr>
              <a:t>Useful to run commands in the current directory</a:t>
            </a:r>
          </a:p>
          <a:p>
            <a:pPr marL="865387" lvl="1" indent="-342900" fontAlgn="auto">
              <a:defRPr/>
            </a:pPr>
            <a:r>
              <a:rPr lang="en-US" sz="1800" dirty="0">
                <a:latin typeface="+mj-lt"/>
                <a:cs typeface="Courier New" pitchFamily="49" charset="0"/>
              </a:rPr>
              <a:t>./readme.txt </a:t>
            </a:r>
            <a:r>
              <a:rPr lang="en-US" sz="1800" dirty="0">
                <a:latin typeface="+mj-lt"/>
              </a:rPr>
              <a:t>and </a:t>
            </a:r>
            <a:r>
              <a:rPr lang="en-US" sz="1800" dirty="0">
                <a:latin typeface="+mj-lt"/>
                <a:cs typeface="Courier New" pitchFamily="49" charset="0"/>
              </a:rPr>
              <a:t>readme.txt</a:t>
            </a:r>
            <a:r>
              <a:rPr lang="en-US" sz="1800" dirty="0">
                <a:latin typeface="+mj-lt"/>
              </a:rPr>
              <a:t> are equivalent.</a:t>
            </a:r>
          </a:p>
          <a:p>
            <a:r>
              <a:rPr lang="nl-BE" sz="1800" b="1" dirty="0">
                <a:latin typeface="+mj-lt"/>
              </a:rPr>
              <a:t>..</a:t>
            </a:r>
          </a:p>
          <a:p>
            <a:pPr lvl="1"/>
            <a:r>
              <a:rPr lang="en-US" sz="1800" dirty="0">
                <a:latin typeface="+mj-lt"/>
              </a:rPr>
              <a:t>The parent (enclosing) directory. Always belongs to the . Directory	</a:t>
            </a:r>
          </a:p>
          <a:p>
            <a:pPr lvl="1"/>
            <a:r>
              <a:rPr lang="en-US" sz="1800" dirty="0">
                <a:latin typeface="+mj-lt"/>
              </a:rPr>
              <a:t>Typical usage: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  <a:cs typeface="Courier New" pitchFamily="49" charset="0"/>
              </a:rPr>
              <a:t>cd ..</a:t>
            </a:r>
          </a:p>
          <a:p>
            <a:pPr marL="465337" fontAlgn="auto">
              <a:defRPr/>
            </a:pPr>
            <a:r>
              <a:rPr lang="en-US" sz="1800" b="1" dirty="0">
                <a:latin typeface="+mj-lt"/>
                <a:cs typeface="Courier New" pitchFamily="49" charset="0"/>
              </a:rPr>
              <a:t>~</a:t>
            </a:r>
          </a:p>
          <a:p>
            <a:pPr marL="865387" lvl="1" fontAlgn="auto">
              <a:defRPr/>
            </a:pPr>
            <a:r>
              <a:rPr lang="en-US" sz="1800" dirty="0">
                <a:latin typeface="+mj-lt"/>
              </a:rPr>
              <a:t>Shells just substitute it by the home directory of the current user.</a:t>
            </a:r>
          </a:p>
          <a:p>
            <a:pPr marL="465337" fontAlgn="auto">
              <a:defRPr/>
            </a:pPr>
            <a:r>
              <a:rPr lang="en-US" sz="1800" b="1" dirty="0">
                <a:latin typeface="+mj-lt"/>
                <a:cs typeface="Courier New" pitchFamily="49" charset="0"/>
              </a:rPr>
              <a:t>-</a:t>
            </a:r>
          </a:p>
          <a:p>
            <a:pPr marL="865387" lvl="1" fontAlgn="auto">
              <a:defRPr/>
            </a:pPr>
            <a:r>
              <a:rPr lang="en-US" sz="1800" dirty="0">
                <a:latin typeface="+mj-lt"/>
                <a:cs typeface="Courier New" pitchFamily="49" charset="0"/>
              </a:rPr>
              <a:t>cd –</a:t>
            </a:r>
            <a:r>
              <a:rPr lang="en-US" sz="1800" dirty="0">
                <a:latin typeface="+mj-lt"/>
              </a:rPr>
              <a:t> jump back to the previous directory</a:t>
            </a:r>
          </a:p>
          <a:p>
            <a:pPr marL="865387" lvl="1" fontAlgn="auto">
              <a:defRPr/>
            </a:pPr>
            <a:endParaRPr lang="en-US" sz="1800" dirty="0">
              <a:latin typeface="+mj-lt"/>
            </a:endParaRPr>
          </a:p>
          <a:p>
            <a:pPr marL="465337" fontAlgn="auto">
              <a:defRPr/>
            </a:pPr>
            <a:endParaRPr lang="en-US" sz="1800" dirty="0">
              <a:latin typeface="+mj-lt"/>
              <a:cs typeface="Courier New" pitchFamily="49" charset="0"/>
            </a:endParaRPr>
          </a:p>
          <a:p>
            <a:endParaRPr lang="nl-BE" sz="18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61461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57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5159424" y="3359564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.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4572000" y="3356992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Afgeronde rechthoek 11"/>
          <p:cNvSpPr/>
          <p:nvPr/>
        </p:nvSpPr>
        <p:spPr>
          <a:xfrm>
            <a:off x="4499608" y="3269711"/>
            <a:ext cx="720464" cy="49693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240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58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5159424" y="335956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..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4572000" y="3356992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 flipV="1">
            <a:off x="4589236" y="2987846"/>
            <a:ext cx="198788" cy="44458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4499992" y="2631262"/>
            <a:ext cx="702844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958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59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5562790" y="5030853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../..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5425065" y="4629330"/>
            <a:ext cx="743100" cy="4443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 flipV="1">
            <a:off x="4707000" y="3717033"/>
            <a:ext cx="306965" cy="49967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4602864" y="3344520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met pijl 10"/>
          <p:cNvCxnSpPr/>
          <p:nvPr/>
        </p:nvCxnSpPr>
        <p:spPr>
          <a:xfrm flipH="1" flipV="1">
            <a:off x="4679156" y="4386866"/>
            <a:ext cx="745909" cy="33500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25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60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5159424" y="3359564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/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4572000" y="3356992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 flipV="1">
            <a:off x="4589236" y="2208296"/>
            <a:ext cx="72392" cy="122413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4207068" y="1861196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7447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61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3552889" y="1873562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-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4572000" y="3356992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>
            <a:off x="4349191" y="2225752"/>
            <a:ext cx="329965" cy="11247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4207068" y="1861196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Afgeronde rechthoek 12"/>
          <p:cNvSpPr/>
          <p:nvPr/>
        </p:nvSpPr>
        <p:spPr>
          <a:xfrm>
            <a:off x="4499608" y="3321136"/>
            <a:ext cx="792472" cy="46790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539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62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5562790" y="5030853"/>
            <a:ext cx="627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~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5425065" y="4629330"/>
            <a:ext cx="743100" cy="4443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 flipH="1" flipV="1">
            <a:off x="5004048" y="3717032"/>
            <a:ext cx="691691" cy="91229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4602864" y="3344520"/>
            <a:ext cx="585080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0667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63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4104000" y="445919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../Desktop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4057560" y="4149080"/>
            <a:ext cx="730464" cy="360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 flipV="1">
            <a:off x="4350400" y="3656412"/>
            <a:ext cx="581640" cy="47438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3347864" y="4145752"/>
            <a:ext cx="647688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met pijl 10"/>
          <p:cNvCxnSpPr/>
          <p:nvPr/>
        </p:nvCxnSpPr>
        <p:spPr>
          <a:xfrm flipH="1">
            <a:off x="3636000" y="3649512"/>
            <a:ext cx="1229628" cy="4995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hoek 13"/>
          <p:cNvSpPr/>
          <p:nvPr/>
        </p:nvSpPr>
        <p:spPr>
          <a:xfrm>
            <a:off x="323528" y="4077072"/>
            <a:ext cx="1584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Relative path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7E79B44-4BA4-B713-128C-243BDE6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80000"/>
            <a:ext cx="8334000" cy="900000"/>
          </a:xfrm>
        </p:spPr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33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64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4792148" y="4356187"/>
            <a:ext cx="1537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~/Desktop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4057560" y="4149080"/>
            <a:ext cx="730464" cy="360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 flipV="1">
            <a:off x="4350400" y="3656412"/>
            <a:ext cx="581640" cy="47438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3347864" y="4145752"/>
            <a:ext cx="647688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met pijl 10"/>
          <p:cNvCxnSpPr/>
          <p:nvPr/>
        </p:nvCxnSpPr>
        <p:spPr>
          <a:xfrm flipH="1">
            <a:off x="3636000" y="3649512"/>
            <a:ext cx="1229628" cy="4995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hoek 12"/>
          <p:cNvSpPr/>
          <p:nvPr/>
        </p:nvSpPr>
        <p:spPr>
          <a:xfrm>
            <a:off x="323528" y="4077072"/>
            <a:ext cx="1584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Relative path</a:t>
            </a:r>
            <a:endParaRPr lang="nl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Linux File System</a:t>
            </a:r>
            <a:r>
              <a:rPr lang="pl-PL" dirty="0"/>
              <a:t> - directories</a:t>
            </a:r>
            <a:endParaRPr lang="nl-BE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076" y="1831372"/>
            <a:ext cx="585216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hthoek 4"/>
          <p:cNvSpPr/>
          <p:nvPr/>
        </p:nvSpPr>
        <p:spPr>
          <a:xfrm>
            <a:off x="323528" y="5733256"/>
            <a:ext cx="8352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 err="1">
                <a:solidFill>
                  <a:schemeClr val="tx1"/>
                </a:solidFill>
              </a:rPr>
              <a:t>Source</a:t>
            </a:r>
            <a:r>
              <a:rPr lang="nl-BE" sz="1200" dirty="0">
                <a:solidFill>
                  <a:schemeClr val="tx1"/>
                </a:solidFill>
              </a:rPr>
              <a:t>: http://www.linuxplanet.com/linuxplanet/tutorials/6666/1/screenshot3894/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65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4850032" y="4393873"/>
            <a:ext cx="3682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cd </a:t>
            </a:r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/home/sue/Desktop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8" name="Afgeronde rechthoek 7"/>
          <p:cNvSpPr/>
          <p:nvPr/>
        </p:nvSpPr>
        <p:spPr>
          <a:xfrm>
            <a:off x="4057560" y="4149080"/>
            <a:ext cx="730464" cy="360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/>
          <p:cNvCxnSpPr/>
          <p:nvPr/>
        </p:nvCxnSpPr>
        <p:spPr>
          <a:xfrm>
            <a:off x="4497204" y="2266749"/>
            <a:ext cx="434836" cy="44217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3347864" y="4145752"/>
            <a:ext cx="647688" cy="350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met pijl 10"/>
          <p:cNvCxnSpPr/>
          <p:nvPr/>
        </p:nvCxnSpPr>
        <p:spPr>
          <a:xfrm flipH="1">
            <a:off x="3636000" y="3649512"/>
            <a:ext cx="1229628" cy="4995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/>
          <p:cNvCxnSpPr/>
          <p:nvPr/>
        </p:nvCxnSpPr>
        <p:spPr>
          <a:xfrm>
            <a:off x="4865628" y="2916027"/>
            <a:ext cx="0" cy="50913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hoek 14"/>
          <p:cNvSpPr/>
          <p:nvPr/>
        </p:nvSpPr>
        <p:spPr>
          <a:xfrm>
            <a:off x="3779912" y="1537377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FF0000"/>
                </a:solidFill>
                <a:cs typeface="Courier New" pitchFamily="49" charset="0"/>
              </a:rPr>
              <a:t>Full path</a:t>
            </a:r>
            <a:endParaRPr lang="nl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45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Nimbus Sans L"/>
                <a:ea typeface="HG Mincho Light J"/>
                <a:cs typeface="Tahoma" pitchFamily="34" charset="0"/>
              </a:rPr>
              <a:t>File </a:t>
            </a:r>
            <a:r>
              <a:rPr lang="nl-BE" dirty="0" err="1">
                <a:latin typeface="Nimbus Sans L"/>
                <a:ea typeface="HG Mincho Light J"/>
                <a:cs typeface="Tahoma" pitchFamily="34" charset="0"/>
              </a:rPr>
              <a:t>paths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path is a sequence of nested directories with a file or directory at the end, separated by the / character</a:t>
            </a:r>
          </a:p>
          <a:p>
            <a:r>
              <a:rPr lang="en-US" b="1" dirty="0"/>
              <a:t>Relative path</a:t>
            </a:r>
            <a:r>
              <a:rPr lang="en-US" dirty="0"/>
              <a:t>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documents/fun/file1</a:t>
            </a:r>
            <a:br>
              <a:rPr lang="en-US" dirty="0"/>
            </a:br>
            <a:r>
              <a:rPr lang="en-US" dirty="0"/>
              <a:t>Relative to the current directory</a:t>
            </a:r>
            <a:endParaRPr lang="pl-PL" dirty="0"/>
          </a:p>
          <a:p>
            <a:r>
              <a:rPr lang="pl-PL" dirty="0">
                <a:solidFill>
                  <a:srgbClr val="FF0000"/>
                </a:solidFill>
              </a:rPr>
              <a:t>To </a:t>
            </a:r>
            <a:r>
              <a:rPr lang="pl-PL" dirty="0" err="1">
                <a:solidFill>
                  <a:srgbClr val="FF0000"/>
                </a:solidFill>
              </a:rPr>
              <a:t>work</a:t>
            </a:r>
            <a:r>
              <a:rPr lang="pl-PL" dirty="0">
                <a:solidFill>
                  <a:srgbClr val="FF0000"/>
                </a:solidFill>
              </a:rPr>
              <a:t> with </a:t>
            </a:r>
            <a:r>
              <a:rPr lang="pl-PL" dirty="0" err="1">
                <a:solidFill>
                  <a:srgbClr val="FF0000"/>
                </a:solidFill>
              </a:rPr>
              <a:t>relative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paths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they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need</a:t>
            </a:r>
            <a:r>
              <a:rPr lang="pl-PL" dirty="0">
                <a:solidFill>
                  <a:srgbClr val="FF0000"/>
                </a:solidFill>
              </a:rPr>
              <a:t> to </a:t>
            </a:r>
            <a:r>
              <a:rPr lang="pl-PL" dirty="0" err="1">
                <a:solidFill>
                  <a:srgbClr val="FF0000"/>
                </a:solidFill>
              </a:rPr>
              <a:t>have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connection</a:t>
            </a:r>
            <a:r>
              <a:rPr lang="pl-PL" dirty="0">
                <a:solidFill>
                  <a:srgbClr val="FF0000"/>
                </a:solidFill>
              </a:rPr>
              <a:t> on the </a:t>
            </a:r>
            <a:r>
              <a:rPr lang="pl-PL" dirty="0" err="1">
                <a:solidFill>
                  <a:srgbClr val="FF0000"/>
                </a:solidFill>
              </a:rPr>
              <a:t>linux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tree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Absolute path</a:t>
            </a:r>
            <a:r>
              <a:rPr lang="en-US" dirty="0"/>
              <a:t>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/home/user/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leuven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/file2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/>
              <a:t> : root directory.</a:t>
            </a:r>
            <a:br>
              <a:rPr lang="en-US" dirty="0"/>
            </a:br>
            <a:r>
              <a:rPr lang="en-US" dirty="0"/>
              <a:t>Start of absolute paths for all files on the system</a:t>
            </a:r>
            <a:endParaRPr lang="pl-PL" dirty="0"/>
          </a:p>
          <a:p>
            <a:pPr marL="360000" lvl="1" indent="0">
              <a:buNone/>
            </a:pPr>
            <a:r>
              <a:rPr lang="pl-PL" dirty="0">
                <a:solidFill>
                  <a:srgbClr val="FF0000"/>
                </a:solidFill>
              </a:rPr>
              <a:t>Not a </a:t>
            </a:r>
            <a:r>
              <a:rPr lang="pl-PL" dirty="0" err="1">
                <a:solidFill>
                  <a:srgbClr val="FF0000"/>
                </a:solidFill>
              </a:rPr>
              <a:t>superuser’s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home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directory</a:t>
            </a:r>
            <a:r>
              <a:rPr lang="pl-PL" dirty="0">
                <a:solidFill>
                  <a:srgbClr val="FF0000"/>
                </a:solidFill>
              </a:rPr>
              <a:t> (-&gt; /</a:t>
            </a:r>
            <a:r>
              <a:rPr lang="pl-PL" dirty="0" err="1">
                <a:solidFill>
                  <a:srgbClr val="FF0000"/>
                </a:solidFill>
              </a:rPr>
              <a:t>root</a:t>
            </a:r>
            <a:r>
              <a:rPr lang="pl-PL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15399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More 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700" dirty="0">
                <a:latin typeface="+mj-lt"/>
              </a:rPr>
              <a:t>What does a file contain? </a:t>
            </a:r>
          </a:p>
          <a:p>
            <a:pPr lvl="1"/>
            <a:r>
              <a:rPr lang="en-US" sz="1700" dirty="0">
                <a:latin typeface="+mj-lt"/>
              </a:rPr>
              <a:t>Determine a file's type: 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</a:p>
          <a:p>
            <a:pPr lvl="1"/>
            <a:r>
              <a:rPr lang="en-US" sz="1700" dirty="0">
                <a:latin typeface="+mj-lt"/>
              </a:rPr>
              <a:t>will print a brief description of the file's contents</a:t>
            </a:r>
            <a:endParaRPr lang="en-US" sz="1700" dirty="0">
              <a:latin typeface="+mj-lt"/>
              <a:cs typeface="Courier New" pitchFamily="49" charset="0"/>
            </a:endParaRPr>
          </a:p>
          <a:p>
            <a:pPr lvl="1"/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file  filename</a:t>
            </a:r>
          </a:p>
          <a:p>
            <a:r>
              <a:rPr lang="en-US" sz="1700" dirty="0">
                <a:latin typeface="+mj-lt"/>
              </a:rPr>
              <a:t>Search for files and directories </a:t>
            </a:r>
          </a:p>
          <a:p>
            <a:pPr lvl="1"/>
            <a:r>
              <a:rPr lang="en-US" sz="1700" dirty="0">
                <a:latin typeface="+mj-lt"/>
              </a:rPr>
              <a:t>The </a:t>
            </a:r>
            <a:r>
              <a:rPr lang="en-US" sz="1700" b="1" dirty="0">
                <a:latin typeface="+mj-lt"/>
                <a:cs typeface="Courier New" pitchFamily="49" charset="0"/>
              </a:rPr>
              <a:t>find</a:t>
            </a:r>
            <a:r>
              <a:rPr lang="en-US" sz="1700" b="1" dirty="0">
                <a:latin typeface="+mj-lt"/>
              </a:rPr>
              <a:t> </a:t>
            </a:r>
            <a:r>
              <a:rPr lang="en-US" sz="1700" dirty="0">
                <a:latin typeface="+mj-lt"/>
              </a:rPr>
              <a:t>command performs a raw search on a file system to locate the specified items.</a:t>
            </a:r>
            <a:endParaRPr lang="pl-PL" sz="1700" dirty="0">
              <a:latin typeface="+mj-lt"/>
            </a:endParaRPr>
          </a:p>
          <a:p>
            <a:pPr lvl="1"/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l-P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pl-P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some-name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59637" lvl="1" indent="0">
              <a:buNone/>
            </a:pP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($ </a:t>
            </a:r>
            <a:r>
              <a:rPr lang="pl-P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pl-P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/student -</a:t>
            </a:r>
            <a:r>
              <a:rPr lang="pl-P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pl-P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*desktop)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700" dirty="0">
                <a:latin typeface="+mj-lt"/>
              </a:rPr>
              <a:t>Be careful: results can sometimes be slow 	</a:t>
            </a:r>
          </a:p>
          <a:p>
            <a:r>
              <a:rPr lang="en-US" sz="1700" dirty="0">
                <a:latin typeface="+mj-lt"/>
              </a:rPr>
              <a:t>Search the locate database for files and directories </a:t>
            </a:r>
          </a:p>
          <a:p>
            <a:pPr lvl="1"/>
            <a:r>
              <a:rPr lang="en-US" sz="1700" dirty="0">
                <a:latin typeface="+mj-lt"/>
              </a:rPr>
              <a:t>The 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locate</a:t>
            </a:r>
            <a:r>
              <a:rPr lang="en-US" sz="1700" b="1" dirty="0">
                <a:latin typeface="+mj-lt"/>
              </a:rPr>
              <a:t> </a:t>
            </a:r>
            <a:r>
              <a:rPr lang="en-US" sz="1700" dirty="0">
                <a:latin typeface="+mj-lt"/>
              </a:rPr>
              <a:t>command displays the location of files that match the specified name. </a:t>
            </a:r>
          </a:p>
          <a:p>
            <a:pPr lvl="1"/>
            <a:r>
              <a:rPr lang="en-US" sz="1700" dirty="0">
                <a:latin typeface="+mj-lt"/>
              </a:rPr>
              <a:t>Faster than find because it searches a database of indexed filenames.</a:t>
            </a:r>
          </a:p>
          <a:p>
            <a:pPr lvl="1"/>
            <a:r>
              <a:rPr lang="en-US" sz="1700" dirty="0">
                <a:latin typeface="+mj-lt"/>
              </a:rPr>
              <a:t>Disadvantage: lacks the ability to search for advanced characteristics such as file owner, size, and modification time. </a:t>
            </a:r>
            <a:endParaRPr lang="nl-BE" sz="17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85754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More 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extended information about a file system, file, or directory 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stat</a:t>
            </a:r>
            <a:r>
              <a:rPr lang="en-US" b="1" dirty="0"/>
              <a:t> </a:t>
            </a:r>
            <a:r>
              <a:rPr lang="en-US" dirty="0"/>
              <a:t>command displays extended information about files. It includes helpful information not available when using the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b="1" dirty="0"/>
              <a:t> </a:t>
            </a:r>
            <a:r>
              <a:rPr lang="en-US" dirty="0"/>
              <a:t>command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24597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File names</a:t>
            </a:r>
            <a:endParaRPr lang="nl-BE" dirty="0"/>
          </a:p>
        </p:txBody>
      </p:sp>
      <p:sp>
        <p:nvSpPr>
          <p:cNvPr id="3" name="Tijdelijke aanduiding voor tekst 2"/>
          <p:cNvSpPr txBox="1">
            <a:spLocks noGrp="1"/>
          </p:cNvSpPr>
          <p:nvPr>
            <p:ph idx="1"/>
          </p:nvPr>
        </p:nvSpPr>
        <p:spPr>
          <a:xfrm>
            <a:off x="540000" y="1349999"/>
            <a:ext cx="8496496" cy="4428000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 marL="108000" indent="0">
              <a:buNone/>
            </a:pPr>
            <a:r>
              <a:rPr lang="en-US" dirty="0">
                <a:latin typeface="+mn-lt"/>
              </a:rPr>
              <a:t>File name features: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Case sensitive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No obvious length limit (255 characters)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Can contain any character (including whitespace, except /).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File name extensions not needed and not interpreted. Just used for user convenience. (File types stored in the file)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/>
              <a:t>a hidden file is any file that begins with a “.” (not seen with the bare </a:t>
            </a:r>
            <a:r>
              <a:rPr lang="en-US" i="1" dirty="0"/>
              <a:t>ls</a:t>
            </a:r>
            <a:r>
              <a:rPr lang="en-US" dirty="0"/>
              <a:t>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69</a:t>
            </a:fld>
            <a:endParaRPr lang="nl-NL"/>
          </a:p>
        </p:txBody>
      </p:sp>
      <p:pic>
        <p:nvPicPr>
          <p:cNvPr id="4" name="Graphic 3" descr="Key with solid fill">
            <a:extLst>
              <a:ext uri="{FF2B5EF4-FFF2-40B4-BE49-F238E27FC236}">
                <a16:creationId xmlns:a16="http://schemas.microsoft.com/office/drawing/2014/main" id="{B81A791C-C7CC-D4E1-D9EB-E3170CF11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4438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8377-4639-77FC-63E4-36DEA6A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>
            <a:extLst>
              <a:ext uri="{FF2B5EF4-FFF2-40B4-BE49-F238E27FC236}">
                <a16:creationId xmlns:a16="http://schemas.microsoft.com/office/drawing/2014/main" id="{9FC07ECD-47DF-C604-139C-95744461DF5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File </a:t>
            </a:r>
            <a:r>
              <a:rPr lang="nl-BE" dirty="0" err="1"/>
              <a:t>names</a:t>
            </a:r>
            <a:r>
              <a:rPr lang="nl-BE" dirty="0"/>
              <a:t> – Best </a:t>
            </a:r>
            <a:r>
              <a:rPr lang="nl-BE" dirty="0" err="1"/>
              <a:t>Practices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F21C6A7-F576-05A3-452F-FD4AE687A6C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Be concise, you don’t want to type long file names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Try to stick to alphanumeric characters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[0-9A-z]</a:t>
            </a:r>
            <a:r>
              <a:rPr lang="en-US" dirty="0">
                <a:latin typeface="+mn-lt"/>
              </a:rPr>
              <a:t>.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Avoid spaces in file names,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“_”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“-”</a:t>
            </a:r>
            <a:r>
              <a:rPr lang="en-US" dirty="0">
                <a:latin typeface="+mn-lt"/>
              </a:rPr>
              <a:t> instead</a:t>
            </a:r>
          </a:p>
          <a:p>
            <a:pPr marL="108000" indent="0">
              <a:spcAft>
                <a:spcPts val="0"/>
              </a:spcAft>
              <a:buSzPct val="100000"/>
              <a:buNone/>
            </a:pPr>
            <a:endParaRPr lang="en-US" dirty="0">
              <a:latin typeface="+mn-lt"/>
            </a:endParaRPr>
          </a:p>
          <a:p>
            <a:pPr marL="108000" indent="0">
              <a:spcAft>
                <a:spcPts val="0"/>
              </a:spcAft>
              <a:buSzPct val="100000"/>
              <a:buNone/>
            </a:pPr>
            <a:r>
              <a:rPr lang="en-US" dirty="0">
                <a:latin typeface="+mn-lt"/>
              </a:rPr>
              <a:t>Good file names</a:t>
            </a:r>
          </a:p>
          <a:p>
            <a:pPr marL="108000" indent="0">
              <a:spcAft>
                <a:spcPts val="0"/>
              </a:spcAft>
              <a:buSzPct val="100000"/>
              <a:buNone/>
            </a:pPr>
            <a:endParaRPr lang="en-US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A4BD7B-59E3-7A69-814B-8C5C7C1D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70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57888-C92B-978B-D0B5-6D839820F1A2}"/>
              </a:ext>
            </a:extLst>
          </p:cNvPr>
          <p:cNvSpPr txBox="1"/>
          <p:nvPr/>
        </p:nvSpPr>
        <p:spPr>
          <a:xfrm>
            <a:off x="660400" y="3391760"/>
            <a:ext cx="10104288" cy="230832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spcAft>
                <a:spcPts val="0"/>
              </a:spcAft>
              <a:buSzPct val="100000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bashrc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buSzPct val="100000"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buSzPct val="100000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project_report_2025.pdf</a:t>
            </a:r>
          </a:p>
          <a:p>
            <a:pPr>
              <a:spcAft>
                <a:spcPts val="0"/>
              </a:spcAft>
              <a:buSzPct val="100000"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buSzPct val="100000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backup_2025-01-01.tar.gz</a:t>
            </a:r>
          </a:p>
          <a:p>
            <a:pPr>
              <a:spcAft>
                <a:spcPts val="0"/>
              </a:spcAft>
              <a:buSzPct val="100000"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buSzPct val="100000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</a:p>
          <a:p>
            <a:pPr>
              <a:spcAft>
                <a:spcPts val="0"/>
              </a:spcAft>
              <a:buSzPct val="100000"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buSzPct val="100000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image_001.png</a:t>
            </a:r>
          </a:p>
          <a:p>
            <a:pPr>
              <a:spcAft>
                <a:spcPts val="0"/>
              </a:spcAft>
              <a:buSzPct val="100000"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buSzPct val="100000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user_data.csv</a:t>
            </a:r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DCD5316B-DE1B-8FB1-793C-0ED31BF25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00018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B2C5-E2D1-E130-F4A2-6F6EE372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>
            <a:extLst>
              <a:ext uri="{FF2B5EF4-FFF2-40B4-BE49-F238E27FC236}">
                <a16:creationId xmlns:a16="http://schemas.microsoft.com/office/drawing/2014/main" id="{2313F6DA-8202-C6BC-1535-09213AC8612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File </a:t>
            </a:r>
            <a:r>
              <a:rPr lang="nl-BE" dirty="0" err="1"/>
              <a:t>names</a:t>
            </a:r>
            <a:r>
              <a:rPr lang="nl-BE" dirty="0"/>
              <a:t> – Best </a:t>
            </a:r>
            <a:r>
              <a:rPr lang="nl-BE" dirty="0" err="1"/>
              <a:t>Practices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FF28708-76B6-65B1-9B8D-70CB0F972DC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40000" y="1349999"/>
            <a:ext cx="8496496" cy="4428000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Be concise, you don’t want to type long file names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Try to stick to alphanumeric characters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[0-9A-z]</a:t>
            </a:r>
            <a:r>
              <a:rPr lang="en-US" dirty="0">
                <a:latin typeface="+mn-lt"/>
              </a:rPr>
              <a:t>.</a:t>
            </a:r>
          </a:p>
          <a:p>
            <a:pPr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latin typeface="+mn-lt"/>
              </a:rPr>
              <a:t>Avoid spaces in file names,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“_”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“-”</a:t>
            </a:r>
            <a:r>
              <a:rPr lang="en-US" dirty="0">
                <a:latin typeface="+mn-lt"/>
              </a:rPr>
              <a:t> instead</a:t>
            </a:r>
          </a:p>
          <a:p>
            <a:pPr marL="108000" indent="0">
              <a:spcAft>
                <a:spcPts val="0"/>
              </a:spcAft>
              <a:buSzPct val="100000"/>
              <a:buNone/>
            </a:pPr>
            <a:endParaRPr lang="en-US" dirty="0">
              <a:latin typeface="+mn-lt"/>
            </a:endParaRPr>
          </a:p>
          <a:p>
            <a:pPr marL="108000" indent="0">
              <a:spcAft>
                <a:spcPts val="0"/>
              </a:spcAft>
              <a:buSzPct val="100000"/>
              <a:buNone/>
            </a:pPr>
            <a:r>
              <a:rPr lang="en-US" dirty="0">
                <a:latin typeface="+mn-lt"/>
              </a:rPr>
              <a:t>Bad file names</a:t>
            </a:r>
          </a:p>
          <a:p>
            <a:pPr marL="108000" indent="0">
              <a:spcAft>
                <a:spcPts val="0"/>
              </a:spcAft>
              <a:buSzPct val="100000"/>
              <a:buNone/>
            </a:pPr>
            <a:endParaRPr lang="en-US" dirty="0">
              <a:latin typeface="+mn-lt"/>
            </a:endParaRPr>
          </a:p>
          <a:p>
            <a:pPr marL="108000" indent="0">
              <a:spcAft>
                <a:spcPts val="0"/>
              </a:spcAft>
              <a:buSzPct val="10000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04282F-6075-EB0B-3E82-15D99FAE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71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406F9-C9CF-4112-3F37-43E1C5AEA015}"/>
              </a:ext>
            </a:extLst>
          </p:cNvPr>
          <p:cNvSpPr txBox="1"/>
          <p:nvPr/>
        </p:nvSpPr>
        <p:spPr>
          <a:xfrm>
            <a:off x="660400" y="3391760"/>
            <a:ext cx="8213600" cy="15696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08000" indent="0">
              <a:spcAft>
                <a:spcPts val="0"/>
              </a:spcAft>
              <a:buSzPct val="10000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Why spaces in file names are the worst.pdf</a:t>
            </a:r>
          </a:p>
          <a:p>
            <a:pPr marL="108000" indent="0">
              <a:spcAft>
                <a:spcPts val="0"/>
              </a:spcAft>
              <a:buSzPct val="100000"/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00" indent="0">
              <a:spcAft>
                <a:spcPts val="0"/>
              </a:spcAft>
              <a:buSzPct val="10000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Tabs\tAndOtherStr@ngeCharacters.txt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932066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 noGrp="1"/>
          </p:cNvSpPr>
          <p:nvPr>
            <p:ph type="title"/>
          </p:nvPr>
        </p:nvSpPr>
        <p:spPr>
          <a:xfrm>
            <a:off x="719138" y="262751"/>
            <a:ext cx="7920000" cy="553998"/>
          </a:xfrm>
        </p:spPr>
        <p:txBody>
          <a:bodyPr tIns="0" bIns="0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0">
              <a:buNone/>
            </a:pPr>
            <a:r>
              <a:rPr lang="en-US" kern="1200" dirty="0">
                <a:cs typeface="Arial" pitchFamily="34" charset="0"/>
              </a:rPr>
              <a:t>Measuring disk usage</a:t>
            </a:r>
          </a:p>
        </p:txBody>
      </p:sp>
      <p:sp>
        <p:nvSpPr>
          <p:cNvPr id="3" name="Tijdelijke aanduiding voor inhoud 2"/>
          <p:cNvSpPr txBox="1">
            <a:spLocks noGrp="1"/>
          </p:cNvSpPr>
          <p:nvPr>
            <p:ph idx="1"/>
          </p:nvPr>
        </p:nvSpPr>
        <p:spPr>
          <a:xfrm>
            <a:off x="719138" y="1440000"/>
            <a:ext cx="7920000" cy="4180632"/>
          </a:xfrm>
        </p:spPr>
        <p:txBody>
          <a:bodyPr>
            <a:sp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US" sz="32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US" sz="32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US" sz="28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US" sz="24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9pPr>
          </a:lstStyle>
          <a:p>
            <a:pPr marL="354013" indent="-354013"/>
            <a:r>
              <a:rPr lang="en-US" sz="26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du -h &lt;file&gt; </a:t>
            </a:r>
            <a:br>
              <a:rPr lang="en-US" sz="2600" b="1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-h: returns size on disk of the given file, in </a:t>
            </a:r>
            <a:r>
              <a:rPr lang="en-US" sz="2600" u="sng" dirty="0">
                <a:latin typeface="Arial" pitchFamily="34" charset="0"/>
                <a:cs typeface="Arial" pitchFamily="34" charset="0"/>
              </a:rPr>
              <a:t>h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uman readable format: K (kilobytes), M (megabytes) or G (gigabytes), 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Without -h, du returns the raw number of disk blocks used by the file (hard to read).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Note that the -h option only exists in GNU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du.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marL="354013" lvl="0" indent="-354013"/>
            <a:r>
              <a:rPr lang="en-US" sz="26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du -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sh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 &lt;dir&gt;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-s: returns the </a:t>
            </a:r>
            <a:r>
              <a:rPr lang="en-US" sz="2600" u="sng" dirty="0">
                <a:latin typeface="Arial" pitchFamily="34" charset="0"/>
                <a:cs typeface="Arial" pitchFamily="34" charset="0"/>
              </a:rPr>
              <a:t>s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um of disk usage of all the files in the given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6006492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D90F7-EC4C-92C2-1F29-CC56BD72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1F452F4-9BD3-998B-7099-F9646C3D7BD4}"/>
              </a:ext>
            </a:extLst>
          </p:cNvPr>
          <p:cNvGrpSpPr/>
          <p:nvPr/>
        </p:nvGrpSpPr>
        <p:grpSpPr>
          <a:xfrm>
            <a:off x="6732240" y="150042"/>
            <a:ext cx="2016224" cy="1772505"/>
            <a:chOff x="6732240" y="150042"/>
            <a:chExt cx="2016224" cy="1772505"/>
          </a:xfrm>
        </p:grpSpPr>
        <p:pic>
          <p:nvPicPr>
            <p:cNvPr id="2052" name="Picture 4" descr="Duck On White Background Free Stock Photo - Public Domain Pictures">
              <a:extLst>
                <a:ext uri="{FF2B5EF4-FFF2-40B4-BE49-F238E27FC236}">
                  <a16:creationId xmlns:a16="http://schemas.microsoft.com/office/drawing/2014/main" id="{A9A2EE58-38BD-F54E-4401-5B63578FA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336" y="150042"/>
              <a:ext cx="1152128" cy="1772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White Duck Close Up Free Stock Photo - Public Domain Pictures">
              <a:extLst>
                <a:ext uri="{FF2B5EF4-FFF2-40B4-BE49-F238E27FC236}">
                  <a16:creationId xmlns:a16="http://schemas.microsoft.com/office/drawing/2014/main" id="{0A136ED1-FBEF-597D-F8CE-072852DC22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2" r="8767"/>
            <a:stretch>
              <a:fillRect/>
            </a:stretch>
          </p:blipFill>
          <p:spPr bwMode="auto">
            <a:xfrm>
              <a:off x="6732240" y="190481"/>
              <a:ext cx="1080120" cy="169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69906D7-ED97-F0FD-BDCB-BEC8B4108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138" y="262751"/>
            <a:ext cx="7920000" cy="553998"/>
          </a:xfrm>
        </p:spPr>
        <p:txBody>
          <a:bodyPr tIns="0" bIns="0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0">
              <a:buNone/>
            </a:pPr>
            <a:r>
              <a:rPr lang="en-US" kern="1200" dirty="0">
                <a:cs typeface="Arial" pitchFamily="34" charset="0"/>
              </a:rPr>
              <a:t>Measuring disk usage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47E6CF-D0D8-8927-07D6-B3EF9940C29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19138" y="1440000"/>
            <a:ext cx="7920000" cy="1600438"/>
          </a:xfrm>
        </p:spPr>
        <p:txBody>
          <a:bodyPr>
            <a:sp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US" sz="32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US" sz="32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US" sz="28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US" sz="24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9pPr>
          </a:lstStyle>
          <a:p>
            <a:pPr marL="354013" lvl="0" indent="-354013"/>
            <a:r>
              <a:rPr lang="en-US" sz="26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du –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cks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 -h &lt;dir&gt;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Returns the total disk usage of the directory and shows a total at the end. 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BD18F-FC73-F0F1-384D-8352B965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73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A9DED3-453F-E9AD-5200-D3686DCCA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39" y="3016422"/>
            <a:ext cx="6517158" cy="2638991"/>
          </a:xfrm>
          <a:prstGeom prst="rect">
            <a:avLst/>
          </a:prstGeom>
        </p:spPr>
      </p:pic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98D3854B-D709-4CC6-4152-C979620E22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42840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 noGrp="1"/>
          </p:cNvSpPr>
          <p:nvPr>
            <p:ph type="title"/>
          </p:nvPr>
        </p:nvSpPr>
        <p:spPr>
          <a:xfrm>
            <a:off x="719138" y="262751"/>
            <a:ext cx="7920000" cy="553998"/>
          </a:xfrm>
        </p:spPr>
        <p:txBody>
          <a:bodyPr tIns="0" bIns="0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0">
              <a:buNone/>
            </a:pPr>
            <a:r>
              <a:rPr lang="en-US" kern="1200" dirty="0">
                <a:cs typeface="Arial" pitchFamily="34" charset="0"/>
              </a:rPr>
              <a:t>Measuring disk space</a:t>
            </a:r>
          </a:p>
        </p:txBody>
      </p:sp>
      <p:sp>
        <p:nvSpPr>
          <p:cNvPr id="3" name="Tijdelijke aanduiding voor inhoud 2"/>
          <p:cNvSpPr txBox="1">
            <a:spLocks noGrp="1"/>
          </p:cNvSpPr>
          <p:nvPr>
            <p:ph idx="1"/>
          </p:nvPr>
        </p:nvSpPr>
        <p:spPr>
          <a:xfrm>
            <a:off x="719138" y="1440000"/>
            <a:ext cx="7920000" cy="4883388"/>
          </a:xfrm>
        </p:spPr>
        <p:txBody>
          <a:bodyPr>
            <a:sp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US" sz="32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US" sz="32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US" sz="28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US" sz="24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latin typeface="Liberation Sans" pitchFamily="18"/>
                <a:ea typeface="DejaVu Sans" pitchFamily="2"/>
                <a:cs typeface="DejaVu Sans" pitchFamily="2"/>
              </a:defRPr>
            </a:lvl9pPr>
          </a:lstStyle>
          <a:p>
            <a:pPr marL="354013" lvl="0" indent="-354013"/>
            <a:r>
              <a:rPr lang="en-US" sz="26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 -h &lt;dir&gt;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Returns disk usage and free space for the file system containing the given directory.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Similarly, the -h option only exists in GNU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df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54013" lvl="0" indent="-354013"/>
            <a:r>
              <a:rPr lang="en-US" sz="2600" dirty="0">
                <a:latin typeface="Arial" pitchFamily="34" charset="0"/>
                <a:cs typeface="Arial" pitchFamily="34" charset="0"/>
              </a:rPr>
              <a:t>Example:</a:t>
            </a:r>
            <a:br>
              <a:rPr lang="en-US" sz="2800" dirty="0"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-h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latin typeface="Arial" pitchFamily="34" charset="0"/>
                <a:cs typeface="Arial" pitchFamily="34" charset="0"/>
              </a:rPr>
              <a:t>File system           Size  Used Avail Use% Mounted on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latin typeface="Arial" pitchFamily="34" charset="0"/>
                <a:cs typeface="Arial" pitchFamily="34" charset="0"/>
              </a:rPr>
              <a:t>/dev/hda5             9.2G  7.1G  1.8G  81% /</a:t>
            </a:r>
          </a:p>
          <a:p>
            <a:pPr marL="354013" lvl="0" indent="-354013"/>
            <a:r>
              <a:rPr lang="en-US" sz="26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 -h</a:t>
            </a:r>
            <a:br>
              <a:rPr lang="en-US" sz="2600" dirty="0">
                <a:latin typeface="Arial" pitchFamily="34" charset="0"/>
                <a:cs typeface="Arial" pitchFamily="34" charset="0"/>
              </a:rPr>
            </a:br>
            <a:r>
              <a:rPr lang="en-US" sz="2600" dirty="0">
                <a:latin typeface="Arial" pitchFamily="34" charset="0"/>
                <a:cs typeface="Arial" pitchFamily="34" charset="0"/>
              </a:rPr>
              <a:t>Returns disk space information for all file systems available in the system. When errors happen, useful to look for full file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7086026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Hands-on 2</a:t>
            </a:r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75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35844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File </a:t>
            </a:r>
            <a:r>
              <a:rPr lang="nl-BE" dirty="0" err="1"/>
              <a:t>manipulation</a:t>
            </a:r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76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69115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File </a:t>
            </a:r>
            <a:r>
              <a:rPr lang="pl-PL" dirty="0" err="1"/>
              <a:t>Manipulation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For all file manipulation commands relative o</a:t>
            </a:r>
            <a:r>
              <a:rPr lang="en-US" dirty="0"/>
              <a:t>r</a:t>
            </a:r>
            <a:r>
              <a:rPr lang="pl-PL" dirty="0"/>
              <a:t> absolute paths can be used (or just files in the current directory when no extra path specified)</a:t>
            </a:r>
          </a:p>
          <a:p>
            <a:endParaRPr lang="pl-PL" dirty="0"/>
          </a:p>
          <a:p>
            <a:r>
              <a:rPr lang="pl-PL" dirty="0"/>
              <a:t>Most of the </a:t>
            </a:r>
            <a:r>
              <a:rPr lang="pl-PL" dirty="0" err="1"/>
              <a:t>command</a:t>
            </a:r>
            <a:r>
              <a:rPr lang="en-US" dirty="0"/>
              <a:t>s</a:t>
            </a:r>
            <a:r>
              <a:rPr lang="pl-PL" dirty="0"/>
              <a:t> are intuitive – shortcuts of English names</a:t>
            </a:r>
            <a:endParaRPr lang="nl-BE" b="1" dirty="0"/>
          </a:p>
          <a:p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6600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Directories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Create</a:t>
            </a:r>
            <a:r>
              <a:rPr lang="nl-BE" dirty="0"/>
              <a:t> directories</a:t>
            </a:r>
          </a:p>
          <a:p>
            <a:pPr lvl="1"/>
            <a:r>
              <a:rPr lang="en-US" dirty="0"/>
              <a:t>The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dirty="0"/>
              <a:t> command is used to create directories</a:t>
            </a:r>
          </a:p>
          <a:p>
            <a:pPr lvl="1"/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mkdir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dir1 dir2 dir3</a:t>
            </a:r>
          </a:p>
          <a:p>
            <a:r>
              <a:rPr lang="nl-BE" dirty="0" err="1"/>
              <a:t>Create</a:t>
            </a:r>
            <a:r>
              <a:rPr lang="nl-BE" dirty="0"/>
              <a:t> a full </a:t>
            </a:r>
            <a:r>
              <a:rPr lang="nl-BE" dirty="0" err="1"/>
              <a:t>path</a:t>
            </a:r>
            <a:r>
              <a:rPr lang="nl-BE" dirty="0"/>
              <a:t> (-p)</a:t>
            </a:r>
          </a:p>
          <a:p>
            <a:pPr lvl="1"/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mkdir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–p dir1/subdir1/subdir2</a:t>
            </a:r>
            <a:endParaRPr lang="nl-BE" dirty="0"/>
          </a:p>
          <a:p>
            <a:r>
              <a:rPr lang="nl-BE" dirty="0" err="1"/>
              <a:t>Remove</a:t>
            </a:r>
            <a:r>
              <a:rPr lang="nl-BE" dirty="0"/>
              <a:t> directories</a:t>
            </a:r>
          </a:p>
          <a:p>
            <a:pPr lvl="1"/>
            <a:r>
              <a:rPr lang="en-US" dirty="0"/>
              <a:t>The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rmdir</a:t>
            </a:r>
            <a:r>
              <a:rPr lang="en-US" b="1" dirty="0"/>
              <a:t> </a:t>
            </a:r>
            <a:r>
              <a:rPr lang="en-US" dirty="0"/>
              <a:t>command removes directories </a:t>
            </a:r>
          </a:p>
          <a:p>
            <a:pPr lvl="1"/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rmdir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dir1</a:t>
            </a:r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rmdir</a:t>
            </a:r>
            <a:r>
              <a:rPr lang="en-US" b="1" dirty="0"/>
              <a:t> </a:t>
            </a:r>
            <a:r>
              <a:rPr lang="en-US" dirty="0"/>
              <a:t>will only remove empty directories. </a:t>
            </a:r>
            <a:br>
              <a:rPr lang="en-US" dirty="0"/>
            </a:br>
            <a:r>
              <a:rPr lang="en-US" dirty="0"/>
              <a:t>To remove a non-empty directory, use </a:t>
            </a:r>
            <a:endParaRPr lang="pl-PL" dirty="0"/>
          </a:p>
          <a:p>
            <a:pPr marL="359637" lvl="1" indent="0">
              <a:buNone/>
            </a:pPr>
            <a:r>
              <a:rPr lang="pl-PL" dirty="0">
                <a:latin typeface="Courier New" pitchFamily="49" charset="0"/>
                <a:cs typeface="Courier New" pitchFamily="49" charset="0"/>
              </a:rPr>
              <a:t>  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-r [DIRECTORY] </a:t>
            </a:r>
            <a:r>
              <a:rPr lang="en-US" dirty="0"/>
              <a:t>instead. 	</a:t>
            </a:r>
          </a:p>
          <a:p>
            <a:endParaRPr lang="nl-BE" b="1" dirty="0"/>
          </a:p>
          <a:p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78</a:t>
            </a:fld>
            <a:endParaRPr lang="nl-NL"/>
          </a:p>
        </p:txBody>
      </p:sp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3BFDB46E-2198-9AD1-57E5-E787AE80C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832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Copy a file</a:t>
            </a:r>
          </a:p>
        </p:txBody>
      </p:sp>
      <p:sp>
        <p:nvSpPr>
          <p:cNvPr id="26627" name="Tijdelijke aanduiding voor tekst 2"/>
          <p:cNvSpPr txBox="1">
            <a:spLocks noGrp="1"/>
          </p:cNvSpPr>
          <p:nvPr>
            <p:ph idx="1"/>
          </p:nvPr>
        </p:nvSpPr>
        <p:spPr>
          <a:xfrm>
            <a:off x="540000" y="1268760"/>
            <a:ext cx="8334000" cy="44280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000" dirty="0">
                <a:latin typeface="+mj-lt"/>
              </a:rPr>
              <a:t>The </a:t>
            </a:r>
            <a:r>
              <a:rPr lang="en-US" sz="2000" dirty="0" err="1">
                <a:latin typeface="Courier"/>
                <a:cs typeface="Courier New" pitchFamily="49" charset="0"/>
              </a:rPr>
              <a:t>cp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command copies files and directories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+mj-lt"/>
              </a:rPr>
              <a:t>The default behavior will overwrite any existing file(s). The </a:t>
            </a:r>
            <a:r>
              <a:rPr lang="en-US" sz="2000" b="1" dirty="0">
                <a:latin typeface="+mj-lt"/>
              </a:rPr>
              <a:t>-i </a:t>
            </a:r>
            <a:r>
              <a:rPr lang="en-US" sz="2000" dirty="0">
                <a:latin typeface="+mj-lt"/>
              </a:rPr>
              <a:t>option overrides this behavior and prompts the user before overwriting the destination file. </a:t>
            </a:r>
            <a:endParaRPr lang="fr-FR" sz="2000" b="1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fr-FR" sz="2000" b="1" dirty="0" err="1">
                <a:latin typeface="+mj-lt"/>
              </a:rPr>
              <a:t>syntax</a:t>
            </a:r>
            <a:r>
              <a:rPr lang="fr-FR" sz="2000" b="1" dirty="0">
                <a:latin typeface="+mj-lt"/>
              </a:rPr>
              <a:t>: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[OPTIONS] [SOURCE] [DESTINATION]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Char char="−"/>
            </a:pPr>
            <a:r>
              <a:rPr lang="en-US" sz="2000" dirty="0">
                <a:latin typeface="Courier" pitchFamily="49" charset="0"/>
                <a:cs typeface="Courier New" pitchFamily="49" charset="0"/>
              </a:rPr>
              <a:t>$</a:t>
            </a:r>
            <a:r>
              <a:rPr lang="pl-PL" sz="2000" dirty="0">
                <a:latin typeface="Courier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cp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 &lt;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source_file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&gt; &lt;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target_file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&gt;</a:t>
            </a:r>
            <a:br>
              <a:rPr lang="en-US" sz="2000" dirty="0">
                <a:latin typeface="Courier" pitchFamily="49" charset="0"/>
                <a:cs typeface="Courier New" pitchFamily="49" charset="0"/>
              </a:rPr>
            </a:br>
            <a:r>
              <a:rPr lang="en-US" sz="2000" dirty="0">
                <a:latin typeface="+mj-lt"/>
              </a:rPr>
              <a:t>Copies the source file to the target.</a:t>
            </a:r>
          </a:p>
          <a:p>
            <a:pPr lvl="1">
              <a:buFontTx/>
              <a:buChar char="−"/>
            </a:pPr>
            <a:r>
              <a:rPr lang="en-US" sz="2000" dirty="0">
                <a:latin typeface="Courier" pitchFamily="49" charset="0"/>
                <a:cs typeface="Courier New" pitchFamily="49" charset="0"/>
              </a:rPr>
              <a:t>$</a:t>
            </a:r>
            <a:r>
              <a:rPr lang="pl-PL" sz="2000" dirty="0">
                <a:latin typeface="Courier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cp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 file1 file2 file3 ... 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dir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Copies the files to the target directory (last argument).</a:t>
            </a:r>
          </a:p>
          <a:p>
            <a:pPr lvl="1">
              <a:buFontTx/>
              <a:buChar char="−"/>
            </a:pPr>
            <a:r>
              <a:rPr lang="en-US" sz="2000" dirty="0">
                <a:latin typeface="Courier" pitchFamily="49" charset="0"/>
                <a:cs typeface="Courier New" pitchFamily="49" charset="0"/>
              </a:rPr>
              <a:t>$</a:t>
            </a:r>
            <a:r>
              <a:rPr lang="pl-PL" sz="2000" dirty="0">
                <a:latin typeface="Courier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cp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 -i </a:t>
            </a:r>
            <a:r>
              <a:rPr lang="en-US" sz="2000" dirty="0">
                <a:latin typeface="+mj-lt"/>
                <a:cs typeface="Courier New" pitchFamily="49" charset="0"/>
              </a:rPr>
              <a:t>(interactive)</a:t>
            </a:r>
            <a:br>
              <a:rPr lang="en-US" sz="2000" b="1" dirty="0">
                <a:latin typeface="+mj-lt"/>
              </a:rPr>
            </a:br>
            <a:r>
              <a:rPr lang="en-US" sz="2000" dirty="0">
                <a:latin typeface="+mj-lt"/>
              </a:rPr>
              <a:t>Asks for user confirmation if the target file already exists</a:t>
            </a:r>
          </a:p>
          <a:p>
            <a:pPr lvl="1">
              <a:buFontTx/>
              <a:buChar char="−"/>
            </a:pPr>
            <a:r>
              <a:rPr lang="en-US" sz="2000" dirty="0">
                <a:latin typeface="Courier" pitchFamily="49" charset="0"/>
                <a:cs typeface="Courier New" pitchFamily="49" charset="0"/>
              </a:rPr>
              <a:t>$</a:t>
            </a:r>
            <a:r>
              <a:rPr lang="pl-PL" sz="2000" dirty="0">
                <a:latin typeface="Courier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cp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 -r &lt;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source_dir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&gt; &lt;</a:t>
            </a:r>
            <a:r>
              <a:rPr lang="en-US" sz="2000" dirty="0" err="1">
                <a:latin typeface="Courier" pitchFamily="49" charset="0"/>
                <a:cs typeface="Courier New" pitchFamily="49" charset="0"/>
              </a:rPr>
              <a:t>target_dir</a:t>
            </a:r>
            <a:r>
              <a:rPr lang="en-US" sz="2000" dirty="0">
                <a:latin typeface="Courier" pitchFamily="49" charset="0"/>
                <a:cs typeface="Courier New" pitchFamily="49" charset="0"/>
              </a:rPr>
              <a:t>&gt; </a:t>
            </a:r>
            <a:r>
              <a:rPr lang="en-US" sz="2000" dirty="0">
                <a:latin typeface="+mj-lt"/>
              </a:rPr>
              <a:t>(recursive)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Copies the whole directory.</a:t>
            </a:r>
            <a:endParaRPr lang="pl-PL" sz="2000" dirty="0">
              <a:latin typeface="+mj-lt"/>
            </a:endParaRPr>
          </a:p>
          <a:p>
            <a:pPr lvl="1">
              <a:buFontTx/>
              <a:buChar char="−"/>
            </a:pP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l-P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–v </a:t>
            </a:r>
            <a:r>
              <a:rPr lang="pl-PL" sz="2000" dirty="0">
                <a:latin typeface="+mn-lt"/>
                <a:cs typeface="Courier New" panose="02070309020205020404" pitchFamily="49" charset="0"/>
              </a:rPr>
              <a:t>(</a:t>
            </a:r>
            <a:r>
              <a:rPr lang="pl-PL" sz="2000" dirty="0" err="1">
                <a:latin typeface="+mn-lt"/>
                <a:cs typeface="Courier New" panose="02070309020205020404" pitchFamily="49" charset="0"/>
              </a:rPr>
              <a:t>verbose</a:t>
            </a:r>
            <a:r>
              <a:rPr lang="pl-PL" sz="2000" dirty="0">
                <a:latin typeface="+mn-lt"/>
                <a:cs typeface="Courier New" panose="02070309020205020404" pitchFamily="49" charset="0"/>
              </a:rPr>
              <a:t>)</a:t>
            </a:r>
          </a:p>
          <a:p>
            <a:pPr marL="629637" lvl="2" indent="0">
              <a:spcBef>
                <a:spcPts val="0"/>
              </a:spcBef>
              <a:buNone/>
            </a:pPr>
            <a:r>
              <a:rPr lang="pl-PL" dirty="0">
                <a:latin typeface="+mn-lt"/>
                <a:cs typeface="Courier New" panose="02070309020205020404" pitchFamily="49" charset="0"/>
              </a:rPr>
              <a:t>  Displays </a:t>
            </a:r>
            <a:r>
              <a:rPr lang="pl-PL" dirty="0" err="1">
                <a:latin typeface="+mn-lt"/>
                <a:cs typeface="Courier New" panose="02070309020205020404" pitchFamily="49" charset="0"/>
              </a:rPr>
              <a:t>what</a:t>
            </a:r>
            <a:r>
              <a:rPr lang="pl-PL" dirty="0">
                <a:latin typeface="+mn-lt"/>
                <a:cs typeface="Courier New" panose="02070309020205020404" pitchFamily="49" charset="0"/>
              </a:rPr>
              <a:t> </a:t>
            </a:r>
            <a:r>
              <a:rPr lang="pl-PL" dirty="0" err="1">
                <a:latin typeface="+mn-lt"/>
                <a:cs typeface="Courier New" panose="02070309020205020404" pitchFamily="49" charset="0"/>
              </a:rPr>
              <a:t>has</a:t>
            </a:r>
            <a:r>
              <a:rPr lang="pl-PL" dirty="0">
                <a:latin typeface="+mn-lt"/>
                <a:cs typeface="Courier New" panose="02070309020205020404" pitchFamily="49" charset="0"/>
              </a:rPr>
              <a:t> </a:t>
            </a:r>
            <a:r>
              <a:rPr lang="pl-PL" dirty="0" err="1">
                <a:latin typeface="+mn-lt"/>
                <a:cs typeface="Courier New" panose="02070309020205020404" pitchFamily="49" charset="0"/>
              </a:rPr>
              <a:t>been</a:t>
            </a:r>
            <a:r>
              <a:rPr lang="pl-PL" dirty="0">
                <a:latin typeface="+mn-lt"/>
                <a:cs typeface="Courier New" panose="02070309020205020404" pitchFamily="49" charset="0"/>
              </a:rPr>
              <a:t> </a:t>
            </a:r>
            <a:r>
              <a:rPr lang="pl-PL" dirty="0" err="1">
                <a:latin typeface="+mn-lt"/>
                <a:cs typeface="Courier New" panose="02070309020205020404" pitchFamily="49" charset="0"/>
              </a:rPr>
              <a:t>copied</a:t>
            </a:r>
            <a:endParaRPr lang="pl-PL" dirty="0">
              <a:latin typeface="+mn-lt"/>
              <a:cs typeface="Courier New" panose="02070309020205020404" pitchFamily="49" charset="0"/>
            </a:endParaRPr>
          </a:p>
          <a:p>
            <a:pPr lvl="1">
              <a:buFontTx/>
              <a:buChar char="−"/>
            </a:pPr>
            <a:endParaRPr lang="en-US" sz="20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79</a:t>
            </a:fld>
            <a:endParaRPr lang="nl-NL"/>
          </a:p>
        </p:txBody>
      </p:sp>
      <p:pic>
        <p:nvPicPr>
          <p:cNvPr id="4" name="Graphic 3" descr="Key with solid fill">
            <a:extLst>
              <a:ext uri="{FF2B5EF4-FFF2-40B4-BE49-F238E27FC236}">
                <a16:creationId xmlns:a16="http://schemas.microsoft.com/office/drawing/2014/main" id="{473ABE49-6AB1-B400-3FC4-C4372B4CB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61440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or rename files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 or rename files and directories: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mv</a:t>
            </a:r>
          </a:p>
          <a:p>
            <a:r>
              <a:rPr lang="en-US" dirty="0"/>
              <a:t>The default behavior will overwrite any existing file(s). </a:t>
            </a:r>
          </a:p>
          <a:p>
            <a:r>
              <a:rPr lang="fr-FR" b="1" dirty="0" err="1"/>
              <a:t>syntax</a:t>
            </a:r>
            <a:r>
              <a:rPr lang="fr-FR" b="1" dirty="0"/>
              <a:t>: </a:t>
            </a:r>
            <a:r>
              <a:rPr lang="fr-FR" b="1" dirty="0">
                <a:latin typeface="Courier New" pitchFamily="49" charset="0"/>
                <a:cs typeface="Courier New" pitchFamily="49" charset="0"/>
              </a:rPr>
              <a:t>mv [OPTIONS] [SOURCE] [DESTINATION]</a:t>
            </a:r>
            <a:r>
              <a:rPr lang="fr-FR" b="1" dirty="0"/>
              <a:t> </a:t>
            </a:r>
            <a:r>
              <a:rPr lang="en-US" b="1" dirty="0"/>
              <a:t> </a:t>
            </a:r>
          </a:p>
          <a:p>
            <a:pPr lvl="1"/>
            <a:r>
              <a:rPr lang="en-US" dirty="0">
                <a:latin typeface="Courier" pitchFamily="49" charset="0"/>
                <a:ea typeface="HG Mincho Light J"/>
                <a:cs typeface="Courier New" pitchFamily="49" charset="0"/>
              </a:rPr>
              <a:t>$</a:t>
            </a:r>
            <a:r>
              <a:rPr lang="pl-PL" dirty="0">
                <a:latin typeface="Courier" pitchFamily="49" charset="0"/>
                <a:ea typeface="HG Mincho Light J"/>
                <a:cs typeface="Courier New" pitchFamily="49" charset="0"/>
              </a:rPr>
              <a:t> </a:t>
            </a:r>
            <a:r>
              <a:rPr lang="en-US" dirty="0">
                <a:latin typeface="Courier" pitchFamily="49" charset="0"/>
                <a:ea typeface="HG Mincho Light J"/>
                <a:cs typeface="Courier New" pitchFamily="49" charset="0"/>
              </a:rPr>
              <a:t>mv </a:t>
            </a:r>
            <a:r>
              <a:rPr lang="en-US" dirty="0" err="1">
                <a:latin typeface="Courier" pitchFamily="49" charset="0"/>
                <a:ea typeface="HG Mincho Light J"/>
                <a:cs typeface="Courier New" pitchFamily="49" charset="0"/>
              </a:rPr>
              <a:t>old_name</a:t>
            </a:r>
            <a:r>
              <a:rPr lang="en-US" dirty="0">
                <a:latin typeface="Courier" pitchFamily="49" charset="0"/>
                <a:ea typeface="HG Mincho Light J"/>
                <a:cs typeface="Courier New" pitchFamily="49" charset="0"/>
              </a:rPr>
              <a:t> </a:t>
            </a:r>
            <a:r>
              <a:rPr lang="en-US" dirty="0" err="1">
                <a:latin typeface="Courier" pitchFamily="49" charset="0"/>
                <a:ea typeface="HG Mincho Light J"/>
                <a:cs typeface="Courier New" pitchFamily="49" charset="0"/>
              </a:rPr>
              <a:t>new_name</a:t>
            </a:r>
            <a:r>
              <a:rPr lang="en-US" dirty="0">
                <a:latin typeface="Courier" pitchFamily="49" charset="0"/>
                <a:ea typeface="HG Mincho Light J"/>
                <a:cs typeface="Courier New" pitchFamily="49" charset="0"/>
              </a:rPr>
              <a:t> </a:t>
            </a:r>
            <a:br>
              <a:rPr lang="en-US" dirty="0">
                <a:ea typeface="HG Mincho Light J"/>
                <a:cs typeface="Tahoma" pitchFamily="34" charset="0"/>
              </a:rPr>
            </a:br>
            <a:r>
              <a:rPr lang="en-US" dirty="0">
                <a:ea typeface="HG Mincho Light J"/>
                <a:cs typeface="Tahoma" pitchFamily="34" charset="0"/>
              </a:rPr>
              <a:t>Renames the given file or directory.</a:t>
            </a:r>
          </a:p>
          <a:p>
            <a:pPr lvl="1"/>
            <a:r>
              <a:rPr lang="en-US" dirty="0">
                <a:latin typeface="Courier" pitchFamily="49" charset="0"/>
                <a:ea typeface="HG Mincho Light J"/>
                <a:cs typeface="Courier New" pitchFamily="49" charset="0"/>
              </a:rPr>
              <a:t>$</a:t>
            </a:r>
            <a:r>
              <a:rPr lang="pl-PL" dirty="0">
                <a:latin typeface="Courier" pitchFamily="49" charset="0"/>
                <a:ea typeface="HG Mincho Light J"/>
                <a:cs typeface="Courier New" pitchFamily="49" charset="0"/>
              </a:rPr>
              <a:t> </a:t>
            </a:r>
            <a:r>
              <a:rPr lang="en-US" dirty="0">
                <a:latin typeface="Courier" pitchFamily="49" charset="0"/>
                <a:ea typeface="HG Mincho Light J"/>
                <a:cs typeface="Courier New" pitchFamily="49" charset="0"/>
              </a:rPr>
              <a:t>mv -i </a:t>
            </a:r>
            <a:r>
              <a:rPr lang="en-US" dirty="0">
                <a:ea typeface="HG Mincho Light J"/>
                <a:cs typeface="Tahoma" pitchFamily="34" charset="0"/>
              </a:rPr>
              <a:t>(interactive)</a:t>
            </a:r>
            <a:br>
              <a:rPr lang="en-US" dirty="0">
                <a:ea typeface="HG Mincho Light J"/>
                <a:cs typeface="Tahoma" pitchFamily="34" charset="0"/>
              </a:rPr>
            </a:br>
            <a:r>
              <a:rPr lang="en-US" dirty="0">
                <a:ea typeface="HG Mincho Light J"/>
                <a:cs typeface="Tahoma" pitchFamily="34" charset="0"/>
              </a:rPr>
              <a:t>If the new file already exits, asks for user confirm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mv</a:t>
            </a:r>
            <a:r>
              <a:rPr lang="en-US" b="1" dirty="0"/>
              <a:t> </a:t>
            </a:r>
            <a:r>
              <a:rPr lang="en-US" dirty="0"/>
              <a:t>command can also be used to move or rename directories</a:t>
            </a:r>
            <a:r>
              <a:rPr lang="pl-PL" dirty="0"/>
              <a:t> </a:t>
            </a:r>
            <a:endParaRPr lang="en-US" dirty="0"/>
          </a:p>
          <a:p>
            <a:pPr lvl="1"/>
            <a:r>
              <a:rPr lang="nl-BE" dirty="0">
                <a:latin typeface="Courier" pitchFamily="49" charset="0"/>
                <a:cs typeface="Courier New" pitchFamily="49" charset="0"/>
              </a:rPr>
              <a:t>$ mv </a:t>
            </a:r>
            <a:r>
              <a:rPr lang="nl-BE" dirty="0" err="1">
                <a:latin typeface="Courier" pitchFamily="49" charset="0"/>
                <a:cs typeface="Courier New" pitchFamily="49" charset="0"/>
              </a:rPr>
              <a:t>NewFiles</a:t>
            </a:r>
            <a:r>
              <a:rPr lang="nl-BE" dirty="0">
                <a:latin typeface="Courier" pitchFamily="49" charset="0"/>
                <a:cs typeface="Courier New" pitchFamily="49" charset="0"/>
              </a:rPr>
              <a:t>/ </a:t>
            </a:r>
            <a:r>
              <a:rPr lang="nl-BE" dirty="0" err="1">
                <a:latin typeface="Courier" pitchFamily="49" charset="0"/>
                <a:cs typeface="Courier New" pitchFamily="49" charset="0"/>
              </a:rPr>
              <a:t>OldFiles</a:t>
            </a:r>
            <a:r>
              <a:rPr lang="nl-BE" dirty="0">
                <a:latin typeface="Courier" pitchFamily="49" charset="0"/>
                <a:cs typeface="Courier New" pitchFamily="49" charset="0"/>
              </a:rPr>
              <a:t>/</a:t>
            </a:r>
            <a:r>
              <a:rPr lang="nl-BE" dirty="0">
                <a:latin typeface="Courier" pitchFamily="49" charset="0"/>
              </a:rPr>
              <a:t> </a:t>
            </a:r>
            <a:r>
              <a:rPr lang="nl-BE" dirty="0"/>
              <a:t>	</a:t>
            </a:r>
            <a:endParaRPr lang="pl-PL" dirty="0"/>
          </a:p>
          <a:p>
            <a:pPr lvl="1"/>
            <a:r>
              <a:rPr lang="pl-PL" dirty="0"/>
              <a:t>-r </a:t>
            </a:r>
            <a:r>
              <a:rPr lang="pl-PL" dirty="0" err="1"/>
              <a:t>option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not </a:t>
            </a:r>
            <a:r>
              <a:rPr lang="pl-PL" dirty="0" err="1"/>
              <a:t>necessary</a:t>
            </a:r>
            <a:endParaRPr lang="nl-BE" dirty="0"/>
          </a:p>
          <a:p>
            <a:endParaRPr lang="en-US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80</a:t>
            </a:fld>
            <a:endParaRPr lang="nl-NL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007" y="5595714"/>
            <a:ext cx="720080" cy="634571"/>
          </a:xfrm>
          <a:prstGeom prst="rect">
            <a:avLst/>
          </a:prstGeom>
        </p:spPr>
      </p:pic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DA0DD850-2C4F-89F7-BA42-3875061B7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866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/>
          <p:cNvSpPr txBox="1">
            <a:spLocks noGrp="1"/>
          </p:cNvSpPr>
          <p:nvPr>
            <p:ph type="title"/>
          </p:nvPr>
        </p:nvSpPr>
        <p:spPr>
          <a:xfrm>
            <a:off x="719138" y="190048"/>
            <a:ext cx="7920000" cy="699404"/>
          </a:xfrm>
        </p:spPr>
        <p:txBody>
          <a:bodyPr>
            <a:spAutoFit/>
          </a:bodyPr>
          <a:lstStyle/>
          <a:p>
            <a:pPr eaLnBrk="1">
              <a:buSzPct val="45000"/>
              <a:buFont typeface="StarSymbol"/>
              <a:buNone/>
            </a:pPr>
            <a:r>
              <a:rPr lang="nl-BE" dirty="0" err="1">
                <a:latin typeface="Nimbus Sans L"/>
                <a:ea typeface="HG Mincho Light J"/>
                <a:cs typeface="Tahoma" pitchFamily="34" charset="0"/>
              </a:rPr>
              <a:t>Remove</a:t>
            </a:r>
            <a:r>
              <a:rPr lang="nl-BE" dirty="0">
                <a:latin typeface="Nimbus Sans L"/>
                <a:ea typeface="HG Mincho Light J"/>
                <a:cs typeface="Tahoma" pitchFamily="34" charset="0"/>
              </a:rPr>
              <a:t> files</a:t>
            </a:r>
            <a:endParaRPr dirty="0">
              <a:latin typeface="Nimbus Sans L"/>
              <a:ea typeface="HG Mincho Light J"/>
              <a:cs typeface="Tahoma" pitchFamily="34" charset="0"/>
            </a:endParaRPr>
          </a:p>
        </p:txBody>
      </p:sp>
      <p:sp>
        <p:nvSpPr>
          <p:cNvPr id="27651" name="Tijdelijke aanduiding voor tekst 2"/>
          <p:cNvSpPr txBox="1">
            <a:spLocks noGrp="1"/>
          </p:cNvSpPr>
          <p:nvPr>
            <p:ph idx="1"/>
          </p:nvPr>
        </p:nvSpPr>
        <p:spPr bwMode="auto">
          <a:xfrm>
            <a:off x="719138" y="1440000"/>
            <a:ext cx="7920000" cy="4755148"/>
          </a:xfrm>
          <a:noFill/>
        </p:spPr>
        <p:txBody>
          <a:bodyPr vert="horz" wrap="square" numCol="1" anchor="t" anchorCtr="0" compatLnSpc="1">
            <a:prstTxWarp prst="textNoShape">
              <a:avLst/>
            </a:prstTxWarp>
            <a:spAutoFit/>
          </a:bodyPr>
          <a:lstStyle/>
          <a:p>
            <a:pPr marL="361950" indent="-271463">
              <a:spcBef>
                <a:spcPct val="0"/>
              </a:spcBef>
              <a:spcAft>
                <a:spcPts val="1191"/>
              </a:spcAft>
              <a:buClr>
                <a:srgbClr val="182B52"/>
              </a:buClr>
              <a:buSzPct val="100000"/>
            </a:pPr>
            <a:r>
              <a:rPr lang="en-US" sz="2200" dirty="0">
                <a:latin typeface="+mj-lt"/>
              </a:rPr>
              <a:t>The </a:t>
            </a:r>
            <a:r>
              <a:rPr lang="en-US" sz="2200" dirty="0" err="1">
                <a:latin typeface="+mj-lt"/>
                <a:cs typeface="Courier New" pitchFamily="49" charset="0"/>
              </a:rPr>
              <a:t>rm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command removes files. </a:t>
            </a:r>
          </a:p>
          <a:p>
            <a:pPr marL="361950" indent="-271463">
              <a:spcBef>
                <a:spcPct val="0"/>
              </a:spcBef>
              <a:spcAft>
                <a:spcPts val="1191"/>
              </a:spcAft>
              <a:buClr>
                <a:srgbClr val="182B52"/>
              </a:buClr>
              <a:buSzPct val="100000"/>
            </a:pPr>
            <a:r>
              <a:rPr lang="nl-BE" sz="2200" dirty="0">
                <a:latin typeface="Courier" pitchFamily="49" charset="0"/>
                <a:ea typeface="HG Mincho Light J"/>
                <a:cs typeface="Courier New" pitchFamily="49" charset="0"/>
              </a:rPr>
              <a:t>$</a:t>
            </a:r>
            <a:r>
              <a:rPr lang="pl-PL" sz="2200" dirty="0">
                <a:latin typeface="Courier" pitchFamily="49" charset="0"/>
                <a:ea typeface="HG Mincho Light J"/>
                <a:cs typeface="Courier New" pitchFamily="49" charset="0"/>
              </a:rPr>
              <a:t> </a:t>
            </a:r>
            <a:r>
              <a:rPr sz="2200" dirty="0" err="1">
                <a:latin typeface="Courier" pitchFamily="49" charset="0"/>
                <a:ea typeface="HG Mincho Light J"/>
                <a:cs typeface="Courier New" pitchFamily="49" charset="0"/>
              </a:rPr>
              <a:t>rm</a:t>
            </a:r>
            <a:r>
              <a:rPr sz="2200" dirty="0">
                <a:latin typeface="Courier" pitchFamily="49" charset="0"/>
                <a:ea typeface="HG Mincho Light J"/>
                <a:cs typeface="Courier New" pitchFamily="49" charset="0"/>
              </a:rPr>
              <a:t> file1 file2 file3 ...</a:t>
            </a:r>
            <a:r>
              <a:rPr sz="2200" b="1" dirty="0">
                <a:latin typeface="+mj-lt"/>
                <a:ea typeface="HG Mincho Light J"/>
                <a:cs typeface="Tahoma" pitchFamily="34" charset="0"/>
              </a:rPr>
              <a:t>	</a:t>
            </a:r>
            <a:br>
              <a:rPr sz="2200" b="1" dirty="0">
                <a:latin typeface="+mj-lt"/>
                <a:ea typeface="HG Mincho Light J"/>
                <a:cs typeface="Tahoma" pitchFamily="34" charset="0"/>
              </a:rPr>
            </a:br>
            <a:r>
              <a:rPr sz="2200" dirty="0">
                <a:latin typeface="+mj-lt"/>
                <a:ea typeface="HG Mincho Light J"/>
                <a:cs typeface="Tahoma" pitchFamily="34" charset="0"/>
              </a:rPr>
              <a:t>Removes the given files.</a:t>
            </a:r>
          </a:p>
          <a:p>
            <a:pPr marL="361950" indent="-271463">
              <a:spcBef>
                <a:spcPct val="0"/>
              </a:spcBef>
              <a:spcAft>
                <a:spcPts val="1191"/>
              </a:spcAft>
              <a:buClr>
                <a:srgbClr val="182B52"/>
              </a:buClr>
              <a:buSzPct val="100000"/>
            </a:pPr>
            <a:r>
              <a:rPr lang="nl-BE" sz="2200" dirty="0">
                <a:latin typeface="Courier" pitchFamily="49" charset="0"/>
                <a:ea typeface="HG Mincho Light J"/>
                <a:cs typeface="Courier New" pitchFamily="49" charset="0"/>
              </a:rPr>
              <a:t>$</a:t>
            </a:r>
            <a:r>
              <a:rPr lang="pl-PL" sz="2200" dirty="0">
                <a:latin typeface="Courier" pitchFamily="49" charset="0"/>
                <a:ea typeface="HG Mincho Light J"/>
                <a:cs typeface="Courier New" pitchFamily="49" charset="0"/>
              </a:rPr>
              <a:t> </a:t>
            </a:r>
            <a:r>
              <a:rPr sz="2200" dirty="0" err="1">
                <a:latin typeface="Courier" pitchFamily="49" charset="0"/>
                <a:ea typeface="HG Mincho Light J"/>
                <a:cs typeface="Courier New" pitchFamily="49" charset="0"/>
              </a:rPr>
              <a:t>rm</a:t>
            </a:r>
            <a:r>
              <a:rPr sz="2200" dirty="0">
                <a:latin typeface="Courier" pitchFamily="49" charset="0"/>
                <a:ea typeface="HG Mincho Light J"/>
                <a:cs typeface="Courier New" pitchFamily="49" charset="0"/>
              </a:rPr>
              <a:t> -i </a:t>
            </a:r>
            <a:r>
              <a:rPr sz="2200" dirty="0">
                <a:latin typeface="+mn-lt"/>
                <a:ea typeface="HG Mincho Light J"/>
                <a:cs typeface="Tahoma" pitchFamily="34" charset="0"/>
              </a:rPr>
              <a:t>(interactive)</a:t>
            </a:r>
            <a:br>
              <a:rPr sz="2200" dirty="0">
                <a:latin typeface="+mj-lt"/>
                <a:ea typeface="HG Mincho Light J"/>
                <a:cs typeface="Tahoma" pitchFamily="34" charset="0"/>
              </a:rPr>
            </a:br>
            <a:r>
              <a:rPr sz="2200" dirty="0">
                <a:latin typeface="+mj-lt"/>
                <a:ea typeface="HG Mincho Light J"/>
                <a:cs typeface="Tahoma" pitchFamily="34" charset="0"/>
              </a:rPr>
              <a:t>Always ask for user confirm</a:t>
            </a:r>
            <a:r>
              <a:rPr lang="nl-BE" sz="2200" dirty="0" err="1">
                <a:latin typeface="+mj-lt"/>
                <a:ea typeface="HG Mincho Light J"/>
                <a:cs typeface="Tahoma" pitchFamily="34" charset="0"/>
              </a:rPr>
              <a:t>ation</a:t>
            </a:r>
            <a:r>
              <a:rPr sz="2200" dirty="0">
                <a:latin typeface="+mj-lt"/>
                <a:ea typeface="HG Mincho Light J"/>
                <a:cs typeface="Tahoma" pitchFamily="34" charset="0"/>
              </a:rPr>
              <a:t>.</a:t>
            </a:r>
          </a:p>
          <a:p>
            <a:pPr marL="361950" indent="-271463">
              <a:spcBef>
                <a:spcPct val="0"/>
              </a:spcBef>
              <a:spcAft>
                <a:spcPts val="1191"/>
              </a:spcAft>
              <a:buClr>
                <a:srgbClr val="182B52"/>
              </a:buClr>
              <a:buSzPct val="100000"/>
            </a:pPr>
            <a:r>
              <a:rPr lang="nl-BE" sz="2200" dirty="0">
                <a:latin typeface="Courier" pitchFamily="49" charset="0"/>
                <a:ea typeface="HG Mincho Light J"/>
                <a:cs typeface="Courier New" pitchFamily="49" charset="0"/>
              </a:rPr>
              <a:t>$</a:t>
            </a:r>
            <a:r>
              <a:rPr lang="pl-PL" sz="2200" dirty="0">
                <a:latin typeface="Courier" pitchFamily="49" charset="0"/>
                <a:ea typeface="HG Mincho Light J"/>
                <a:cs typeface="Courier New" pitchFamily="49" charset="0"/>
              </a:rPr>
              <a:t> </a:t>
            </a:r>
            <a:r>
              <a:rPr sz="2200" dirty="0" err="1">
                <a:latin typeface="Courier" pitchFamily="49" charset="0"/>
                <a:ea typeface="HG Mincho Light J"/>
                <a:cs typeface="Courier New" pitchFamily="49" charset="0"/>
              </a:rPr>
              <a:t>rm</a:t>
            </a:r>
            <a:r>
              <a:rPr sz="2200" dirty="0">
                <a:latin typeface="Courier" pitchFamily="49" charset="0"/>
                <a:ea typeface="HG Mincho Light J"/>
                <a:cs typeface="Courier New" pitchFamily="49" charset="0"/>
              </a:rPr>
              <a:t> -r dir1 dir2 dir3 </a:t>
            </a:r>
            <a:r>
              <a:rPr sz="2200" dirty="0">
                <a:latin typeface="+mn-lt"/>
                <a:ea typeface="HG Mincho Light J"/>
                <a:cs typeface="Tahoma" pitchFamily="34" charset="0"/>
              </a:rPr>
              <a:t>(recursive)</a:t>
            </a:r>
            <a:br>
              <a:rPr sz="2200" dirty="0">
                <a:latin typeface="+mn-lt"/>
                <a:ea typeface="HG Mincho Light J"/>
                <a:cs typeface="Tahoma" pitchFamily="34" charset="0"/>
              </a:rPr>
            </a:br>
            <a:r>
              <a:rPr sz="2200" dirty="0">
                <a:latin typeface="+mj-lt"/>
                <a:ea typeface="HG Mincho Light J"/>
                <a:cs typeface="Tahoma" pitchFamily="34" charset="0"/>
              </a:rPr>
              <a:t>Removes the given directories with all their contents.</a:t>
            </a:r>
            <a:endParaRPr lang="nl-BE" sz="2200" dirty="0">
              <a:latin typeface="+mj-lt"/>
              <a:ea typeface="HG Mincho Light J"/>
              <a:cs typeface="Tahoma" pitchFamily="34" charset="0"/>
            </a:endParaRPr>
          </a:p>
          <a:p>
            <a:r>
              <a:rPr lang="en-US" sz="2200" dirty="0">
                <a:latin typeface="+mj-lt"/>
              </a:rPr>
              <a:t>Tip:</a:t>
            </a:r>
            <a:br>
              <a:rPr lang="en-US" sz="2200" dirty="0"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Whenever you use wildcards with </a:t>
            </a:r>
            <a:r>
              <a:rPr lang="en-US" sz="2000" dirty="0" err="1">
                <a:solidFill>
                  <a:srgbClr val="FF0000"/>
                </a:solidFill>
                <a:latin typeface="Courier" pitchFamily="49" charset="0"/>
              </a:rPr>
              <a:t>rm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 (besides carefully checking your typing!), test the wildcard first with </a:t>
            </a:r>
            <a:r>
              <a:rPr lang="en-US" sz="2000" dirty="0" err="1">
                <a:solidFill>
                  <a:srgbClr val="FF0000"/>
                </a:solidFill>
                <a:latin typeface="Courier" pitchFamily="49" charset="0"/>
              </a:rPr>
              <a:t>ls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. This will let you see the files that will be deleted. Then press the up arrow key to recall the command and replace the </a:t>
            </a:r>
            <a:r>
              <a:rPr lang="en-US" sz="2000" dirty="0" err="1">
                <a:solidFill>
                  <a:srgbClr val="FF0000"/>
                </a:solidFill>
                <a:latin typeface="Courier" pitchFamily="49" charset="0"/>
              </a:rPr>
              <a:t>ls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 with </a:t>
            </a:r>
            <a:r>
              <a:rPr lang="en-US" sz="2000" dirty="0">
                <a:solidFill>
                  <a:srgbClr val="FF0000"/>
                </a:solidFill>
                <a:latin typeface="Courier" pitchFamily="49" charset="0"/>
              </a:rPr>
              <a:t>rm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.</a:t>
            </a:r>
            <a:endParaRPr sz="2000" dirty="0">
              <a:solidFill>
                <a:srgbClr val="FF0000"/>
              </a:solidFill>
              <a:latin typeface="+mj-lt"/>
              <a:ea typeface="HG Mincho Light J"/>
              <a:cs typeface="Tahoma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81</a:t>
            </a:fld>
            <a:endParaRPr lang="nl-NL"/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C1191AD5-A1E3-F218-73A5-9736D9CA0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8517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Create</a:t>
            </a:r>
            <a:r>
              <a:rPr lang="nl-BE" dirty="0"/>
              <a:t>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1440000"/>
            <a:ext cx="8317358" cy="4678362"/>
          </a:xfrm>
        </p:spPr>
        <p:txBody>
          <a:bodyPr/>
          <a:lstStyle/>
          <a:p>
            <a:r>
              <a:rPr lang="en-US" sz="2200" dirty="0"/>
              <a:t>Create links (shortcuts) to files or directories: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ln</a:t>
            </a:r>
            <a:endParaRPr lang="en-US" sz="2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200" dirty="0"/>
              <a:t>Symbolic links are created when using the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-s</a:t>
            </a:r>
            <a:r>
              <a:rPr lang="en-US" sz="2200" b="1" dirty="0"/>
              <a:t> </a:t>
            </a:r>
            <a:r>
              <a:rPr lang="en-US" sz="2200" dirty="0"/>
              <a:t>option with the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ln</a:t>
            </a:r>
            <a:r>
              <a:rPr lang="en-US" sz="2200" b="1" dirty="0"/>
              <a:t> </a:t>
            </a:r>
            <a:r>
              <a:rPr lang="en-US" sz="2200" dirty="0"/>
              <a:t>command. </a:t>
            </a:r>
          </a:p>
          <a:p>
            <a:r>
              <a:rPr lang="en-US" sz="2200" dirty="0"/>
              <a:t>Allows to jump to other files or locations on the file system</a:t>
            </a:r>
          </a:p>
          <a:p>
            <a:r>
              <a:rPr lang="en-US" sz="2200" dirty="0"/>
              <a:t>Editing a symbolic link file is the same as editing the source file, but deleting the symbolic link does not delete the source file.</a:t>
            </a:r>
          </a:p>
          <a:p>
            <a:pPr lvl="1"/>
            <a:r>
              <a:rPr lang="en-US" sz="22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ln -s file_v5.doc file_final.doc</a:t>
            </a:r>
          </a:p>
          <a:p>
            <a:pPr lvl="1"/>
            <a:r>
              <a:rPr lang="en-US" sz="2200" dirty="0"/>
              <a:t>creates a symbolic link called file_final.doc that points to file_v5.doc </a:t>
            </a:r>
          </a:p>
          <a:p>
            <a:pPr lvl="1"/>
            <a:r>
              <a:rPr lang="nl-BE" sz="22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sz="2200" dirty="0" err="1">
                <a:latin typeface="Courier New" pitchFamily="49" charset="0"/>
                <a:cs typeface="Courier New" pitchFamily="49" charset="0"/>
              </a:rPr>
              <a:t>ln</a:t>
            </a:r>
            <a:r>
              <a:rPr lang="nl-BE" sz="2200" dirty="0">
                <a:latin typeface="Courier New" pitchFamily="49" charset="0"/>
                <a:cs typeface="Courier New" pitchFamily="49" charset="0"/>
              </a:rPr>
              <a:t> -s /home/demo/dir1/dir2/dir3 /home/demo/jump2dir</a:t>
            </a:r>
          </a:p>
          <a:p>
            <a:pPr lvl="1"/>
            <a:r>
              <a:rPr lang="en-US" sz="2200" dirty="0"/>
              <a:t>creates a symbolic link called jump2dir that points to a deep directory - allows for quicker access) 	</a:t>
            </a:r>
          </a:p>
          <a:p>
            <a:endParaRPr lang="nl-BE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38240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wget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Instead of downloading files from your browser, just copy and paste their URL and download them with </a:t>
            </a:r>
            <a:r>
              <a:rPr lang="en-US" dirty="0" err="1"/>
              <a:t>wget</a:t>
            </a:r>
            <a:endParaRPr lang="en-US" dirty="0"/>
          </a:p>
          <a:p>
            <a:pPr lvl="0"/>
            <a:r>
              <a:rPr lang="en-US" dirty="0"/>
              <a:t>main features</a:t>
            </a:r>
          </a:p>
          <a:p>
            <a:pPr lvl="1"/>
            <a:r>
              <a:rPr lang="en-US" dirty="0"/>
              <a:t>http, https, ftp and </a:t>
            </a:r>
            <a:r>
              <a:rPr lang="en-US" dirty="0" err="1"/>
              <a:t>ftps</a:t>
            </a:r>
            <a:r>
              <a:rPr lang="en-US" dirty="0"/>
              <a:t> support</a:t>
            </a:r>
          </a:p>
          <a:p>
            <a:pPr lvl="1"/>
            <a:r>
              <a:rPr lang="en-US" dirty="0"/>
              <a:t>Can resume interrupted downloads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Can download entire sites or at least check for bad links</a:t>
            </a:r>
          </a:p>
          <a:p>
            <a:pPr lvl="1"/>
            <a:r>
              <a:rPr lang="en-US" dirty="0"/>
              <a:t>Very useful in scripts or when no graphics are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07666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Text edit</a:t>
            </a:r>
            <a:r>
              <a:rPr lang="pl-PL" dirty="0">
                <a:latin typeface="Arial" pitchFamily="34" charset="0"/>
                <a:cs typeface="Arial" pitchFamily="34" charset="0"/>
              </a:rPr>
              <a:t>ing</a:t>
            </a:r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84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84221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US" dirty="0"/>
              <a:t>Text editors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Text-only text editors</a:t>
            </a:r>
          </a:p>
          <a:p>
            <a:pPr lvl="1"/>
            <a:r>
              <a:rPr lang="en-US" dirty="0"/>
              <a:t>Often needed for </a:t>
            </a:r>
            <a:r>
              <a:rPr lang="en-US" dirty="0" err="1"/>
              <a:t>sysadmins</a:t>
            </a:r>
            <a:r>
              <a:rPr lang="en-US" dirty="0"/>
              <a:t> and great for power users</a:t>
            </a:r>
          </a:p>
          <a:p>
            <a:pPr lvl="1"/>
            <a:r>
              <a:rPr lang="en-US" dirty="0"/>
              <a:t>vi, vim</a:t>
            </a:r>
          </a:p>
          <a:p>
            <a:pPr lvl="1"/>
            <a:r>
              <a:rPr lang="en-US" dirty="0"/>
              <a:t>nano</a:t>
            </a:r>
          </a:p>
          <a:p>
            <a:r>
              <a:rPr lang="en-US" dirty="0"/>
              <a:t>Graphical text editors</a:t>
            </a:r>
          </a:p>
          <a:p>
            <a:pPr lvl="1"/>
            <a:r>
              <a:rPr lang="en-US" dirty="0"/>
              <a:t>Fine for most needs</a:t>
            </a:r>
          </a:p>
          <a:p>
            <a:pPr lvl="1"/>
            <a:r>
              <a:rPr lang="en-US" dirty="0" err="1"/>
              <a:t>Gedit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Kate, </a:t>
            </a:r>
            <a:r>
              <a:rPr lang="en-US" dirty="0" err="1"/>
              <a:t>Nedit</a:t>
            </a:r>
            <a:endParaRPr lang="en-US" dirty="0"/>
          </a:p>
          <a:p>
            <a:pPr lvl="1"/>
            <a:r>
              <a:rPr lang="en-US" dirty="0"/>
              <a:t>Emacs, </a:t>
            </a:r>
            <a:r>
              <a:rPr lang="en-US" dirty="0" err="1"/>
              <a:t>Xemacs</a:t>
            </a:r>
            <a:endParaRPr lang="en-US" dirty="0"/>
          </a:p>
          <a:p>
            <a:r>
              <a:rPr lang="en-US" sz="2000" dirty="0">
                <a:hlinkClick r:id="rId3"/>
              </a:rPr>
              <a:t>http://www.thegeekstuff.com/2009/07/top-5-best-linux-text-editors/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37519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US" dirty="0"/>
              <a:t>Text editors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How to start:</a:t>
            </a:r>
          </a:p>
          <a:p>
            <a:r>
              <a:rPr lang="pl-PL" sz="2000" dirty="0"/>
              <a:t>Create a file</a:t>
            </a:r>
          </a:p>
          <a:p>
            <a:pPr lvl="1"/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l-P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filename </a:t>
            </a:r>
            <a:r>
              <a:rPr lang="pl-PL" sz="2000" dirty="0"/>
              <a:t>(creates an empty file)</a:t>
            </a:r>
          </a:p>
          <a:p>
            <a:pPr lvl="1"/>
            <a:r>
              <a:rPr lang="pl-PL" sz="2000" dirty="0"/>
              <a:t>start editing (non)-existing file: </a:t>
            </a:r>
          </a:p>
          <a:p>
            <a:pPr marL="0" indent="-363">
              <a:buNone/>
            </a:pPr>
            <a:r>
              <a:rPr lang="pl-PL" sz="2000" dirty="0"/>
              <a:t>	</a:t>
            </a:r>
            <a:r>
              <a:rPr lang="pl-P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 vi </a:t>
            </a:r>
            <a:r>
              <a:rPr lang="pl-P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-363">
              <a:buNone/>
            </a:pPr>
            <a:r>
              <a:rPr lang="pl-P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$ nano filename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71936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US" dirty="0"/>
              <a:t>vi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Text-mode text editor available in all Linux systems.</a:t>
            </a:r>
          </a:p>
          <a:p>
            <a:r>
              <a:rPr lang="en-US" dirty="0"/>
              <a:t>Created before computers with mice appeared.</a:t>
            </a:r>
          </a:p>
          <a:p>
            <a:r>
              <a:rPr lang="en-US" dirty="0"/>
              <a:t>Difficult to learn for beginners used to graphical text editors.</a:t>
            </a:r>
          </a:p>
          <a:p>
            <a:r>
              <a:rPr lang="en-US" dirty="0"/>
              <a:t>Very productive for power users.</a:t>
            </a:r>
          </a:p>
          <a:p>
            <a:r>
              <a:rPr lang="nl-BE" dirty="0"/>
              <a:t>Check the web </a:t>
            </a:r>
            <a:r>
              <a:rPr lang="nl-BE" dirty="0" err="1"/>
              <a:t>for</a:t>
            </a:r>
            <a:r>
              <a:rPr lang="nl-BE" dirty="0"/>
              <a:t> tutorials:</a:t>
            </a:r>
          </a:p>
          <a:p>
            <a:pPr lvl="1"/>
            <a:r>
              <a:rPr lang="nl-BE" dirty="0">
                <a:hlinkClick r:id="rId3"/>
              </a:rPr>
              <a:t>https://upload.wikimedia.org/wikipedia/commons/d/d2/Learning_the_vi_Editor.pdf</a:t>
            </a:r>
            <a:endParaRPr lang="nl-BE" dirty="0"/>
          </a:p>
          <a:p>
            <a:pPr lvl="1"/>
            <a:r>
              <a:rPr lang="nl-BE" dirty="0">
                <a:hlinkClick r:id="rId4"/>
              </a:rPr>
              <a:t>ftp://ftp.vim.org/pub/vim/doc/book/vimbook-OPL.pdf</a:t>
            </a:r>
            <a:endParaRPr lang="nl-BE" dirty="0"/>
          </a:p>
          <a:p>
            <a:pPr lvl="1"/>
            <a:endParaRPr lang="en-US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36775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1124744"/>
            <a:ext cx="7920000" cy="4678362"/>
          </a:xfrm>
        </p:spPr>
        <p:txBody>
          <a:bodyPr/>
          <a:lstStyle/>
          <a:p>
            <a:r>
              <a:rPr lang="en-US" sz="2200" dirty="0"/>
              <a:t>2 basic modes of operation: </a:t>
            </a:r>
          </a:p>
          <a:p>
            <a:pPr lvl="1"/>
            <a:r>
              <a:rPr lang="en-US" sz="2200" i="1" dirty="0"/>
              <a:t>command mode </a:t>
            </a:r>
            <a:r>
              <a:rPr lang="en-US" sz="2200" dirty="0"/>
              <a:t>and </a:t>
            </a:r>
            <a:r>
              <a:rPr lang="en-US" sz="2200" i="1" dirty="0"/>
              <a:t>editing mode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Within Command Mode, signals from the terminal are interpreted as editing commands. </a:t>
            </a:r>
          </a:p>
          <a:p>
            <a:pPr lvl="1"/>
            <a:r>
              <a:rPr lang="en-US" sz="2200" dirty="0"/>
              <a:t>Editing mode: letters typed at the keyboard are inserted into the editing buffer.  </a:t>
            </a:r>
          </a:p>
          <a:p>
            <a:r>
              <a:rPr lang="en-US" sz="2200" dirty="0"/>
              <a:t>Pressing </a:t>
            </a:r>
            <a:r>
              <a:rPr lang="en-US" sz="2200" b="1" dirty="0"/>
              <a:t>Esc </a:t>
            </a:r>
            <a:r>
              <a:rPr lang="en-US" sz="2200" dirty="0"/>
              <a:t>on the keyboard activates command mode.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606224"/>
              </p:ext>
            </p:extLst>
          </p:nvPr>
        </p:nvGraphicFramePr>
        <p:xfrm>
          <a:off x="661863" y="3857456"/>
          <a:ext cx="7992121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5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Key(s) 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Key(s) 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Append text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Save and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 text before cursor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 text after cursor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Insert text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Insert text before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Paste copied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yy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Copy current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Append text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/[TEXT]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Search for the specified text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88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9076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BE" dirty="0"/>
              <a:t>vi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nl-BE" sz="2000" dirty="0"/>
              <a:t>2 modes</a:t>
            </a:r>
          </a:p>
          <a:p>
            <a:pPr lvl="1">
              <a:lnSpc>
                <a:spcPct val="90000"/>
              </a:lnSpc>
            </a:pPr>
            <a:r>
              <a:rPr lang="en-US" altLang="nl-BE" sz="2000" dirty="0"/>
              <a:t>Input mode</a:t>
            </a:r>
          </a:p>
          <a:p>
            <a:pPr lvl="2">
              <a:lnSpc>
                <a:spcPct val="90000"/>
              </a:lnSpc>
            </a:pPr>
            <a:r>
              <a:rPr lang="en-US" altLang="nl-BE" sz="1600" dirty="0"/>
              <a:t>ESC to back to </a:t>
            </a:r>
            <a:r>
              <a:rPr lang="en-US" altLang="nl-BE" sz="1600" dirty="0" err="1"/>
              <a:t>cmd</a:t>
            </a:r>
            <a:r>
              <a:rPr lang="en-US" altLang="nl-BE" sz="1600" dirty="0"/>
              <a:t> mode</a:t>
            </a:r>
          </a:p>
          <a:p>
            <a:pPr lvl="1">
              <a:lnSpc>
                <a:spcPct val="90000"/>
              </a:lnSpc>
            </a:pPr>
            <a:r>
              <a:rPr lang="en-US" altLang="nl-BE" sz="2000" dirty="0"/>
              <a:t>Command mode</a:t>
            </a:r>
          </a:p>
          <a:p>
            <a:pPr lvl="2">
              <a:lnSpc>
                <a:spcPct val="90000"/>
              </a:lnSpc>
            </a:pPr>
            <a:r>
              <a:rPr lang="en-US" altLang="nl-BE" sz="1600" b="1" dirty="0"/>
              <a:t>Cursor movement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h (left), j (down), k (up), l (right)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^f (page down)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^b (page up)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^ (first char.)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$ (last char.)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G (bottom page)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:1 (</a:t>
            </a:r>
            <a:r>
              <a:rPr lang="en-US" altLang="nl-BE" sz="1400" dirty="0" err="1"/>
              <a:t>goto</a:t>
            </a:r>
            <a:r>
              <a:rPr lang="en-US" altLang="nl-BE" sz="1400" dirty="0"/>
              <a:t> first line)</a:t>
            </a:r>
          </a:p>
          <a:p>
            <a:pPr lvl="2">
              <a:lnSpc>
                <a:spcPct val="90000"/>
              </a:lnSpc>
            </a:pPr>
            <a:r>
              <a:rPr lang="en-US" altLang="nl-BE" sz="1600" b="1" dirty="0" err="1"/>
              <a:t>Sw</a:t>
            </a:r>
            <a:r>
              <a:rPr lang="pl-PL" altLang="nl-BE" sz="1600" b="1" dirty="0"/>
              <a:t>i</a:t>
            </a:r>
            <a:r>
              <a:rPr lang="en-US" altLang="nl-BE" sz="1600" b="1" dirty="0" err="1"/>
              <a:t>tch</a:t>
            </a:r>
            <a:r>
              <a:rPr lang="en-US" altLang="nl-BE" sz="1600" b="1" dirty="0"/>
              <a:t> to input mode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a (append)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 err="1"/>
              <a:t>i</a:t>
            </a:r>
            <a:r>
              <a:rPr lang="en-US" altLang="nl-BE" sz="1400" dirty="0"/>
              <a:t> (insert)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o (insert line after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O (insert line before)</a:t>
            </a:r>
          </a:p>
          <a:p>
            <a:pPr lvl="1">
              <a:lnSpc>
                <a:spcPct val="90000"/>
              </a:lnSpc>
            </a:pPr>
            <a:endParaRPr lang="en-US" altLang="nl-BE" sz="2000" dirty="0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lvl="2">
              <a:lnSpc>
                <a:spcPct val="90000"/>
              </a:lnSpc>
            </a:pPr>
            <a:r>
              <a:rPr lang="en-US" altLang="nl-BE" sz="1600" dirty="0"/>
              <a:t>Delete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dd (delete a line)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d10d (delete 10 lines)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d$ (delete till end of line)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 err="1"/>
              <a:t>dG</a:t>
            </a:r>
            <a:r>
              <a:rPr lang="en-US" altLang="nl-BE" sz="1400" dirty="0"/>
              <a:t> (delete till end of file)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x (current char.)</a:t>
            </a:r>
          </a:p>
          <a:p>
            <a:pPr lvl="2">
              <a:lnSpc>
                <a:spcPct val="90000"/>
              </a:lnSpc>
            </a:pPr>
            <a:r>
              <a:rPr lang="en-US" altLang="nl-BE" sz="1600" dirty="0"/>
              <a:t>Paste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p (paste after)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P (paste before)</a:t>
            </a:r>
          </a:p>
          <a:p>
            <a:pPr lvl="2">
              <a:lnSpc>
                <a:spcPct val="90000"/>
              </a:lnSpc>
            </a:pPr>
            <a:r>
              <a:rPr lang="en-US" altLang="nl-BE" sz="1600" b="1" dirty="0"/>
              <a:t>Undo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u</a:t>
            </a:r>
          </a:p>
          <a:p>
            <a:pPr lvl="2">
              <a:lnSpc>
                <a:spcPct val="90000"/>
              </a:lnSpc>
            </a:pPr>
            <a:r>
              <a:rPr lang="en-US" altLang="nl-BE" sz="1600" dirty="0"/>
              <a:t>Search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/</a:t>
            </a:r>
          </a:p>
          <a:p>
            <a:pPr lvl="2">
              <a:lnSpc>
                <a:spcPct val="90000"/>
              </a:lnSpc>
            </a:pPr>
            <a:r>
              <a:rPr lang="en-US" altLang="nl-BE" sz="1600" b="1" dirty="0"/>
              <a:t>Save/Quit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:w (write)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:q (quit)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:</a:t>
            </a:r>
            <a:r>
              <a:rPr lang="en-US" altLang="nl-BE" sz="1400" dirty="0" err="1"/>
              <a:t>wq</a:t>
            </a:r>
            <a:r>
              <a:rPr lang="en-US" altLang="nl-BE" sz="1400" dirty="0"/>
              <a:t> (write and quit)</a:t>
            </a:r>
          </a:p>
          <a:p>
            <a:pPr lvl="3">
              <a:lnSpc>
                <a:spcPct val="90000"/>
              </a:lnSpc>
            </a:pPr>
            <a:r>
              <a:rPr lang="en-US" altLang="nl-BE" sz="1400" dirty="0"/>
              <a:t>:q! (give up changes)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89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7030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07" y="1073621"/>
            <a:ext cx="8010525" cy="5019675"/>
          </a:xfrm>
          <a:prstGeom prst="rect">
            <a:avLst/>
          </a:prstGeom>
        </p:spPr>
      </p:pic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nl-BE" dirty="0"/>
              <a:t>Nano</a:t>
            </a:r>
            <a:endParaRPr lang="en-US" alt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90</a:t>
            </a:fld>
            <a:endParaRPr lang="nl-BE"/>
          </a:p>
        </p:txBody>
      </p:sp>
      <p:grpSp>
        <p:nvGrpSpPr>
          <p:cNvPr id="16" name="Group 15"/>
          <p:cNvGrpSpPr/>
          <p:nvPr/>
        </p:nvGrpSpPr>
        <p:grpSpPr>
          <a:xfrm>
            <a:off x="513956" y="4356417"/>
            <a:ext cx="2886344" cy="1662485"/>
            <a:chOff x="1187624" y="4538831"/>
            <a:chExt cx="2886344" cy="1662485"/>
          </a:xfrm>
        </p:grpSpPr>
        <p:sp>
          <p:nvSpPr>
            <p:cNvPr id="7" name="Rounded Rectangle 6"/>
            <p:cNvSpPr/>
            <p:nvPr/>
          </p:nvSpPr>
          <p:spPr>
            <a:xfrm>
              <a:off x="1187624" y="5949280"/>
              <a:ext cx="720080" cy="25203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1804642" y="4538831"/>
              <a:ext cx="2269326" cy="1424175"/>
              <a:chOff x="1804642" y="4538831"/>
              <a:chExt cx="2269326" cy="1424175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 flipH="1">
                <a:off x="1804642" y="4882886"/>
                <a:ext cx="319086" cy="108012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1985736" y="4538831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000" b="1" dirty="0" err="1">
                    <a:solidFill>
                      <a:srgbClr val="FF0000"/>
                    </a:solidFill>
                  </a:rPr>
                  <a:t>Exit</a:t>
                </a:r>
                <a:r>
                  <a:rPr lang="pl-PL" sz="2000" b="1" dirty="0">
                    <a:solidFill>
                      <a:srgbClr val="FF0000"/>
                    </a:solidFill>
                  </a:rPr>
                  <a:t>=</a:t>
                </a:r>
                <a:r>
                  <a:rPr lang="pl-PL" sz="2000" b="1" dirty="0" err="1">
                    <a:solidFill>
                      <a:srgbClr val="FF0000"/>
                    </a:solidFill>
                  </a:rPr>
                  <a:t>Ctrl+X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862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el 1"/>
          <p:cNvSpPr txBox="1"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>
              <a:buSzPct val="45000"/>
              <a:buFont typeface="StarSymbol"/>
              <a:buNone/>
            </a:pPr>
            <a:r>
              <a:rPr dirty="0">
                <a:latin typeface="Nimbus Sans L"/>
                <a:ea typeface="HG Mincho Light J"/>
                <a:cs typeface="Tahoma" pitchFamily="34" charset="0"/>
              </a:rPr>
              <a:t>Displaying file contents</a:t>
            </a:r>
          </a:p>
        </p:txBody>
      </p:sp>
      <p:sp>
        <p:nvSpPr>
          <p:cNvPr id="3" name="Tijdelijke aanduiding voor tekst 2"/>
          <p:cNvSpPr txBox="1">
            <a:spLocks noGrp="1"/>
          </p:cNvSpPr>
          <p:nvPr>
            <p:ph idx="1"/>
          </p:nvPr>
        </p:nvSpPr>
        <p:spPr>
          <a:xfrm>
            <a:off x="719138" y="1440000"/>
            <a:ext cx="7920000" cy="4729500"/>
          </a:xfrm>
        </p:spPr>
        <p:txBody>
          <a:bodyPr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None/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307"/>
              </a:spcAft>
              <a:buSzPts val="3430"/>
              <a:buBlip>
                <a:blip r:embed="rId3"/>
              </a:buBlip>
              <a:defRPr lang="en-US" sz="24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1pPr>
            <a:lvl2pPr marL="864000" marR="0" lvl="1" indent="-288000">
              <a:spcBef>
                <a:spcPts val="0"/>
              </a:spcBef>
              <a:spcAft>
                <a:spcPts val="1134"/>
              </a:spcAft>
              <a:buSzPts val="3430"/>
              <a:buBlip>
                <a:blip r:embed="rId3"/>
              </a:buBlip>
              <a:defRPr lang="en-US" sz="22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2pPr>
            <a:lvl3pPr marL="1296000" marR="0" lvl="2" indent="-216000">
              <a:spcBef>
                <a:spcPts val="0"/>
              </a:spcBef>
              <a:spcAft>
                <a:spcPts val="850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ts val="3430"/>
              <a:buBlip>
                <a:blip r:embed="rId3"/>
              </a:buBlip>
              <a:defRPr lang="en-US" sz="2000" b="0" i="0" u="none" strike="noStrike">
                <a:ln>
                  <a:noFill/>
                </a:ln>
                <a:latin typeface="Nimbus Sans L" pitchFamily="34"/>
                <a:ea typeface="HG Mincho Light J" pitchFamily="2"/>
                <a:cs typeface="Tahoma" pitchFamily="2"/>
              </a:defRPr>
            </a:lvl9pPr>
          </a:lstStyle>
          <a:p>
            <a:pPr marL="90487" indent="0" eaLnBrk="1" fontAlgn="auto">
              <a:buNone/>
              <a:defRPr/>
            </a:pPr>
            <a:r>
              <a:rPr dirty="0">
                <a:latin typeface="+mn-lt"/>
              </a:rPr>
              <a:t>Several ways of displaying the contents of files.</a:t>
            </a:r>
          </a:p>
          <a:p>
            <a:pPr marL="433387" indent="-342900" fontAlgn="auto"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cat file1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displays the contents of the given file.</a:t>
            </a:r>
          </a:p>
          <a:p>
            <a:pPr marL="433387" indent="-342900" fontAlgn="auto">
              <a:buSzPct val="100000"/>
              <a:buFont typeface="Arial" pitchFamily="34" charset="0"/>
              <a:buChar char="•"/>
              <a:defRPr/>
            </a:pPr>
            <a:r>
              <a:rPr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dirty="0">
                <a:latin typeface="Courier New" pitchFamily="49" charset="0"/>
                <a:cs typeface="Courier New" pitchFamily="49" charset="0"/>
              </a:rPr>
              <a:t>cat file1 file2 file3 ... </a:t>
            </a:r>
            <a:r>
              <a:rPr dirty="0">
                <a:latin typeface="+mn-lt"/>
              </a:rPr>
              <a:t>(concatenate)</a:t>
            </a:r>
            <a:br>
              <a:rPr dirty="0">
                <a:latin typeface="+mn-lt"/>
              </a:rPr>
            </a:br>
            <a:r>
              <a:rPr dirty="0">
                <a:latin typeface="+mn-lt"/>
              </a:rPr>
              <a:t>Concatenates and outputs the contents of the given files.</a:t>
            </a:r>
          </a:p>
          <a:p>
            <a:pPr>
              <a:buFont typeface="Arial" pitchFamily="34" charset="0"/>
              <a:buChar char="•"/>
            </a:pPr>
            <a:r>
              <a:rPr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dirty="0">
                <a:latin typeface="Courier New" pitchFamily="49" charset="0"/>
                <a:cs typeface="Courier New" pitchFamily="49" charset="0"/>
              </a:rPr>
              <a:t>more file1 </a:t>
            </a:r>
            <a:br>
              <a:rPr dirty="0">
                <a:latin typeface="+mn-lt"/>
              </a:rPr>
            </a:br>
            <a:r>
              <a:rPr lang="en-US" dirty="0"/>
              <a:t>Display the output of a command or text file one page at a time. </a:t>
            </a:r>
          </a:p>
          <a:p>
            <a:pPr>
              <a:buFont typeface="Arial" pitchFamily="34" charset="0"/>
              <a:buChar char="•"/>
            </a:pPr>
            <a:r>
              <a:rPr dirty="0">
                <a:latin typeface="+mn-lt"/>
              </a:rPr>
              <a:t>Can also jump to the first occurrence of a keyword</a:t>
            </a:r>
            <a:br>
              <a:rPr dirty="0">
                <a:latin typeface="+mn-lt"/>
              </a:rPr>
            </a:br>
            <a:r>
              <a:rPr dirty="0">
                <a:latin typeface="+mn-lt"/>
              </a:rPr>
              <a:t>(/ command).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91</a:t>
            </a:fld>
            <a:endParaRPr lang="nl-NL"/>
          </a:p>
        </p:txBody>
      </p:sp>
      <p:pic>
        <p:nvPicPr>
          <p:cNvPr id="4" name="Graphic 3" descr="Key with solid fill">
            <a:extLst>
              <a:ext uri="{FF2B5EF4-FFF2-40B4-BE49-F238E27FC236}">
                <a16:creationId xmlns:a16="http://schemas.microsoft.com/office/drawing/2014/main" id="{41962C23-C3F8-DAA8-7E2B-9989CBF02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99688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>
                <a:latin typeface="Nimbus Sans L"/>
                <a:ea typeface="HG Mincho Light J"/>
                <a:cs typeface="Tahoma" pitchFamily="34" charset="0"/>
              </a:rPr>
              <a:t>Displaying</a:t>
            </a:r>
            <a:r>
              <a:rPr lang="nl-BE" dirty="0">
                <a:latin typeface="Nimbus Sans L"/>
                <a:ea typeface="HG Mincho Light J"/>
                <a:cs typeface="Tahoma" pitchFamily="34" charset="0"/>
              </a:rPr>
              <a:t> file contents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less file1 </a:t>
            </a:r>
            <a:br>
              <a:rPr lang="en-US" dirty="0"/>
            </a:br>
            <a:r>
              <a:rPr lang="en-US" dirty="0"/>
              <a:t>Does more than more.</a:t>
            </a:r>
            <a:br>
              <a:rPr lang="en-US" dirty="0"/>
            </a:br>
            <a:r>
              <a:rPr lang="en-US" dirty="0"/>
              <a:t>Doesn't read the whole file before starting.</a:t>
            </a:r>
            <a:br>
              <a:rPr lang="en-US" dirty="0"/>
            </a:br>
            <a:r>
              <a:rPr lang="en-US" dirty="0"/>
              <a:t>Supports backward movement in the file (? command).</a:t>
            </a:r>
            <a:br>
              <a:rPr lang="en-US" dirty="0"/>
            </a:br>
            <a:r>
              <a:rPr lang="en-US" dirty="0"/>
              <a:t>Supports searching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/&lt;string to search&gt;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00" lvl="1" indent="0">
              <a:spcBef>
                <a:spcPts val="0"/>
              </a:spcBef>
              <a:buNone/>
            </a:pPr>
            <a:r>
              <a:rPr lang="pl-PL" dirty="0"/>
              <a:t>Press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pl-PL" dirty="0"/>
              <a:t> to exit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92</a:t>
            </a:fld>
            <a:endParaRPr lang="nl-NL"/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A76D9921-6AC8-A563-3333-33434859E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1CED45-7F1F-565E-1452-4014FB94FFB2}"/>
              </a:ext>
            </a:extLst>
          </p:cNvPr>
          <p:cNvSpPr/>
          <p:nvPr/>
        </p:nvSpPr>
        <p:spPr>
          <a:xfrm>
            <a:off x="791063" y="5000169"/>
            <a:ext cx="568824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Less is more</a:t>
            </a:r>
            <a:endParaRPr lang="pl-PL" sz="6000" b="1" dirty="0">
              <a:ln w="9525">
                <a:solidFill>
                  <a:schemeClr val="tx2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56136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head and tail commands</a:t>
            </a:r>
          </a:p>
        </p:txBody>
      </p:sp>
      <p:sp>
        <p:nvSpPr>
          <p:cNvPr id="30723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300" dirty="0">
                <a:latin typeface="Courier New" pitchFamily="49" charset="0"/>
                <a:cs typeface="Courier New" pitchFamily="49" charset="0"/>
              </a:rPr>
              <a:t>head [-&lt;n&gt;] &lt;file&gt;</a:t>
            </a:r>
            <a:br>
              <a:rPr lang="en-US" sz="2300" dirty="0"/>
            </a:br>
            <a:r>
              <a:rPr lang="en-US" sz="2300" dirty="0"/>
              <a:t>Displays the first &lt;n&gt; lines (or 10 by default) of the given file.</a:t>
            </a:r>
            <a:br>
              <a:rPr lang="en-US" sz="2300" dirty="0"/>
            </a:br>
            <a:r>
              <a:rPr lang="en-US" sz="2300" dirty="0"/>
              <a:t>Doesn't have to open the whole file to do this!</a:t>
            </a:r>
          </a:p>
          <a:p>
            <a:r>
              <a:rPr lang="en-US" sz="23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300" dirty="0">
                <a:latin typeface="Courier New" pitchFamily="49" charset="0"/>
                <a:cs typeface="Courier New" pitchFamily="49" charset="0"/>
              </a:rPr>
              <a:t>tail [-&lt;n&gt;] &lt;file&gt;</a:t>
            </a:r>
            <a:br>
              <a:rPr lang="en-US" sz="2300" dirty="0"/>
            </a:br>
            <a:r>
              <a:rPr lang="en-US" sz="2300" dirty="0"/>
              <a:t>Displays the last &lt;n&gt; lines (or 10 by default) of the given file.</a:t>
            </a:r>
            <a:br>
              <a:rPr lang="en-US" sz="2300" dirty="0"/>
            </a:br>
            <a:r>
              <a:rPr lang="en-US" sz="2300" dirty="0"/>
              <a:t>No need to load the whole file in RAM! Very useful for huge files.</a:t>
            </a:r>
          </a:p>
          <a:p>
            <a:r>
              <a:rPr lang="en-US" sz="23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sz="2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300" dirty="0">
                <a:latin typeface="Courier New" pitchFamily="49" charset="0"/>
                <a:cs typeface="Courier New" pitchFamily="49" charset="0"/>
              </a:rPr>
              <a:t>tail -f &lt;file&gt; </a:t>
            </a:r>
            <a:r>
              <a:rPr lang="en-US" sz="2300" dirty="0"/>
              <a:t>(follow)</a:t>
            </a:r>
            <a:br>
              <a:rPr lang="en-US" sz="2300" dirty="0"/>
            </a:br>
            <a:r>
              <a:rPr lang="en-US" sz="2300" dirty="0"/>
              <a:t>Displays the last 10 lines of the given file and continues to display new lines when they are appended to the file.</a:t>
            </a:r>
            <a:br>
              <a:rPr lang="en-US" sz="2300" dirty="0"/>
            </a:br>
            <a:r>
              <a:rPr lang="en-US" sz="2300" dirty="0"/>
              <a:t>Very useful to follow the changes in a log file, for example.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93</a:t>
            </a:fld>
            <a:endParaRPr lang="nl-NL"/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A294931E-DA54-3A45-7599-FE7022DB8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03156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The grep </a:t>
            </a:r>
            <a:r>
              <a:rPr lang="nl-BE" dirty="0" err="1"/>
              <a:t>command</a:t>
            </a:r>
            <a:endParaRPr lang="nl-BE" dirty="0"/>
          </a:p>
        </p:txBody>
      </p:sp>
      <p:sp>
        <p:nvSpPr>
          <p:cNvPr id="31747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grep &lt;pattern&gt; &lt;files&gt;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Scans the given files and displays the lines which match the given pattern.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grep error *.log</a:t>
            </a:r>
            <a:br>
              <a:rPr lang="en-US" sz="2200" b="1" dirty="0">
                <a:latin typeface="+mj-lt"/>
                <a:cs typeface="Courier New" pitchFamily="49" charset="0"/>
              </a:rPr>
            </a:br>
            <a:r>
              <a:rPr lang="en-US" sz="2200" dirty="0">
                <a:latin typeface="+mj-lt"/>
              </a:rPr>
              <a:t>Displays all the lines containing error in the *.log files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grep -i error *.log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Same, but case insensitive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grep -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error .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Same, but recursively in all the files in the current directory and its subdirectories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pl-P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grep -v info *.log</a:t>
            </a:r>
            <a:br>
              <a:rPr lang="en-US" sz="2200" b="1" dirty="0">
                <a:latin typeface="+mj-lt"/>
                <a:cs typeface="Courier New" pitchFamily="49" charset="0"/>
              </a:rPr>
            </a:br>
            <a:r>
              <a:rPr lang="en-US" sz="2200" dirty="0">
                <a:latin typeface="+mj-lt"/>
              </a:rPr>
              <a:t>Outputs all the lines in the files except those containing info.</a:t>
            </a:r>
          </a:p>
          <a:p>
            <a:r>
              <a:rPr lang="en-US" sz="1600" dirty="0">
                <a:latin typeface="+mj-lt"/>
                <a:hlinkClick r:id="rId3"/>
              </a:rPr>
              <a:t>http://www.thegeekstuff.com/2009/03/15-practical-unix-grep-command-examples/</a:t>
            </a:r>
            <a:endParaRPr lang="en-US" sz="16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94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5138142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Hands-on 3</a:t>
            </a:r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95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83621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Archiving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96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47121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File Archiving: tar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Saves and restores multiple files to/from a single file. Directories followed recursively.</a:t>
            </a:r>
          </a:p>
          <a:p>
            <a:pPr eaLnBrk="1" hangingPunct="1"/>
            <a:r>
              <a:rPr lang="en-US" dirty="0"/>
              <a:t>Format: </a:t>
            </a:r>
          </a:p>
          <a:p>
            <a:pPr lvl="1"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$ tar [options] 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options_values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 [files]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 – create a new archive</a:t>
            </a:r>
          </a:p>
          <a:p>
            <a:pPr lvl="1"/>
            <a:r>
              <a:rPr lang="en-US" dirty="0"/>
              <a:t>v – verbosely list files which are processed.</a:t>
            </a:r>
          </a:p>
          <a:p>
            <a:pPr lvl="1"/>
            <a:r>
              <a:rPr lang="en-US" dirty="0"/>
              <a:t>f – following is the archive file name</a:t>
            </a:r>
          </a:p>
          <a:p>
            <a:pPr lvl="1"/>
            <a:r>
              <a:rPr lang="en-US" dirty="0"/>
              <a:t>z – filter the archive through </a:t>
            </a:r>
            <a:r>
              <a:rPr lang="en-US" dirty="0" err="1"/>
              <a:t>gzip</a:t>
            </a:r>
            <a:r>
              <a:rPr lang="pl-PL" dirty="0"/>
              <a:t> (</a:t>
            </a:r>
            <a:r>
              <a:rPr lang="pl-PL" dirty="0" err="1"/>
              <a:t>compress</a:t>
            </a:r>
            <a:r>
              <a:rPr lang="pl-PL" dirty="0"/>
              <a:t>)</a:t>
            </a:r>
            <a:endParaRPr lang="en-US" dirty="0"/>
          </a:p>
          <a:p>
            <a:pPr lvl="1"/>
            <a:r>
              <a:rPr lang="en-US" dirty="0"/>
              <a:t>x – extract files from archive</a:t>
            </a:r>
            <a:endParaRPr lang="pl-PL" dirty="0"/>
          </a:p>
          <a:p>
            <a:pPr lvl="1"/>
            <a:r>
              <a:rPr lang="pl-PL" dirty="0"/>
              <a:t>j - </a:t>
            </a:r>
            <a:r>
              <a:rPr lang="en-US" dirty="0"/>
              <a:t>filter the archive through </a:t>
            </a:r>
            <a:r>
              <a:rPr lang="pl-PL" dirty="0"/>
              <a:t>b</a:t>
            </a:r>
            <a:r>
              <a:rPr lang="en-US" dirty="0"/>
              <a:t>zip</a:t>
            </a:r>
            <a:r>
              <a:rPr lang="pl-PL" dirty="0"/>
              <a:t> (</a:t>
            </a:r>
            <a:r>
              <a:rPr lang="pl-PL" dirty="0" err="1"/>
              <a:t>compress</a:t>
            </a:r>
            <a:r>
              <a:rPr lang="pl-PL" dirty="0"/>
              <a:t>)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 eaLnBrk="1" hangingPunct="1"/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97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101737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reate Ze File, Extrakt Ze File">
            <a:extLst>
              <a:ext uri="{FF2B5EF4-FFF2-40B4-BE49-F238E27FC236}">
                <a16:creationId xmlns:a16="http://schemas.microsoft.com/office/drawing/2014/main" id="{BE29A920-78BA-7754-EC99-19B22031B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00843"/>
            <a:ext cx="3306033" cy="346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Archiving: 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349999"/>
            <a:ext cx="5688184" cy="4428000"/>
          </a:xfrm>
        </p:spPr>
        <p:txBody>
          <a:bodyPr/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Backup the specified item(s)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tar 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[FILE] [ITEM]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Compress the archive to save space 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tar 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czf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[FILE] [ITEM] </a:t>
            </a:r>
            <a:r>
              <a:rPr lang="en-US" dirty="0"/>
              <a:t>	 	</a:t>
            </a:r>
          </a:p>
          <a:p>
            <a:pPr lvl="1"/>
            <a:r>
              <a:rPr lang="en-US" dirty="0"/>
              <a:t>Restore the specified item(s) 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tar 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xzf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[FILE] [ITEM] </a:t>
            </a:r>
            <a:r>
              <a:rPr lang="en-US" dirty="0"/>
              <a:t>	</a:t>
            </a:r>
          </a:p>
          <a:p>
            <a:pPr marL="359637" lvl="1" indent="0">
              <a:buNone/>
            </a:pPr>
            <a:endParaRPr lang="en-US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98</a:t>
            </a:fld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13293-12D1-BB81-B4BB-F6B389728867}"/>
              </a:ext>
            </a:extLst>
          </p:cNvPr>
          <p:cNvSpPr txBox="1"/>
          <p:nvPr/>
        </p:nvSpPr>
        <p:spPr>
          <a:xfrm>
            <a:off x="35600" y="6008781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http://www.thegeekstuff.com/2010/04/unix-tar-command-examples/</a:t>
            </a:r>
            <a:endParaRPr lang="en-US" dirty="0"/>
          </a:p>
          <a:p>
            <a:endParaRPr lang="nl-BE" dirty="0"/>
          </a:p>
        </p:txBody>
      </p:sp>
      <p:pic>
        <p:nvPicPr>
          <p:cNvPr id="9" name="Graphic 8" descr="Key with solid fill">
            <a:extLst>
              <a:ext uri="{FF2B5EF4-FFF2-40B4-BE49-F238E27FC236}">
                <a16:creationId xmlns:a16="http://schemas.microsoft.com/office/drawing/2014/main" id="{9CB248C7-9684-171E-61BF-6171BB0E0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750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File Compression: gzip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Compressing files: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filename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l-PL" dirty="0" err="1">
                <a:latin typeface="+mn-lt"/>
                <a:cs typeface="Courier New" pitchFamily="49" charset="0"/>
              </a:rPr>
              <a:t>or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bzip2 </a:t>
            </a:r>
            <a:r>
              <a:rPr lang="pl-PL" dirty="0" err="1">
                <a:latin typeface="Courier New" pitchFamily="49" charset="0"/>
                <a:cs typeface="Courier New" pitchFamily="49" charset="0"/>
              </a:rPr>
              <a:t>filename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gzip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backup.tar</a:t>
            </a:r>
            <a:endParaRPr lang="pl-PL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bzip2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backup.tar</a:t>
            </a:r>
          </a:p>
          <a:p>
            <a:pPr lvl="1">
              <a:buNone/>
            </a:pPr>
            <a:r>
              <a:rPr lang="en-US" dirty="0"/>
              <a:t>The resulted file is backup.tar.gz</a:t>
            </a:r>
            <a:r>
              <a:rPr lang="pl-PL" dirty="0"/>
              <a:t>/</a:t>
            </a:r>
            <a:r>
              <a:rPr lang="en-US" dirty="0"/>
              <a:t> backup.tar.</a:t>
            </a:r>
            <a:r>
              <a:rPr lang="pl-PL" dirty="0"/>
              <a:t>bz2</a:t>
            </a:r>
            <a:endParaRPr lang="en-US" dirty="0"/>
          </a:p>
          <a:p>
            <a:r>
              <a:rPr lang="en-US" dirty="0"/>
              <a:t>Uncompressing files: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 filename.gz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dirty="0" err="1">
                <a:cs typeface="Courier New" pitchFamily="49" charset="0"/>
              </a:rPr>
              <a:t>or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bzip2 –d filename.bz2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gzip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–d backup.tar.gz</a:t>
            </a:r>
            <a:endParaRPr lang="pl-PL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bzip2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–d backup.tar.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bz2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dirty="0"/>
              <a:t>The uncompressed file is backup.tar</a:t>
            </a:r>
          </a:p>
          <a:p>
            <a:pPr marL="457200" lvl="1" indent="0" eaLnBrk="1" hangingPunct="1"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99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26713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03848" y="2304000"/>
            <a:ext cx="5670152" cy="1800200"/>
          </a:xfrm>
        </p:spPr>
        <p:txBody>
          <a:bodyPr/>
          <a:lstStyle/>
          <a:p>
            <a:r>
              <a:rPr lang="nl-BE" dirty="0"/>
              <a:t>Users, </a:t>
            </a:r>
            <a:r>
              <a:rPr lang="nl-BE" dirty="0" err="1"/>
              <a:t>groups</a:t>
            </a:r>
            <a:r>
              <a:rPr lang="nl-BE" dirty="0"/>
              <a:t> &amp; security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100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35793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B45-27B3-499C-9669-C2CDED44166A}" type="slidenum">
              <a:rPr lang="zh-TW" altLang="en-US"/>
              <a:pPr/>
              <a:t>101</a:t>
            </a:fld>
            <a:endParaRPr lang="en-US" altLang="zh-TW"/>
          </a:p>
        </p:txBody>
      </p:sp>
      <p:sp>
        <p:nvSpPr>
          <p:cNvPr id="10" name="Title 4"/>
          <p:cNvSpPr txBox="1">
            <a:spLocks/>
          </p:cNvSpPr>
          <p:nvPr/>
        </p:nvSpPr>
        <p:spPr>
          <a:xfrm>
            <a:off x="540000" y="180000"/>
            <a:ext cx="8334000" cy="9000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rgbClr val="52BDEC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nl-BE" dirty="0"/>
              <a:t>File access </a:t>
            </a:r>
            <a:r>
              <a:rPr lang="nl-BE" dirty="0" err="1"/>
              <a:t>rights</a:t>
            </a:r>
            <a:endParaRPr lang="en-US" dirty="0"/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540000" y="1349999"/>
            <a:ext cx="8334000" cy="4428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spcBef>
                <a:spcPts val="580"/>
              </a:spcBef>
              <a:buSzPct val="110000"/>
              <a:buFont typeface="Arial" pitchFamily="34" charset="0"/>
              <a:buChar char="•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20000" indent="-360363" algn="l" defTabSz="914400" rtl="0" eaLnBrk="1" latinLnBrk="0" hangingPunct="1">
              <a:spcBef>
                <a:spcPts val="580"/>
              </a:spcBef>
              <a:buSzPct val="75000"/>
              <a:buFont typeface="Courier New" pitchFamily="49" charset="0"/>
              <a:buChar char="o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90000" indent="-2700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168400" indent="-180000" algn="l" defTabSz="914400" rtl="0" eaLnBrk="1" latinLnBrk="0" hangingPunct="1">
              <a:spcBef>
                <a:spcPts val="380"/>
              </a:spcBef>
              <a:buSzPct val="80000"/>
              <a:buFont typeface="Arial" pitchFamily="34" charset="0"/>
              <a:buChar char="•"/>
              <a:defRPr sz="16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338263" indent="-179388" algn="l" defTabSz="914400" rtl="0" eaLnBrk="1" latinLnBrk="0" hangingPunct="1">
              <a:spcBef>
                <a:spcPts val="380"/>
              </a:spcBef>
              <a:buFont typeface="Arial" pitchFamily="34" charset="0"/>
              <a:buChar char="-"/>
              <a:defRPr lang="nl-BE" sz="1600" kern="1200" dirty="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pl-PL" dirty="0"/>
              <a:t>Linux File Access Privilege</a:t>
            </a:r>
            <a:endParaRPr lang="en-US" b="1" dirty="0"/>
          </a:p>
          <a:p>
            <a:r>
              <a:rPr lang="en-US" dirty="0"/>
              <a:t>Linux is a multiuser system, the files of all users are stored in a single file structure</a:t>
            </a:r>
          </a:p>
          <a:p>
            <a:r>
              <a:rPr lang="en-US" dirty="0"/>
              <a:t>Mechanism is required to restrict one user to access the files of another user, if he is not supposed to</a:t>
            </a:r>
          </a:p>
          <a:p>
            <a:r>
              <a:rPr lang="en-US" dirty="0"/>
              <a:t>User can impose access permission to each file to restrict its access</a:t>
            </a:r>
          </a:p>
          <a:p>
            <a:r>
              <a:rPr lang="en-US" dirty="0"/>
              <a:t>The term “access permission” refers to</a:t>
            </a:r>
          </a:p>
          <a:p>
            <a:pPr lvl="1"/>
            <a:r>
              <a:rPr lang="en-US" dirty="0"/>
              <a:t>read permission</a:t>
            </a:r>
          </a:p>
          <a:p>
            <a:pPr lvl="1"/>
            <a:r>
              <a:rPr lang="en-US" dirty="0"/>
              <a:t>write permission</a:t>
            </a:r>
          </a:p>
          <a:p>
            <a:pPr lvl="1"/>
            <a:r>
              <a:rPr lang="en-US" dirty="0"/>
              <a:t>execute permission</a:t>
            </a:r>
          </a:p>
        </p:txBody>
      </p:sp>
    </p:spTree>
    <p:extLst>
      <p:ext uri="{BB962C8B-B14F-4D97-AF65-F5344CB8AC3E}">
        <p14:creationId xmlns:p14="http://schemas.microsoft.com/office/powerpoint/2010/main" val="25361860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File access rights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 types of </a:t>
            </a:r>
            <a:r>
              <a:rPr lang="en-US" b="1" dirty="0"/>
              <a:t>access rights</a:t>
            </a:r>
          </a:p>
          <a:p>
            <a:r>
              <a:rPr lang="en-US" dirty="0"/>
              <a:t>Read access (r)</a:t>
            </a:r>
          </a:p>
          <a:p>
            <a:pPr lvl="1"/>
            <a:r>
              <a:rPr lang="en-US" dirty="0"/>
              <a:t>reading, opening, viewing, and copying the file is allowed</a:t>
            </a:r>
          </a:p>
          <a:p>
            <a:r>
              <a:rPr lang="en-US" dirty="0"/>
              <a:t>Write access (w)</a:t>
            </a:r>
          </a:p>
          <a:p>
            <a:pPr lvl="1"/>
            <a:r>
              <a:rPr lang="en-US" dirty="0"/>
              <a:t>writing, changing, deleting, and saving the file is allowed</a:t>
            </a:r>
          </a:p>
          <a:p>
            <a:r>
              <a:rPr lang="en-US" dirty="0"/>
              <a:t>Execute rights (x)</a:t>
            </a:r>
          </a:p>
          <a:p>
            <a:pPr lvl="1"/>
            <a:r>
              <a:rPr lang="en-US" dirty="0"/>
              <a:t>executing and invoking the file is allowed. This is required for directories to allow searching and access.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Use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-l </a:t>
            </a:r>
            <a:r>
              <a:rPr lang="en-US" i="1" dirty="0"/>
              <a:t>to check file access rights</a:t>
            </a:r>
          </a:p>
          <a:p>
            <a:endParaRPr lang="en-US" dirty="0"/>
          </a:p>
          <a:p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102</a:t>
            </a:fld>
            <a:endParaRPr lang="nl-NL"/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0D7097EC-0411-07FC-7DD3-3936EBBC1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2127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File access </a:t>
            </a:r>
            <a:r>
              <a:rPr lang="nl-BE" dirty="0" err="1"/>
              <a:t>rights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 types of </a:t>
            </a:r>
            <a:r>
              <a:rPr lang="en-US" b="1" dirty="0"/>
              <a:t>access levels</a:t>
            </a:r>
          </a:p>
          <a:p>
            <a:r>
              <a:rPr lang="en-US" dirty="0"/>
              <a:t>User (u): for the owner of the file</a:t>
            </a:r>
          </a:p>
          <a:p>
            <a:r>
              <a:rPr lang="en-US" dirty="0"/>
              <a:t>Group (g): each file also has a “group” attribute, corresponding to a given list of users</a:t>
            </a:r>
          </a:p>
          <a:p>
            <a:r>
              <a:rPr lang="en-US" dirty="0"/>
              <a:t>Others (o): for all other users</a:t>
            </a:r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823083"/>
            <a:ext cx="4032448" cy="236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103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476748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E688-50BB-4B3D-845C-28359C7C54E4}" type="slidenum">
              <a:rPr lang="zh-TW" altLang="en-US"/>
              <a:pPr/>
              <a:t>104</a:t>
            </a:fld>
            <a:endParaRPr lang="en-US" altLang="zh-TW"/>
          </a:p>
        </p:txBody>
      </p:sp>
      <p:sp>
        <p:nvSpPr>
          <p:cNvPr id="264199" name="Text Box 7"/>
          <p:cNvSpPr txBox="1">
            <a:spLocks noChangeArrowheads="1"/>
          </p:cNvSpPr>
          <p:nvPr/>
        </p:nvSpPr>
        <p:spPr bwMode="auto">
          <a:xfrm>
            <a:off x="1676400" y="2133600"/>
            <a:ext cx="59340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b="1" u="sng" dirty="0">
                <a:solidFill>
                  <a:srgbClr val="FF3300"/>
                </a:solidFill>
                <a:ea typeface="新細明體" panose="02020500000000000000" pitchFamily="18" charset="-120"/>
              </a:rPr>
              <a:t>d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b="1" u="sng" dirty="0" err="1">
                <a:solidFill>
                  <a:srgbClr val="FF3300"/>
                </a:solidFill>
                <a:ea typeface="新細明體" panose="02020500000000000000" pitchFamily="18" charset="-120"/>
              </a:rPr>
              <a:t>rwx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b="1" u="sng" dirty="0">
                <a:solidFill>
                  <a:srgbClr val="FF3300"/>
                </a:solidFill>
                <a:ea typeface="新細明體" panose="02020500000000000000" pitchFamily="18" charset="-120"/>
              </a:rPr>
              <a:t>r-x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b="1" u="sng" dirty="0" err="1">
                <a:solidFill>
                  <a:srgbClr val="FF3300"/>
                </a:solidFill>
                <a:ea typeface="新細明體" panose="02020500000000000000" pitchFamily="18" charset="-120"/>
              </a:rPr>
              <a:t>r-x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  </a:t>
            </a:r>
            <a:r>
              <a:rPr lang="en-US" altLang="zh-TW" b="1" u="sng" dirty="0">
                <a:solidFill>
                  <a:srgbClr val="FF3300"/>
                </a:solidFill>
                <a:ea typeface="新細明體" panose="02020500000000000000" pitchFamily="18" charset="-120"/>
              </a:rPr>
              <a:t>2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 </a:t>
            </a:r>
            <a:r>
              <a:rPr lang="en-US" altLang="zh-TW" b="1" u="sng" dirty="0" err="1">
                <a:solidFill>
                  <a:srgbClr val="FF3300"/>
                </a:solidFill>
                <a:ea typeface="新細明體" panose="02020500000000000000" pitchFamily="18" charset="-120"/>
              </a:rPr>
              <a:t>wva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b="1" u="sng" dirty="0" err="1">
                <a:solidFill>
                  <a:srgbClr val="FF3300"/>
                </a:solidFill>
                <a:ea typeface="新細明體" panose="02020500000000000000" pitchFamily="18" charset="-120"/>
              </a:rPr>
              <a:t>wva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b="1" u="sng" dirty="0">
                <a:solidFill>
                  <a:srgbClr val="FF3300"/>
                </a:solidFill>
                <a:ea typeface="新細明體" panose="02020500000000000000" pitchFamily="18" charset="-120"/>
              </a:rPr>
              <a:t>4096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b="1" u="sng" dirty="0">
                <a:solidFill>
                  <a:srgbClr val="FF3300"/>
                </a:solidFill>
                <a:ea typeface="新細明體" panose="02020500000000000000" pitchFamily="18" charset="-120"/>
              </a:rPr>
              <a:t>Sep 25 2025</a:t>
            </a:r>
            <a:r>
              <a:rPr lang="en-US" altLang="zh-TW" b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b="1" u="sng" dirty="0" err="1">
                <a:solidFill>
                  <a:srgbClr val="FF3300"/>
                </a:solidFill>
                <a:ea typeface="新細明體" panose="02020500000000000000" pitchFamily="18" charset="-120"/>
              </a:rPr>
              <a:t>Autostart</a:t>
            </a:r>
            <a:endParaRPr lang="en-US" altLang="zh-TW" b="1" u="sng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grpSp>
        <p:nvGrpSpPr>
          <p:cNvPr id="2" name="Groep 1"/>
          <p:cNvGrpSpPr/>
          <p:nvPr/>
        </p:nvGrpSpPr>
        <p:grpSpPr>
          <a:xfrm>
            <a:off x="228600" y="915764"/>
            <a:ext cx="8486775" cy="4889500"/>
            <a:chOff x="228600" y="914400"/>
            <a:chExt cx="8486775" cy="4889500"/>
          </a:xfrm>
        </p:grpSpPr>
        <p:sp>
          <p:nvSpPr>
            <p:cNvPr id="264200" name="Line 8"/>
            <p:cNvSpPr>
              <a:spLocks noChangeShapeType="1"/>
            </p:cNvSpPr>
            <p:nvPr/>
          </p:nvSpPr>
          <p:spPr bwMode="auto">
            <a:xfrm flipV="1">
              <a:off x="990599" y="2476499"/>
              <a:ext cx="779949" cy="647701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01" name="Text Box 9"/>
            <p:cNvSpPr txBox="1">
              <a:spLocks noChangeArrowheads="1"/>
            </p:cNvSpPr>
            <p:nvPr/>
          </p:nvSpPr>
          <p:spPr bwMode="auto">
            <a:xfrm>
              <a:off x="228600" y="2971800"/>
              <a:ext cx="12954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>
                  <a:ea typeface="新細明體" panose="02020500000000000000" pitchFamily="18" charset="-120"/>
                </a:rPr>
                <a:t>It is a directory</a:t>
              </a:r>
            </a:p>
          </p:txBody>
        </p:sp>
        <p:sp>
          <p:nvSpPr>
            <p:cNvPr id="264202" name="Line 10"/>
            <p:cNvSpPr>
              <a:spLocks noChangeShapeType="1"/>
            </p:cNvSpPr>
            <p:nvPr/>
          </p:nvSpPr>
          <p:spPr bwMode="auto">
            <a:xfrm flipV="1">
              <a:off x="2123728" y="2514600"/>
              <a:ext cx="0" cy="13716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03" name="Text Box 11"/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2286000" cy="1917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The directory can be read, written and executed by the user </a:t>
              </a:r>
              <a:r>
                <a:rPr lang="en-US" altLang="zh-TW" dirty="0" err="1">
                  <a:ea typeface="新細明體" panose="02020500000000000000" pitchFamily="18" charset="-120"/>
                </a:rPr>
                <a:t>dlun</a:t>
              </a:r>
              <a:endParaRPr lang="en-US" altLang="zh-TW" dirty="0">
                <a:ea typeface="新細明體" panose="02020500000000000000" pitchFamily="18" charset="-120"/>
              </a:endParaRPr>
            </a:p>
          </p:txBody>
        </p:sp>
        <p:sp>
          <p:nvSpPr>
            <p:cNvPr id="264204" name="Line 12"/>
            <p:cNvSpPr>
              <a:spLocks noChangeShapeType="1"/>
            </p:cNvSpPr>
            <p:nvPr/>
          </p:nvSpPr>
          <p:spPr bwMode="auto">
            <a:xfrm flipH="1" flipV="1">
              <a:off x="2601566" y="2509837"/>
              <a:ext cx="741362" cy="128428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05" name="Text Box 13"/>
            <p:cNvSpPr txBox="1">
              <a:spLocks noChangeArrowheads="1"/>
            </p:cNvSpPr>
            <p:nvPr/>
          </p:nvSpPr>
          <p:spPr bwMode="auto">
            <a:xfrm>
              <a:off x="2819400" y="3844925"/>
              <a:ext cx="2743200" cy="1917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The directory can be read and executed but not written by other users in the same group of </a:t>
              </a:r>
              <a:r>
                <a:rPr lang="en-US" altLang="zh-TW" dirty="0" err="1">
                  <a:ea typeface="新細明體" panose="02020500000000000000" pitchFamily="18" charset="-120"/>
                </a:rPr>
                <a:t>dlun</a:t>
              </a:r>
              <a:endParaRPr lang="en-US" altLang="zh-TW" dirty="0">
                <a:ea typeface="新細明體" panose="02020500000000000000" pitchFamily="18" charset="-120"/>
              </a:endParaRPr>
            </a:p>
          </p:txBody>
        </p:sp>
        <p:sp>
          <p:nvSpPr>
            <p:cNvPr id="264206" name="Text Box 14"/>
            <p:cNvSpPr txBox="1">
              <a:spLocks noChangeArrowheads="1"/>
            </p:cNvSpPr>
            <p:nvPr/>
          </p:nvSpPr>
          <p:spPr bwMode="auto">
            <a:xfrm>
              <a:off x="5638800" y="3810000"/>
              <a:ext cx="2971800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The directory can be read and executed but not written by any other users</a:t>
              </a:r>
            </a:p>
          </p:txBody>
        </p:sp>
        <p:sp>
          <p:nvSpPr>
            <p:cNvPr id="264207" name="Line 15"/>
            <p:cNvSpPr>
              <a:spLocks noChangeShapeType="1"/>
            </p:cNvSpPr>
            <p:nvPr/>
          </p:nvSpPr>
          <p:spPr bwMode="auto">
            <a:xfrm flipH="1" flipV="1">
              <a:off x="2991612" y="2476499"/>
              <a:ext cx="2799588" cy="1368425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08" name="Text Box 16"/>
            <p:cNvSpPr txBox="1">
              <a:spLocks noChangeArrowheads="1"/>
            </p:cNvSpPr>
            <p:nvPr/>
          </p:nvSpPr>
          <p:spPr bwMode="auto">
            <a:xfrm>
              <a:off x="3048000" y="1295400"/>
              <a:ext cx="1295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Owner</a:t>
              </a:r>
            </a:p>
          </p:txBody>
        </p:sp>
        <p:sp>
          <p:nvSpPr>
            <p:cNvPr id="264209" name="Line 17"/>
            <p:cNvSpPr>
              <a:spLocks noChangeShapeType="1"/>
            </p:cNvSpPr>
            <p:nvPr/>
          </p:nvSpPr>
          <p:spPr bwMode="auto">
            <a:xfrm>
              <a:off x="3429000" y="1613400"/>
              <a:ext cx="266700" cy="54083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10" name="Text Box 18"/>
            <p:cNvSpPr txBox="1">
              <a:spLocks noChangeArrowheads="1"/>
            </p:cNvSpPr>
            <p:nvPr/>
          </p:nvSpPr>
          <p:spPr bwMode="auto">
            <a:xfrm>
              <a:off x="4572000" y="1143000"/>
              <a:ext cx="12954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Owner’s group</a:t>
              </a:r>
            </a:p>
          </p:txBody>
        </p:sp>
        <p:sp>
          <p:nvSpPr>
            <p:cNvPr id="264211" name="Line 19"/>
            <p:cNvSpPr>
              <a:spLocks noChangeShapeType="1"/>
            </p:cNvSpPr>
            <p:nvPr/>
          </p:nvSpPr>
          <p:spPr bwMode="auto">
            <a:xfrm flipH="1">
              <a:off x="4380500" y="1752600"/>
              <a:ext cx="420099" cy="457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12" name="Text Box 20"/>
            <p:cNvSpPr txBox="1">
              <a:spLocks noChangeArrowheads="1"/>
            </p:cNvSpPr>
            <p:nvPr/>
          </p:nvSpPr>
          <p:spPr bwMode="auto">
            <a:xfrm>
              <a:off x="5775325" y="3013075"/>
              <a:ext cx="11382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file size</a:t>
              </a:r>
            </a:p>
          </p:txBody>
        </p:sp>
        <p:sp>
          <p:nvSpPr>
            <p:cNvPr id="264213" name="Line 21"/>
            <p:cNvSpPr>
              <a:spLocks noChangeShapeType="1"/>
            </p:cNvSpPr>
            <p:nvPr/>
          </p:nvSpPr>
          <p:spPr bwMode="auto">
            <a:xfrm flipH="1" flipV="1">
              <a:off x="4920996" y="2481706"/>
              <a:ext cx="897968" cy="566293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14" name="Text Box 22"/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20574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File last modified date</a:t>
              </a:r>
            </a:p>
          </p:txBody>
        </p:sp>
        <p:sp>
          <p:nvSpPr>
            <p:cNvPr id="264215" name="Line 23"/>
            <p:cNvSpPr>
              <a:spLocks noChangeShapeType="1"/>
            </p:cNvSpPr>
            <p:nvPr/>
          </p:nvSpPr>
          <p:spPr bwMode="auto">
            <a:xfrm flipH="1">
              <a:off x="5945599" y="1502275"/>
              <a:ext cx="967963" cy="631325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16" name="Text Box 24"/>
            <p:cNvSpPr txBox="1">
              <a:spLocks noChangeArrowheads="1"/>
            </p:cNvSpPr>
            <p:nvPr/>
          </p:nvSpPr>
          <p:spPr bwMode="auto">
            <a:xfrm>
              <a:off x="1752600" y="1219200"/>
              <a:ext cx="1219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Hard link no</a:t>
              </a:r>
            </a:p>
          </p:txBody>
        </p:sp>
        <p:sp>
          <p:nvSpPr>
            <p:cNvPr id="264217" name="Line 25"/>
            <p:cNvSpPr>
              <a:spLocks noChangeShapeType="1"/>
            </p:cNvSpPr>
            <p:nvPr/>
          </p:nvSpPr>
          <p:spPr bwMode="auto">
            <a:xfrm>
              <a:off x="2286000" y="1600200"/>
              <a:ext cx="914400" cy="5368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64218" name="Text Box 26"/>
            <p:cNvSpPr txBox="1">
              <a:spLocks noChangeArrowheads="1"/>
            </p:cNvSpPr>
            <p:nvPr/>
          </p:nvSpPr>
          <p:spPr bwMode="auto">
            <a:xfrm>
              <a:off x="7391400" y="3048000"/>
              <a:ext cx="13239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file name</a:t>
              </a:r>
            </a:p>
          </p:txBody>
        </p:sp>
        <p:sp>
          <p:nvSpPr>
            <p:cNvPr id="264219" name="Line 27"/>
            <p:cNvSpPr>
              <a:spLocks noChangeShapeType="1"/>
            </p:cNvSpPr>
            <p:nvPr/>
          </p:nvSpPr>
          <p:spPr bwMode="auto">
            <a:xfrm flipH="1" flipV="1">
              <a:off x="7419164" y="2511552"/>
              <a:ext cx="465204" cy="53644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</p:grpSp>
      <p:sp>
        <p:nvSpPr>
          <p:cNvPr id="264220" name="Text Box 28"/>
          <p:cNvSpPr txBox="1">
            <a:spLocks noChangeArrowheads="1"/>
          </p:cNvSpPr>
          <p:nvPr/>
        </p:nvSpPr>
        <p:spPr bwMode="auto">
          <a:xfrm>
            <a:off x="228600" y="5337175"/>
            <a:ext cx="5638800" cy="6463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ea typeface="新細明體" panose="02020500000000000000" pitchFamily="18" charset="-120"/>
              </a:rPr>
              <a:t>The group of a user is assigned by the administrator when a user is added to the system</a:t>
            </a:r>
          </a:p>
        </p:txBody>
      </p:sp>
      <p:sp>
        <p:nvSpPr>
          <p:cNvPr id="30" name="Title 4"/>
          <p:cNvSpPr txBox="1">
            <a:spLocks/>
          </p:cNvSpPr>
          <p:nvPr/>
        </p:nvSpPr>
        <p:spPr>
          <a:xfrm>
            <a:off x="540000" y="180000"/>
            <a:ext cx="8334000" cy="9000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rgbClr val="52BDEC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nl-BE" dirty="0"/>
              <a:t>File access </a:t>
            </a:r>
            <a:r>
              <a:rPr lang="nl-BE" dirty="0" err="1"/>
              <a:t>rights</a:t>
            </a:r>
            <a:endParaRPr lang="en-US" dirty="0"/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4D7B6FB5-DAAF-33B9-C779-0560017D1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6096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B45-27B3-499C-9669-C2CDED44166A}" type="slidenum">
              <a:rPr lang="zh-TW" altLang="en-US"/>
              <a:pPr/>
              <a:t>105</a:t>
            </a:fld>
            <a:endParaRPr lang="en-US" altLang="zh-TW"/>
          </a:p>
        </p:txBody>
      </p:sp>
      <p:sp>
        <p:nvSpPr>
          <p:cNvPr id="10" name="Title 4"/>
          <p:cNvSpPr txBox="1">
            <a:spLocks/>
          </p:cNvSpPr>
          <p:nvPr/>
        </p:nvSpPr>
        <p:spPr>
          <a:xfrm>
            <a:off x="540000" y="180000"/>
            <a:ext cx="8334000" cy="9000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rgbClr val="52BDEC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nl-BE" dirty="0"/>
              <a:t>File access </a:t>
            </a:r>
            <a:r>
              <a:rPr lang="nl-BE" dirty="0" err="1"/>
              <a:t>rights</a:t>
            </a:r>
            <a:endParaRPr lang="en-US" dirty="0"/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540000" y="1349999"/>
            <a:ext cx="8334000" cy="4428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spcBef>
                <a:spcPts val="580"/>
              </a:spcBef>
              <a:buSzPct val="110000"/>
              <a:buFont typeface="Arial" pitchFamily="34" charset="0"/>
              <a:buChar char="•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20000" indent="-360363" algn="l" defTabSz="914400" rtl="0" eaLnBrk="1" latinLnBrk="0" hangingPunct="1">
              <a:spcBef>
                <a:spcPts val="580"/>
              </a:spcBef>
              <a:buSzPct val="75000"/>
              <a:buFont typeface="Courier New" pitchFamily="49" charset="0"/>
              <a:buChar char="o"/>
              <a:defRPr sz="24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90000" indent="-2700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168400" indent="-180000" algn="l" defTabSz="914400" rtl="0" eaLnBrk="1" latinLnBrk="0" hangingPunct="1">
              <a:spcBef>
                <a:spcPts val="380"/>
              </a:spcBef>
              <a:buSzPct val="80000"/>
              <a:buFont typeface="Arial" pitchFamily="34" charset="0"/>
              <a:buChar char="•"/>
              <a:defRPr sz="1600" kern="120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338263" indent="-179388" algn="l" defTabSz="914400" rtl="0" eaLnBrk="1" latinLnBrk="0" hangingPunct="1">
              <a:spcBef>
                <a:spcPts val="380"/>
              </a:spcBef>
              <a:buFont typeface="Arial" pitchFamily="34" charset="0"/>
              <a:buChar char="-"/>
              <a:defRPr lang="nl-BE" sz="1600" kern="1200" dirty="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Access permission can also be assigned to a directory</a:t>
            </a:r>
          </a:p>
          <a:p>
            <a:r>
              <a:rPr lang="en-US" sz="2200" dirty="0"/>
              <a:t>Directory is also a file that contains the attributes of the files inside it</a:t>
            </a:r>
          </a:p>
          <a:p>
            <a:r>
              <a:rPr lang="en-US" sz="2200" dirty="0"/>
              <a:t>If read permission is not given to a directory</a:t>
            </a:r>
          </a:p>
          <a:p>
            <a:pPr lvl="1"/>
            <a:r>
              <a:rPr lang="en-US" sz="2200" dirty="0"/>
              <a:t>cannot show the structure of this directory </a:t>
            </a:r>
          </a:p>
          <a:p>
            <a:pPr lvl="1"/>
            <a:r>
              <a:rPr lang="en-US" sz="2200" dirty="0"/>
              <a:t>e.g. cannot use </a:t>
            </a:r>
            <a:r>
              <a:rPr lang="en-US" sz="2200" dirty="0" err="1"/>
              <a:t>ls</a:t>
            </a:r>
            <a:endParaRPr lang="en-US" sz="2200" dirty="0"/>
          </a:p>
          <a:p>
            <a:r>
              <a:rPr lang="en-US" sz="2200" dirty="0"/>
              <a:t>If write permission is not given to a directory</a:t>
            </a:r>
          </a:p>
          <a:p>
            <a:pPr lvl="1"/>
            <a:r>
              <a:rPr lang="en-US" sz="2200" dirty="0"/>
              <a:t>cannot modify anything of the directory structure</a:t>
            </a:r>
          </a:p>
          <a:p>
            <a:pPr lvl="1"/>
            <a:r>
              <a:rPr lang="en-US" sz="2200" dirty="0"/>
              <a:t>e.g. cannot copy a file into this directory since it will modify the directory structure by adding one more file</a:t>
            </a:r>
          </a:p>
          <a:p>
            <a:r>
              <a:rPr lang="en-US" sz="2200" dirty="0"/>
              <a:t>If execute permission is not given to a directory</a:t>
            </a:r>
          </a:p>
          <a:p>
            <a:pPr lvl="1"/>
            <a:r>
              <a:rPr lang="en-US" sz="2200" dirty="0"/>
              <a:t>nearly nothing can be done with this directory, even cd</a:t>
            </a:r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9FE383D3-4405-3E4F-3956-6C4C623D1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976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Access </a:t>
            </a:r>
            <a:r>
              <a:rPr lang="nl-BE" dirty="0" err="1"/>
              <a:t>rights</a:t>
            </a:r>
            <a:r>
              <a:rPr lang="nl-BE" dirty="0"/>
              <a:t> </a:t>
            </a:r>
            <a:r>
              <a:rPr lang="nl-BE" dirty="0" err="1"/>
              <a:t>examples</a:t>
            </a:r>
            <a:endParaRPr lang="nl-BE" dirty="0"/>
          </a:p>
        </p:txBody>
      </p:sp>
      <p:sp>
        <p:nvSpPr>
          <p:cNvPr id="48131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rw</a:t>
            </a:r>
            <a:r>
              <a:rPr lang="en-US" dirty="0"/>
              <a:t>-r--r--</a:t>
            </a:r>
            <a:br>
              <a:rPr lang="en-US" dirty="0"/>
            </a:br>
            <a:r>
              <a:rPr lang="en-US" dirty="0"/>
              <a:t>Readable and writable for file owner, only readable for others</a:t>
            </a:r>
          </a:p>
          <a:p>
            <a:r>
              <a:rPr lang="en-US" dirty="0"/>
              <a:t>-</a:t>
            </a:r>
            <a:r>
              <a:rPr lang="en-US" dirty="0" err="1"/>
              <a:t>rw</a:t>
            </a:r>
            <a:r>
              <a:rPr lang="en-US" dirty="0"/>
              <a:t>-r-----</a:t>
            </a:r>
            <a:br>
              <a:rPr lang="en-US" dirty="0"/>
            </a:br>
            <a:r>
              <a:rPr lang="en-US" dirty="0"/>
              <a:t>Readable and writable for file owner, only readable for users belonging to the file group.</a:t>
            </a:r>
          </a:p>
          <a:p>
            <a:r>
              <a:rPr lang="en-US" dirty="0" err="1"/>
              <a:t>drwx</a:t>
            </a:r>
            <a:r>
              <a:rPr lang="en-US" dirty="0"/>
              <a:t>------</a:t>
            </a:r>
            <a:br>
              <a:rPr lang="en-US" dirty="0"/>
            </a:br>
            <a:r>
              <a:rPr lang="en-US" dirty="0"/>
              <a:t>Directory only accessible by its owner</a:t>
            </a:r>
          </a:p>
          <a:p>
            <a:r>
              <a:rPr lang="en-US" dirty="0"/>
              <a:t>-------r-x</a:t>
            </a:r>
            <a:br>
              <a:rPr lang="en-US" dirty="0"/>
            </a:br>
            <a:r>
              <a:rPr lang="en-US" dirty="0"/>
              <a:t>File executable by others but neither by your friends nor by yourself. Nice protections for a trap...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106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188049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C32-06E3-47C7-A729-D238FA5E4B1E}" type="slidenum">
              <a:rPr lang="zh-TW" altLang="en-US"/>
              <a:pPr/>
              <a:t>107</a:t>
            </a:fld>
            <a:endParaRPr lang="en-US" altLang="zh-TW"/>
          </a:p>
        </p:txBody>
      </p:sp>
      <p:grpSp>
        <p:nvGrpSpPr>
          <p:cNvPr id="2" name="Groep 1"/>
          <p:cNvGrpSpPr/>
          <p:nvPr/>
        </p:nvGrpSpPr>
        <p:grpSpPr>
          <a:xfrm>
            <a:off x="76200" y="1066800"/>
            <a:ext cx="8991600" cy="5707063"/>
            <a:chOff x="76200" y="1066800"/>
            <a:chExt cx="8991600" cy="5707063"/>
          </a:xfrm>
        </p:grpSpPr>
        <p:pic>
          <p:nvPicPr>
            <p:cNvPr id="282631" name="Picture 7" descr="chmo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17"/>
            <a:stretch>
              <a:fillRect/>
            </a:stretch>
          </p:blipFill>
          <p:spPr bwMode="auto">
            <a:xfrm>
              <a:off x="76200" y="1066800"/>
              <a:ext cx="8991600" cy="570706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</p:pic>
        <p:sp>
          <p:nvSpPr>
            <p:cNvPr id="282632" name="Text Box 8"/>
            <p:cNvSpPr txBox="1">
              <a:spLocks noChangeArrowheads="1"/>
            </p:cNvSpPr>
            <p:nvPr/>
          </p:nvSpPr>
          <p:spPr bwMode="auto">
            <a:xfrm>
              <a:off x="4022725" y="1336675"/>
              <a:ext cx="4452938" cy="4572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rgbClr val="FF3300"/>
                  </a:solidFill>
                  <a:ea typeface="新細明體" panose="02020500000000000000" pitchFamily="18" charset="-120"/>
                </a:rPr>
                <a:t>temp</a:t>
              </a:r>
              <a:r>
                <a:rPr lang="en-US" altLang="zh-TW" dirty="0">
                  <a:ea typeface="新細明體" panose="02020500000000000000" pitchFamily="18" charset="-120"/>
                </a:rPr>
                <a:t> does not have execution right</a:t>
              </a:r>
            </a:p>
          </p:txBody>
        </p:sp>
        <p:sp>
          <p:nvSpPr>
            <p:cNvPr id="282633" name="Line 9"/>
            <p:cNvSpPr>
              <a:spLocks noChangeShapeType="1"/>
            </p:cNvSpPr>
            <p:nvPr/>
          </p:nvSpPr>
          <p:spPr bwMode="auto">
            <a:xfrm flipH="1">
              <a:off x="762000" y="1905000"/>
              <a:ext cx="3276600" cy="5334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82634" name="Text Box 10"/>
            <p:cNvSpPr txBox="1">
              <a:spLocks noChangeArrowheads="1"/>
            </p:cNvSpPr>
            <p:nvPr/>
          </p:nvSpPr>
          <p:spPr bwMode="auto">
            <a:xfrm>
              <a:off x="5334000" y="2895600"/>
              <a:ext cx="3076575" cy="4572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anose="02020500000000000000" pitchFamily="18" charset="-120"/>
                </a:rPr>
                <a:t>even </a:t>
              </a:r>
              <a:r>
                <a:rPr lang="en-US" altLang="zh-TW">
                  <a:solidFill>
                    <a:srgbClr val="FF3300"/>
                  </a:solidFill>
                  <a:ea typeface="新細明體" panose="02020500000000000000" pitchFamily="18" charset="-120"/>
                </a:rPr>
                <a:t>cd</a:t>
              </a:r>
              <a:r>
                <a:rPr lang="en-US" altLang="zh-TW">
                  <a:ea typeface="新細明體" panose="02020500000000000000" pitchFamily="18" charset="-120"/>
                </a:rPr>
                <a:t> is not workable</a:t>
              </a:r>
            </a:p>
          </p:txBody>
        </p:sp>
        <p:sp>
          <p:nvSpPr>
            <p:cNvPr id="282635" name="Line 11"/>
            <p:cNvSpPr>
              <a:spLocks noChangeShapeType="1"/>
            </p:cNvSpPr>
            <p:nvPr/>
          </p:nvSpPr>
          <p:spPr bwMode="auto">
            <a:xfrm flipH="1">
              <a:off x="3657600" y="3200400"/>
              <a:ext cx="1524000" cy="1524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82636" name="Text Box 12"/>
            <p:cNvSpPr txBox="1">
              <a:spLocks noChangeArrowheads="1"/>
            </p:cNvSpPr>
            <p:nvPr/>
          </p:nvSpPr>
          <p:spPr bwMode="auto">
            <a:xfrm>
              <a:off x="5334000" y="3810000"/>
              <a:ext cx="3100388" cy="4572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anose="02020500000000000000" pitchFamily="18" charset="-120"/>
                </a:rPr>
                <a:t>execution right is added</a:t>
              </a:r>
            </a:p>
          </p:txBody>
        </p:sp>
        <p:sp>
          <p:nvSpPr>
            <p:cNvPr id="282637" name="Line 13"/>
            <p:cNvSpPr>
              <a:spLocks noChangeShapeType="1"/>
            </p:cNvSpPr>
            <p:nvPr/>
          </p:nvSpPr>
          <p:spPr bwMode="auto">
            <a:xfrm flipH="1">
              <a:off x="4495800" y="3962400"/>
              <a:ext cx="685800" cy="1524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82638" name="Text Box 14"/>
            <p:cNvSpPr txBox="1">
              <a:spLocks noChangeArrowheads="1"/>
            </p:cNvSpPr>
            <p:nvPr/>
          </p:nvSpPr>
          <p:spPr bwMode="auto">
            <a:xfrm>
              <a:off x="3657600" y="5867400"/>
              <a:ext cx="5197475" cy="4572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anose="02020500000000000000" pitchFamily="18" charset="-120"/>
                </a:rPr>
                <a:t>now we can change the directory to </a:t>
              </a:r>
              <a:r>
                <a:rPr lang="en-US" altLang="zh-TW">
                  <a:solidFill>
                    <a:srgbClr val="FF3300"/>
                  </a:solidFill>
                  <a:ea typeface="新細明體" panose="02020500000000000000" pitchFamily="18" charset="-120"/>
                </a:rPr>
                <a:t>temp</a:t>
              </a:r>
            </a:p>
          </p:txBody>
        </p:sp>
        <p:sp>
          <p:nvSpPr>
            <p:cNvPr id="282639" name="Line 15"/>
            <p:cNvSpPr>
              <a:spLocks noChangeShapeType="1"/>
            </p:cNvSpPr>
            <p:nvPr/>
          </p:nvSpPr>
          <p:spPr bwMode="auto">
            <a:xfrm flipH="1">
              <a:off x="762000" y="4267200"/>
              <a:ext cx="4419600" cy="838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82640" name="Line 16"/>
            <p:cNvSpPr>
              <a:spLocks noChangeShapeType="1"/>
            </p:cNvSpPr>
            <p:nvPr/>
          </p:nvSpPr>
          <p:spPr bwMode="auto">
            <a:xfrm flipH="1" flipV="1">
              <a:off x="2362200" y="5867400"/>
              <a:ext cx="1143000" cy="3048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82641" name="Line 17"/>
            <p:cNvSpPr>
              <a:spLocks noChangeShapeType="1"/>
            </p:cNvSpPr>
            <p:nvPr/>
          </p:nvSpPr>
          <p:spPr bwMode="auto">
            <a:xfrm flipH="1" flipV="1">
              <a:off x="3124200" y="5638800"/>
              <a:ext cx="381000" cy="3810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282642" name="Line 18"/>
            <p:cNvSpPr>
              <a:spLocks noChangeShapeType="1"/>
            </p:cNvSpPr>
            <p:nvPr/>
          </p:nvSpPr>
          <p:spPr bwMode="auto">
            <a:xfrm>
              <a:off x="3505200" y="4267200"/>
              <a:ext cx="30480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</p:grpSp>
      <p:sp>
        <p:nvSpPr>
          <p:cNvPr id="20" name="Titel 1"/>
          <p:cNvSpPr txBox="1">
            <a:spLocks/>
          </p:cNvSpPr>
          <p:nvPr/>
        </p:nvSpPr>
        <p:spPr>
          <a:xfrm>
            <a:off x="540000" y="180000"/>
            <a:ext cx="8334000" cy="9000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rgbClr val="52BDEC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nl-BE"/>
              <a:t>Access rights examples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3137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chmod: changing permissions</a:t>
            </a:r>
          </a:p>
        </p:txBody>
      </p:sp>
      <p:sp>
        <p:nvSpPr>
          <p:cNvPr id="49155" name="Tijdelijke aanduiding voor tekst 2"/>
          <p:cNvSpPr txBox="1">
            <a:spLocks noGrp="1"/>
          </p:cNvSpPr>
          <p:nvPr>
            <p:ph idx="1"/>
          </p:nvPr>
        </p:nvSpPr>
        <p:spPr>
          <a:xfrm>
            <a:off x="467544" y="1440000"/>
            <a:ext cx="8424936" cy="4678362"/>
          </a:xfrm>
        </p:spPr>
        <p:txBody>
          <a:bodyPr/>
          <a:lstStyle/>
          <a:p>
            <a:r>
              <a:rPr lang="en-US" dirty="0"/>
              <a:t>Permissions allow you to share </a:t>
            </a:r>
            <a:r>
              <a:rPr lang="en-US" b="1" dirty="0"/>
              <a:t>files and directories </a:t>
            </a:r>
            <a:r>
              <a:rPr lang="en-US" dirty="0"/>
              <a:t>or to lock them down to be private.</a:t>
            </a:r>
          </a:p>
          <a:p>
            <a:r>
              <a:rPr lang="pl-PL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chmod</a:t>
            </a:r>
            <a:r>
              <a:rPr lang="en-US" dirty="0"/>
              <a:t> (change mode)</a:t>
            </a:r>
          </a:p>
          <a:p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chmod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&lt;permissions&gt; &lt;files&gt;</a:t>
            </a:r>
          </a:p>
          <a:p>
            <a:pPr marL="0" indent="0">
              <a:buNone/>
            </a:pPr>
            <a:endParaRPr lang="nl-BE" dirty="0">
              <a:latin typeface="Courier New" pitchFamily="49" charset="0"/>
              <a:cs typeface="Courier New" pitchFamily="49" charset="0"/>
            </a:endParaRPr>
          </a:p>
          <a:p>
            <a:r>
              <a:rPr lang="nl-BE" dirty="0"/>
              <a:t>2 formats for </a:t>
            </a:r>
            <a:r>
              <a:rPr lang="nl-BE" dirty="0" err="1"/>
              <a:t>permissions</a:t>
            </a:r>
            <a:r>
              <a:rPr lang="nl-BE" dirty="0"/>
              <a:t>:</a:t>
            </a:r>
          </a:p>
          <a:p>
            <a:pPr lvl="1"/>
            <a:r>
              <a:rPr lang="nl-BE" b="1" dirty="0" err="1"/>
              <a:t>symbolic</a:t>
            </a:r>
            <a:r>
              <a:rPr lang="nl-BE" dirty="0"/>
              <a:t> format</a:t>
            </a:r>
          </a:p>
          <a:p>
            <a:pPr lvl="2"/>
            <a:r>
              <a:rPr lang="nl-BE" dirty="0"/>
              <a:t>More practical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b="1" dirty="0"/>
              <a:t>updating </a:t>
            </a:r>
            <a:r>
              <a:rPr lang="nl-BE" dirty="0" err="1"/>
              <a:t>permissions</a:t>
            </a:r>
            <a:r>
              <a:rPr lang="nl-BE" dirty="0"/>
              <a:t> (</a:t>
            </a:r>
            <a:r>
              <a:rPr lang="nl-BE" dirty="0" err="1"/>
              <a:t>add</a:t>
            </a:r>
            <a:r>
              <a:rPr lang="nl-BE" dirty="0"/>
              <a:t> or </a:t>
            </a:r>
            <a:r>
              <a:rPr lang="nl-BE" dirty="0" err="1"/>
              <a:t>remove</a:t>
            </a:r>
            <a:r>
              <a:rPr lang="nl-BE" dirty="0"/>
              <a:t>)</a:t>
            </a:r>
          </a:p>
          <a:p>
            <a:pPr lvl="1"/>
            <a:r>
              <a:rPr lang="nl-BE" b="1" dirty="0"/>
              <a:t>octal</a:t>
            </a:r>
            <a:r>
              <a:rPr lang="nl-BE" dirty="0"/>
              <a:t> format </a:t>
            </a:r>
            <a:r>
              <a:rPr lang="pl-PL" dirty="0"/>
              <a:t>(3 digit octal </a:t>
            </a:r>
            <a:r>
              <a:rPr lang="en-US" dirty="0"/>
              <a:t>[0-7] </a:t>
            </a:r>
            <a:r>
              <a:rPr lang="pl-PL" dirty="0"/>
              <a:t>form)</a:t>
            </a:r>
            <a:endParaRPr lang="en-US" dirty="0"/>
          </a:p>
          <a:p>
            <a:pPr lvl="2"/>
            <a:r>
              <a:rPr lang="nl-BE" dirty="0"/>
              <a:t>Best </a:t>
            </a:r>
            <a:r>
              <a:rPr lang="nl-BE" dirty="0" err="1"/>
              <a:t>used</a:t>
            </a:r>
            <a:r>
              <a:rPr lang="nl-BE" dirty="0"/>
              <a:t> </a:t>
            </a:r>
            <a:r>
              <a:rPr lang="nl-BE" dirty="0" err="1"/>
              <a:t>when</a:t>
            </a:r>
            <a:r>
              <a:rPr lang="nl-BE" dirty="0"/>
              <a:t> </a:t>
            </a:r>
            <a:r>
              <a:rPr lang="nl-BE" b="1" dirty="0"/>
              <a:t>setting </a:t>
            </a:r>
            <a:r>
              <a:rPr lang="nl-BE" dirty="0" err="1"/>
              <a:t>permissions</a:t>
            </a:r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108</a:t>
            </a:fld>
            <a:endParaRPr lang="nl-NL"/>
          </a:p>
        </p:txBody>
      </p:sp>
      <p:pic>
        <p:nvPicPr>
          <p:cNvPr id="3" name="Graphic 2" descr="Key with solid fill">
            <a:extLst>
              <a:ext uri="{FF2B5EF4-FFF2-40B4-BE49-F238E27FC236}">
                <a16:creationId xmlns:a16="http://schemas.microsoft.com/office/drawing/2014/main" id="{88AAD329-DF81-5A57-61E1-F8D3F1628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41430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7E047-2016-C220-FB63-2F9CD2A6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el 1">
            <a:extLst>
              <a:ext uri="{FF2B5EF4-FFF2-40B4-BE49-F238E27FC236}">
                <a16:creationId xmlns:a16="http://schemas.microsoft.com/office/drawing/2014/main" id="{6657FCD9-BB12-241F-E435-62B829DB773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chmod: changing permissions</a:t>
            </a:r>
          </a:p>
        </p:txBody>
      </p:sp>
      <p:sp>
        <p:nvSpPr>
          <p:cNvPr id="49155" name="Tijdelijke aanduiding voor tekst 2">
            <a:extLst>
              <a:ext uri="{FF2B5EF4-FFF2-40B4-BE49-F238E27FC236}">
                <a16:creationId xmlns:a16="http://schemas.microsoft.com/office/drawing/2014/main" id="{20FEDD31-EB3C-045E-0931-D132046BDC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7544" y="1440000"/>
            <a:ext cx="8424936" cy="4678362"/>
          </a:xfrm>
        </p:spPr>
        <p:txBody>
          <a:bodyPr/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-l</a:t>
            </a:r>
            <a:r>
              <a:rPr lang="nl-BE" dirty="0"/>
              <a:t> shows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b="1" dirty="0" err="1"/>
              <a:t>symbolic</a:t>
            </a:r>
            <a:r>
              <a:rPr lang="nl-BE" dirty="0"/>
              <a:t> form of </a:t>
            </a:r>
            <a:r>
              <a:rPr lang="nl-BE" dirty="0" err="1"/>
              <a:t>the</a:t>
            </a:r>
            <a:r>
              <a:rPr lang="nl-BE" dirty="0"/>
              <a:t> file </a:t>
            </a:r>
            <a:r>
              <a:rPr lang="nl-BE" dirty="0" err="1"/>
              <a:t>permissions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The </a:t>
            </a:r>
            <a:r>
              <a:rPr lang="nl-BE" dirty="0" err="1"/>
              <a:t>symbolic</a:t>
            </a:r>
            <a:r>
              <a:rPr lang="nl-BE" dirty="0"/>
              <a:t> form </a:t>
            </a:r>
            <a:r>
              <a:rPr lang="nl-BE" dirty="0" err="1"/>
              <a:t>translates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binary</a:t>
            </a:r>
            <a:r>
              <a:rPr lang="nl-BE" dirty="0"/>
              <a:t> </a:t>
            </a:r>
            <a:r>
              <a:rPr lang="nl-BE" dirty="0" err="1"/>
              <a:t>which</a:t>
            </a:r>
            <a:r>
              <a:rPr lang="nl-BE" dirty="0"/>
              <a:t> </a:t>
            </a:r>
            <a:r>
              <a:rPr lang="nl-BE" dirty="0" err="1"/>
              <a:t>corresponds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octal</a:t>
            </a:r>
            <a:r>
              <a:rPr lang="nl-BE" dirty="0"/>
              <a:t> form.</a:t>
            </a:r>
            <a:br>
              <a:rPr lang="nl-BE" dirty="0"/>
            </a:br>
            <a:endParaRPr lang="nl-B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8FC9DA-5260-A140-8B7E-6749013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109</a:t>
            </a:fld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5BC6C-F99E-658A-EE57-3F387491CD67}"/>
              </a:ext>
            </a:extLst>
          </p:cNvPr>
          <p:cNvSpPr txBox="1"/>
          <p:nvPr/>
        </p:nvSpPr>
        <p:spPr>
          <a:xfrm>
            <a:off x="503040" y="2224312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rwxr-xr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–-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 Sep 25 09:00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myprog</a:t>
            </a:r>
            <a:b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|  |  |</a:t>
            </a:r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|  |  |			      </a:t>
            </a:r>
            <a:r>
              <a:rPr lang="nl-B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symbolic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octal</a:t>
            </a:r>
            <a:endParaRPr lang="nl-B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 |  └── </a:t>
            </a:r>
            <a:r>
              <a:rPr lang="nl-B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r--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→  100  →  4</a:t>
            </a:r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|  └───── </a:t>
            </a:r>
            <a:r>
              <a:rPr lang="nl-BE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r-x 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 101  →  5</a:t>
            </a:r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└────────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→  111  →  7</a:t>
            </a:r>
            <a:endParaRPr lang="nl-B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Graphic 3" descr="Key with solid fill">
            <a:extLst>
              <a:ext uri="{FF2B5EF4-FFF2-40B4-BE49-F238E27FC236}">
                <a16:creationId xmlns:a16="http://schemas.microsoft.com/office/drawing/2014/main" id="{CF4E7135-47B2-CC68-D3D7-A5C75D4C5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04506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chmod: changing 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r>
              <a:rPr kumimoji="0" lang="nl-BE" sz="2400" b="0" i="0" u="none" strike="noStrike" kern="1200" cap="none" spc="0" normalizeH="0" baseline="0" noProof="0" dirty="0">
                <a:ln>
                  <a:noFill/>
                </a:ln>
                <a:solidFill>
                  <a:srgbClr val="00407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Read = 4	</a:t>
            </a:r>
            <a:r>
              <a:rPr lang="nl-BE" dirty="0"/>
              <a:t>Write = 2	</a:t>
            </a:r>
            <a:r>
              <a:rPr kumimoji="0" lang="nl-B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07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Execute</a:t>
            </a:r>
            <a:r>
              <a:rPr kumimoji="0" lang="nl-BE" sz="2400" b="0" i="0" u="none" strike="noStrike" kern="1200" cap="none" spc="0" normalizeH="0" baseline="0" noProof="0" dirty="0">
                <a:ln>
                  <a:noFill/>
                </a:ln>
                <a:solidFill>
                  <a:srgbClr val="00407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kumimoji="0" lang="nl-BE" sz="2400" b="0" i="0" u="none" strike="noStrike" kern="1200" cap="none" spc="0" normalizeH="0" baseline="0" noProof="0" dirty="0">
              <a:ln>
                <a:noFill/>
              </a:ln>
              <a:solidFill>
                <a:srgbClr val="00407A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Pct val="110000"/>
              <a:buNone/>
              <a:tabLst/>
              <a:defRPr/>
            </a:pPr>
            <a:endParaRPr lang="nl-BE" dirty="0"/>
          </a:p>
          <a:p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chmod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710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myprog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--x---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B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ugo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110</a:t>
            </a:fld>
            <a:endParaRPr lang="nl-NL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D402EF-30C8-FFA4-8356-341372C8E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920160"/>
              </p:ext>
            </p:extLst>
          </p:nvPr>
        </p:nvGraphicFramePr>
        <p:xfrm>
          <a:off x="529744" y="1773558"/>
          <a:ext cx="663454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878">
                  <a:extLst>
                    <a:ext uri="{9D8B030D-6E8A-4147-A177-3AD203B41FA5}">
                      <a16:colId xmlns:a16="http://schemas.microsoft.com/office/drawing/2014/main" val="1315677803"/>
                    </a:ext>
                  </a:extLst>
                </a:gridCol>
                <a:gridCol w="1406674">
                  <a:extLst>
                    <a:ext uri="{9D8B030D-6E8A-4147-A177-3AD203B41FA5}">
                      <a16:colId xmlns:a16="http://schemas.microsoft.com/office/drawing/2014/main" val="3732167153"/>
                    </a:ext>
                  </a:extLst>
                </a:gridCol>
                <a:gridCol w="1036496">
                  <a:extLst>
                    <a:ext uri="{9D8B030D-6E8A-4147-A177-3AD203B41FA5}">
                      <a16:colId xmlns:a16="http://schemas.microsoft.com/office/drawing/2014/main" val="877666238"/>
                    </a:ext>
                  </a:extLst>
                </a:gridCol>
                <a:gridCol w="1036496">
                  <a:extLst>
                    <a:ext uri="{9D8B030D-6E8A-4147-A177-3AD203B41FA5}">
                      <a16:colId xmlns:a16="http://schemas.microsoft.com/office/drawing/2014/main" val="1181654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Permissions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Symbolic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Binary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Octal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93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None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78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Execute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--x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001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7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-w-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010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016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Execute and write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en-US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wx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011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01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Read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r--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0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Read and execute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r-x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101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35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Read and write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</a:t>
                      </a:r>
                      <a:r>
                        <a:rPr lang="en-US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110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8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Read write and execute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rwx</a:t>
                      </a:r>
                      <a:endParaRPr lang="nl-BE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111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nl-BE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576646"/>
                  </a:ext>
                </a:extLst>
              </a:tr>
            </a:tbl>
          </a:graphicData>
        </a:graphic>
      </p:graphicFrame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A1E6CD2A-DFD2-1840-B861-FB9469F0C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203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chmod: changing 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9999"/>
            <a:ext cx="8478464" cy="4428000"/>
          </a:xfrm>
        </p:spPr>
        <p:txBody>
          <a:bodyPr/>
          <a:lstStyle/>
          <a:p>
            <a:r>
              <a:rPr lang="nl-BE" dirty="0" err="1"/>
              <a:t>symbolic</a:t>
            </a:r>
            <a:r>
              <a:rPr lang="nl-BE" dirty="0"/>
              <a:t> format:</a:t>
            </a:r>
            <a:br>
              <a:rPr lang="nl-BE" dirty="0"/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chmod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go+r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nl-BE" dirty="0" err="1"/>
              <a:t>add</a:t>
            </a:r>
            <a:r>
              <a:rPr lang="nl-BE" dirty="0"/>
              <a:t> read permissions to group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others</a:t>
            </a:r>
            <a:r>
              <a:rPr lang="nl-BE" dirty="0"/>
              <a:t>.</a:t>
            </a:r>
            <a:br>
              <a:rPr lang="nl-BE" dirty="0"/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chmod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u-w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nl-BE" dirty="0" err="1"/>
              <a:t>remove</a:t>
            </a:r>
            <a:r>
              <a:rPr lang="nl-BE" dirty="0"/>
              <a:t> write permissions from user.</a:t>
            </a:r>
            <a:br>
              <a:rPr lang="nl-BE" dirty="0"/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chmod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a-x	</a:t>
            </a:r>
            <a:r>
              <a:rPr lang="nl-BE" dirty="0" err="1"/>
              <a:t>remove</a:t>
            </a:r>
            <a:r>
              <a:rPr lang="nl-BE" dirty="0"/>
              <a:t> execute permission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all</a:t>
            </a:r>
            <a:r>
              <a:rPr lang="nl-BE" dirty="0"/>
              <a:t> (a).</a:t>
            </a:r>
          </a:p>
          <a:p>
            <a:pPr marL="0" indent="0">
              <a:buNone/>
            </a:pPr>
            <a:endParaRPr lang="nl-BE" dirty="0">
              <a:latin typeface="+mn-lt"/>
              <a:cs typeface="Courier New" pitchFamily="49" charset="0"/>
            </a:endParaRPr>
          </a:p>
          <a:p>
            <a:r>
              <a:rPr lang="nl-BE" dirty="0" err="1">
                <a:latin typeface="+mn-lt"/>
                <a:cs typeface="Courier New" pitchFamily="49" charset="0"/>
              </a:rPr>
              <a:t>Example</a:t>
            </a:r>
            <a:r>
              <a:rPr lang="nl-BE" dirty="0">
                <a:latin typeface="+mn-lt"/>
                <a:cs typeface="Courier New" pitchFamily="49" charset="0"/>
              </a:rPr>
              <a:t>: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chmod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o+x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myprog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 err="1">
                <a:latin typeface="Courier New" pitchFamily="49" charset="0"/>
                <a:cs typeface="Courier New" pitchFamily="49" charset="0"/>
              </a:rPr>
              <a:t>rwx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--x--- →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rwx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--x--x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111</a:t>
            </a:fld>
            <a:endParaRPr lang="nl-NL"/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6048B319-A969-07F6-1A30-61CCF8A2F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607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el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Access right constraints</a:t>
            </a:r>
          </a:p>
        </p:txBody>
      </p:sp>
      <p:sp>
        <p:nvSpPr>
          <p:cNvPr id="47107" name="Tijdelijke aanduiding voor tekst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is sufficient to execute binaries</a:t>
            </a:r>
            <a:br>
              <a:rPr lang="en-US" dirty="0"/>
            </a:br>
            <a:r>
              <a:rPr lang="en-US" dirty="0"/>
              <a:t>Both x and r and required for shell scripts.</a:t>
            </a:r>
          </a:p>
          <a:p>
            <a:r>
              <a:rPr lang="en-US" dirty="0"/>
              <a:t>Both r and x permissions needed in practice for directories:</a:t>
            </a:r>
            <a:br>
              <a:rPr lang="en-US" dirty="0"/>
            </a:br>
            <a:r>
              <a:rPr lang="en-US" dirty="0"/>
              <a:t>r to list the contents, x to access the contents.</a:t>
            </a:r>
          </a:p>
          <a:p>
            <a:r>
              <a:rPr lang="en-US" dirty="0"/>
              <a:t>You can't rename, remove, copy files in a directory if you don't have w access to this directory.</a:t>
            </a:r>
          </a:p>
          <a:p>
            <a:r>
              <a:rPr lang="en-US" dirty="0"/>
              <a:t>If you have w access to a directory, you can remove a file even if you don't have write access to this file (remember that a directory is just a file describing a list of files). This even lets you modify (remove + recreate) a file even without w access to it.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542318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0">
              <a:buNone/>
            </a:pPr>
            <a:r>
              <a:rPr lang="en-US" sz="4400" kern="1200" dirty="0">
                <a:latin typeface="Arial" pitchFamily="34" charset="0"/>
                <a:cs typeface="Arial" pitchFamily="34" charset="0"/>
              </a:rPr>
              <a:t>Process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113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284477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BE" dirty="0"/>
              <a:t>time a helpful command for doing simple benchmarking</a:t>
            </a:r>
          </a:p>
          <a:p>
            <a:pPr lvl="0"/>
            <a:r>
              <a:rPr lang="en-US" dirty="0"/>
              <a:t>run your scripts along with the </a:t>
            </a:r>
            <a:r>
              <a:rPr lang="en-US" b="1" dirty="0"/>
              <a:t>time</a:t>
            </a:r>
            <a:r>
              <a:rPr lang="en-US" dirty="0"/>
              <a:t> command and compare </a:t>
            </a:r>
            <a:r>
              <a:rPr lang="en-US" dirty="0" err="1"/>
              <a:t>their’s</a:t>
            </a:r>
            <a:r>
              <a:rPr lang="en-US" dirty="0"/>
              <a:t> execution time.</a:t>
            </a:r>
            <a:endParaRPr lang="nl-BE" dirty="0"/>
          </a:p>
          <a:p>
            <a:pPr lvl="0"/>
            <a:r>
              <a:rPr lang="nl-BE" dirty="0"/>
              <a:t>Example: </a:t>
            </a:r>
            <a:br>
              <a:rPr lang="nl-BE" dirty="0"/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time ls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    0m0.064s </a:t>
            </a:r>
            <a:r>
              <a:rPr lang="en-US" dirty="0"/>
              <a:t>(actual elapsed time)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    0m0.006s </a:t>
            </a:r>
            <a:r>
              <a:rPr lang="en-US" dirty="0"/>
              <a:t>(CPU time running program code)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sys     0m0.048s </a:t>
            </a:r>
            <a:r>
              <a:rPr lang="en-US" dirty="0"/>
              <a:t>(CPU time running system calls)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real = user + sys + waiting</a:t>
            </a:r>
            <a:br>
              <a:rPr lang="en-US" dirty="0"/>
            </a:br>
            <a:r>
              <a:rPr lang="en-US" dirty="0" err="1"/>
              <a:t>waiting</a:t>
            </a:r>
            <a:r>
              <a:rPr lang="en-US" dirty="0"/>
              <a:t> = I/O waiting time + idle time (running other tasks)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073382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Process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0000" y="2924943"/>
            <a:ext cx="8334000" cy="28530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Processes</a:t>
            </a:r>
          </a:p>
          <a:p>
            <a:r>
              <a:rPr lang="en-US" dirty="0"/>
              <a:t>Instances of a running programs</a:t>
            </a:r>
          </a:p>
          <a:p>
            <a:r>
              <a:rPr lang="en-US" dirty="0"/>
              <a:t>Several instances of the same program can run at the same time</a:t>
            </a:r>
          </a:p>
          <a:p>
            <a:r>
              <a:rPr lang="en-US" dirty="0"/>
              <a:t>Processes are assigned a unique identifier which is used to monitor and control the process (PID)</a:t>
            </a:r>
            <a:br>
              <a:rPr lang="en-US" dirty="0"/>
            </a:br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115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EAA37-0E9B-6C4A-48FD-E7D617E774F5}"/>
              </a:ext>
            </a:extLst>
          </p:cNvPr>
          <p:cNvSpPr/>
          <p:nvPr/>
        </p:nvSpPr>
        <p:spPr>
          <a:xfrm>
            <a:off x="827584" y="1226320"/>
            <a:ext cx="8096422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“Everything in Unix is a file. </a:t>
            </a:r>
            <a:br>
              <a:rPr lang="en-US" sz="2800" b="1" dirty="0">
                <a:ln w="9525"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n w="9525"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Everything in Unix that is not a file is a process”</a:t>
            </a:r>
          </a:p>
        </p:txBody>
      </p:sp>
    </p:spTree>
    <p:extLst>
      <p:ext uri="{BB962C8B-B14F-4D97-AF65-F5344CB8AC3E}">
        <p14:creationId xmlns:p14="http://schemas.microsoft.com/office/powerpoint/2010/main" val="188898443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Process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 that is claimed to be executing is called a process</a:t>
            </a:r>
          </a:p>
          <a:p>
            <a:r>
              <a:rPr lang="en-US" dirty="0"/>
              <a:t>For a multitasking system, a process has at least the following three states: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116</a:t>
            </a:fld>
            <a:endParaRPr lang="nl-NL"/>
          </a:p>
        </p:txBody>
      </p:sp>
      <p:grpSp>
        <p:nvGrpSpPr>
          <p:cNvPr id="6" name="Groep 5"/>
          <p:cNvGrpSpPr/>
          <p:nvPr/>
        </p:nvGrpSpPr>
        <p:grpSpPr>
          <a:xfrm>
            <a:off x="182562" y="3429000"/>
            <a:ext cx="9342438" cy="2514600"/>
            <a:chOff x="182562" y="3886200"/>
            <a:chExt cx="9342438" cy="2514600"/>
          </a:xfrm>
        </p:grpSpPr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2362200" y="3886200"/>
              <a:ext cx="1676400" cy="10668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>
                  <a:ea typeface="新細明體" panose="02020500000000000000" pitchFamily="18" charset="-120"/>
                </a:rPr>
                <a:t>Ready</a:t>
              </a:r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5181600" y="3886200"/>
              <a:ext cx="1676400" cy="10668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>
                  <a:ea typeface="新細明體" panose="02020500000000000000" pitchFamily="18" charset="-120"/>
                </a:rPr>
                <a:t>Running</a:t>
              </a: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3886200" y="5334000"/>
              <a:ext cx="1676400" cy="10668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>
                  <a:ea typeface="新細明體" panose="02020500000000000000" pitchFamily="18" charset="-120"/>
                </a:rPr>
                <a:t>Sleeping</a:t>
              </a: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1295400" y="44196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4114800" y="44196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6934200" y="44958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H="1" flipV="1">
              <a:off x="3733800" y="4876800"/>
              <a:ext cx="457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 flipH="1">
              <a:off x="4038600" y="42672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>
              <a:off x="5334000" y="5029200"/>
              <a:ext cx="685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nl-BE"/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182562" y="3938016"/>
              <a:ext cx="1463675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Start execution</a:t>
              </a: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8001000" y="4024313"/>
              <a:ext cx="15240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TW" dirty="0">
                  <a:ea typeface="新細明體" panose="02020500000000000000" pitchFamily="18" charset="-120"/>
                </a:rPr>
                <a:t>Finish execution</a:t>
              </a:r>
            </a:p>
          </p:txBody>
        </p:sp>
      </p:grpSp>
      <p:pic>
        <p:nvPicPr>
          <p:cNvPr id="18" name="Graphic 17" descr="Key with solid fill">
            <a:extLst>
              <a:ext uri="{FF2B5EF4-FFF2-40B4-BE49-F238E27FC236}">
                <a16:creationId xmlns:a16="http://schemas.microsoft.com/office/drawing/2014/main" id="{3EF7AE46-0F29-AC22-AF55-B16BCE811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056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Process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Ready state</a:t>
            </a:r>
          </a:p>
          <a:p>
            <a:pPr lvl="1"/>
            <a:r>
              <a:rPr lang="en-US" sz="2200" dirty="0"/>
              <a:t>All processes that are ready to execute but without the CPU are at the ready state</a:t>
            </a:r>
          </a:p>
          <a:p>
            <a:pPr lvl="1"/>
            <a:r>
              <a:rPr lang="en-US" sz="2200" dirty="0"/>
              <a:t>If there is only 1 CPU in the system, all processes except one are at the ready state</a:t>
            </a:r>
          </a:p>
          <a:p>
            <a:r>
              <a:rPr lang="en-US" sz="2200" dirty="0"/>
              <a:t>Running state</a:t>
            </a:r>
          </a:p>
          <a:p>
            <a:pPr lvl="1"/>
            <a:r>
              <a:rPr lang="en-US" sz="2200" dirty="0"/>
              <a:t>The process that actually possesses the CPU is at the running state</a:t>
            </a:r>
          </a:p>
          <a:p>
            <a:pPr lvl="1"/>
            <a:r>
              <a:rPr lang="en-US" sz="2200" dirty="0"/>
              <a:t>If there is only 1 CPU in the system, at most there is only one process is at the running state</a:t>
            </a:r>
          </a:p>
          <a:p>
            <a:r>
              <a:rPr lang="en-US" sz="2200" dirty="0"/>
              <a:t>Sleeping state</a:t>
            </a:r>
          </a:p>
          <a:p>
            <a:pPr lvl="1"/>
            <a:r>
              <a:rPr lang="en-US" sz="2200" dirty="0"/>
              <a:t>The process that is waiting for other resources, e.g. I/O, is at the sleeping state</a:t>
            </a:r>
          </a:p>
          <a:p>
            <a:endParaRPr lang="nl-BE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20803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Display running processes 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cfr</a:t>
            </a:r>
            <a:r>
              <a:rPr lang="en-US" dirty="0"/>
              <a:t>. Windows Task Manager ctrl-shift-esc)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/>
              <a:t>	Display the current user's processes 	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-e 	</a:t>
            </a:r>
            <a:r>
              <a:rPr lang="en-US" dirty="0"/>
              <a:t>Display all processes running on the system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ef</a:t>
            </a:r>
            <a:r>
              <a:rPr lang="en-US" dirty="0"/>
              <a:t> 	Display detailed information about running processes 	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-u [USER] </a:t>
            </a:r>
            <a:r>
              <a:rPr lang="en-US" dirty="0"/>
              <a:t>	Display processes owned by the specified user </a:t>
            </a:r>
            <a:endParaRPr lang="pl-PL" dirty="0"/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/>
              <a:t>	Display </a:t>
            </a:r>
            <a:r>
              <a:rPr lang="pl-PL" dirty="0"/>
              <a:t>extra info (</a:t>
            </a:r>
            <a:r>
              <a:rPr lang="pl-PL" dirty="0" err="1"/>
              <a:t>running</a:t>
            </a:r>
            <a:r>
              <a:rPr lang="pl-PL" dirty="0"/>
              <a:t> </a:t>
            </a:r>
            <a:r>
              <a:rPr lang="pl-PL" dirty="0" err="1"/>
              <a:t>state</a:t>
            </a:r>
            <a:r>
              <a:rPr lang="pl-PL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555076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Process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40024" y="4509120"/>
            <a:ext cx="8334000" cy="1331038"/>
          </a:xfrm>
        </p:spPr>
        <p:txBody>
          <a:bodyPr/>
          <a:lstStyle/>
          <a:p>
            <a:r>
              <a:rPr lang="en-US" sz="1800" dirty="0"/>
              <a:t>For the example above, both bash processes, which are the shell of both terminals, are waiting for the input of user. They must be in the sleeping state</a:t>
            </a:r>
          </a:p>
          <a:p>
            <a:r>
              <a:rPr lang="en-US" sz="1800" dirty="0"/>
              <a:t>The vi process, which is an editor, is also waiting for the input of user. Hence it is also in sleeping state</a:t>
            </a:r>
          </a:p>
          <a:p>
            <a:r>
              <a:rPr lang="en-US" sz="1800" dirty="0"/>
              <a:t>When </a:t>
            </a:r>
            <a:r>
              <a:rPr lang="en-US" sz="1800" dirty="0" err="1"/>
              <a:t>ps</a:t>
            </a:r>
            <a:r>
              <a:rPr lang="en-US" sz="1800" dirty="0"/>
              <a:t> reporting the processes in the system, it is the only process that is running. Hence it is in running state </a:t>
            </a:r>
            <a:endParaRPr lang="nl-BE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119</a:t>
            </a:fld>
            <a:endParaRPr lang="nl-NL"/>
          </a:p>
        </p:txBody>
      </p:sp>
      <p:grpSp>
        <p:nvGrpSpPr>
          <p:cNvPr id="17" name="Groep 16"/>
          <p:cNvGrpSpPr/>
          <p:nvPr/>
        </p:nvGrpSpPr>
        <p:grpSpPr>
          <a:xfrm>
            <a:off x="504949" y="1005327"/>
            <a:ext cx="7451427" cy="3719817"/>
            <a:chOff x="504949" y="1005327"/>
            <a:chExt cx="7451427" cy="3719817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663824" y="1005327"/>
              <a:ext cx="5878532" cy="1631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TW" altLang="en-US" sz="2000" b="1" dirty="0">
                  <a:latin typeface="Courier New" panose="02070309020205020404" pitchFamily="49" charset="0"/>
                  <a:ea typeface="新細明體" panose="02020500000000000000" pitchFamily="18" charset="-120"/>
                </a:rPr>
                <a:t>  </a:t>
              </a:r>
              <a:r>
                <a:rPr lang="en-US" altLang="zh-TW" sz="2000" b="1" dirty="0">
                  <a:latin typeface="Courier New" panose="02070309020205020404" pitchFamily="49" charset="0"/>
                  <a:ea typeface="新細明體" panose="02020500000000000000" pitchFamily="18" charset="-120"/>
                </a:rPr>
                <a:t>PID  TTY    STAT  TIME COMMAND</a:t>
              </a:r>
            </a:p>
            <a:p>
              <a:r>
                <a:rPr lang="en-US" altLang="zh-TW" sz="2000" b="1" dirty="0">
                  <a:latin typeface="Courier New" panose="02070309020205020404" pitchFamily="49" charset="0"/>
                  <a:ea typeface="新細明體" panose="02020500000000000000" pitchFamily="18" charset="-120"/>
                </a:rPr>
                <a:t>14748  pts/1  S     0:00 –bash</a:t>
              </a:r>
            </a:p>
            <a:p>
              <a:pPr>
                <a:buFontTx/>
                <a:buAutoNum type="arabicPlain" startAt="14795"/>
              </a:pPr>
              <a:r>
                <a:rPr lang="en-US" altLang="zh-TW" sz="2000" b="1" dirty="0">
                  <a:latin typeface="Courier New" panose="02070309020205020404" pitchFamily="49" charset="0"/>
                  <a:ea typeface="新細明體" panose="02020500000000000000" pitchFamily="18" charset="-120"/>
                </a:rPr>
                <a:t>  pts/0  S     0:00 –bash</a:t>
              </a:r>
            </a:p>
            <a:p>
              <a:r>
                <a:rPr lang="en-US" altLang="zh-TW" sz="2000" b="1" dirty="0">
                  <a:latin typeface="Courier New" panose="02070309020205020404" pitchFamily="49" charset="0"/>
                  <a:ea typeface="新細明體" panose="02020500000000000000" pitchFamily="18" charset="-120"/>
                </a:rPr>
                <a:t>14974  pts/0  S     0:00 vi test1.txt</a:t>
              </a:r>
            </a:p>
            <a:p>
              <a:r>
                <a:rPr lang="en-US" altLang="zh-TW" sz="2000" b="1" dirty="0">
                  <a:latin typeface="Courier New" panose="02070309020205020404" pitchFamily="49" charset="0"/>
                  <a:ea typeface="新細明體" panose="02020500000000000000" pitchFamily="18" charset="-120"/>
                </a:rPr>
                <a:t>14876  pts/1  R     0:00 </a:t>
              </a:r>
              <a:r>
                <a:rPr lang="en-US" altLang="zh-TW" sz="2000" b="1" dirty="0" err="1">
                  <a:latin typeface="Courier New" panose="02070309020205020404" pitchFamily="49" charset="0"/>
                  <a:ea typeface="新細明體" panose="02020500000000000000" pitchFamily="18" charset="-120"/>
                </a:rPr>
                <a:t>ps</a:t>
              </a:r>
              <a:r>
                <a:rPr lang="en-US" altLang="zh-TW" sz="2000" b="1" dirty="0">
                  <a:latin typeface="Courier New" panose="02070309020205020404" pitchFamily="49" charset="0"/>
                  <a:ea typeface="新細明體" panose="02020500000000000000" pitchFamily="18" charset="-120"/>
                </a:rPr>
                <a:t> …</a:t>
              </a:r>
            </a:p>
          </p:txBody>
        </p:sp>
        <p:grpSp>
          <p:nvGrpSpPr>
            <p:cNvPr id="16" name="Groep 15"/>
            <p:cNvGrpSpPr/>
            <p:nvPr/>
          </p:nvGrpSpPr>
          <p:grpSpPr>
            <a:xfrm>
              <a:off x="504949" y="2550286"/>
              <a:ext cx="7451427" cy="2174858"/>
              <a:chOff x="504949" y="2636911"/>
              <a:chExt cx="7451427" cy="2174858"/>
            </a:xfrm>
          </p:grpSpPr>
          <p:sp>
            <p:nvSpPr>
              <p:cNvPr id="8" name="Line 8"/>
              <p:cNvSpPr>
                <a:spLocks noChangeShapeType="1"/>
              </p:cNvSpPr>
              <p:nvPr/>
            </p:nvSpPr>
            <p:spPr bwMode="auto">
              <a:xfrm flipV="1">
                <a:off x="1454944" y="2713112"/>
                <a:ext cx="437480" cy="90612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  <p:sp>
            <p:nvSpPr>
              <p:cNvPr id="9" name="Text Box 9"/>
              <p:cNvSpPr txBox="1">
                <a:spLocks noChangeArrowheads="1"/>
              </p:cNvSpPr>
              <p:nvPr/>
            </p:nvSpPr>
            <p:spPr bwMode="auto">
              <a:xfrm>
                <a:off x="504949" y="3515625"/>
                <a:ext cx="1514475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ea typeface="新細明體" panose="02020500000000000000" pitchFamily="18" charset="-120"/>
                  </a:rPr>
                  <a:t>Process ID</a:t>
                </a:r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 flipV="1">
                <a:off x="2641552" y="2713112"/>
                <a:ext cx="393872" cy="90612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  <p:sp>
            <p:nvSpPr>
              <p:cNvPr id="11" name="Text Box 11"/>
              <p:cNvSpPr txBox="1">
                <a:spLocks noChangeArrowheads="1"/>
              </p:cNvSpPr>
              <p:nvPr/>
            </p:nvSpPr>
            <p:spPr bwMode="auto">
              <a:xfrm>
                <a:off x="1979712" y="3515625"/>
                <a:ext cx="1524000" cy="822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TW" dirty="0">
                    <a:ea typeface="新細明體" panose="02020500000000000000" pitchFamily="18" charset="-120"/>
                  </a:rPr>
                  <a:t>Terminal name</a:t>
                </a:r>
              </a:p>
            </p:txBody>
          </p:sp>
          <p:sp>
            <p:nvSpPr>
              <p:cNvPr id="12" name="Text Box 12"/>
              <p:cNvSpPr txBox="1">
                <a:spLocks noChangeArrowheads="1"/>
              </p:cNvSpPr>
              <p:nvPr/>
            </p:nvSpPr>
            <p:spPr bwMode="auto">
              <a:xfrm>
                <a:off x="3491880" y="3259194"/>
                <a:ext cx="3048000" cy="1552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TW" dirty="0">
                    <a:ea typeface="新細明體" panose="02020500000000000000" pitchFamily="18" charset="-120"/>
                  </a:rPr>
                  <a:t>State:</a:t>
                </a:r>
              </a:p>
              <a:p>
                <a:r>
                  <a:rPr lang="en-US" altLang="zh-TW" dirty="0">
                    <a:ea typeface="新細明體" panose="02020500000000000000" pitchFamily="18" charset="-120"/>
                  </a:rPr>
                  <a:t>S – Sleeping</a:t>
                </a:r>
              </a:p>
              <a:p>
                <a:r>
                  <a:rPr lang="en-US" altLang="zh-TW" dirty="0">
                    <a:ea typeface="新細明體" panose="02020500000000000000" pitchFamily="18" charset="-120"/>
                  </a:rPr>
                  <a:t>      (waiting for input)</a:t>
                </a:r>
              </a:p>
              <a:p>
                <a:r>
                  <a:rPr lang="en-US" altLang="zh-TW" dirty="0">
                    <a:ea typeface="新細明體" panose="02020500000000000000" pitchFamily="18" charset="-120"/>
                  </a:rPr>
                  <a:t>R – Running </a:t>
                </a: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 flipH="1" flipV="1">
                <a:off x="3975224" y="2636911"/>
                <a:ext cx="0" cy="662689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  <p:sp>
            <p:nvSpPr>
              <p:cNvPr id="14" name="Text Box 14"/>
              <p:cNvSpPr txBox="1">
                <a:spLocks noChangeArrowheads="1"/>
              </p:cNvSpPr>
              <p:nvPr/>
            </p:nvSpPr>
            <p:spPr bwMode="auto">
              <a:xfrm>
                <a:off x="4908376" y="2941712"/>
                <a:ext cx="3048000" cy="11874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TW" dirty="0">
                    <a:ea typeface="新細明體" panose="02020500000000000000" pitchFamily="18" charset="-120"/>
                  </a:rPr>
                  <a:t>How much time the process is continuously executing </a:t>
                </a:r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 flipH="1" flipV="1">
                <a:off x="5359896" y="2636912"/>
                <a:ext cx="76200" cy="38100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nl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954120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kill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Sends an abort signal to the given processes. </a:t>
            </a:r>
            <a:br>
              <a:rPr lang="en-US" dirty="0"/>
            </a:br>
            <a:r>
              <a:rPr lang="en-US" dirty="0"/>
              <a:t>Lets processes save data and exit by themselves. </a:t>
            </a:r>
            <a:br>
              <a:rPr lang="en-US" dirty="0"/>
            </a:br>
            <a:r>
              <a:rPr lang="en-US" dirty="0"/>
              <a:t>Should be used first.</a:t>
            </a:r>
          </a:p>
          <a:p>
            <a:pPr lvl="0"/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kill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kill 3039 3134 3190 3416</a:t>
            </a:r>
          </a:p>
          <a:p>
            <a:pPr lvl="0"/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kill -9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en-US" dirty="0"/>
            </a:br>
            <a:r>
              <a:rPr lang="en-US" dirty="0"/>
              <a:t>Sends an immediate termination signal. The system itself terminates the processes. Useful when a process is really stuck.</a:t>
            </a:r>
            <a:br>
              <a:rPr lang="en-US" dirty="0"/>
            </a:b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120</a:t>
            </a:fld>
            <a:endParaRPr lang="nl-NL"/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54E0CC86-1B71-5220-AFEB-51B126AC0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2873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killall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killall</a:t>
            </a:r>
            <a:r>
              <a:rPr lang="en-US" b="1" dirty="0"/>
              <a:t> </a:t>
            </a:r>
            <a:r>
              <a:rPr lang="en-US" dirty="0"/>
              <a:t>command terminates all processes that match the specified name </a:t>
            </a:r>
          </a:p>
          <a:p>
            <a:pPr lvl="0"/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killall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[-&lt;signal&gt;] &lt;command&gt;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pl-PL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killall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bash</a:t>
            </a:r>
            <a:br>
              <a:rPr lang="en-US" dirty="0"/>
            </a:b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179991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xkill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xkill</a:t>
            </a:r>
            <a:br>
              <a:rPr lang="en-US" dirty="0"/>
            </a:br>
            <a:r>
              <a:rPr lang="en-US" dirty="0"/>
              <a:t>Lets you kill a graphical application by clicking on it!</a:t>
            </a:r>
            <a:br>
              <a:rPr lang="en-US" dirty="0"/>
            </a:br>
            <a:r>
              <a:rPr lang="en-US" dirty="0"/>
              <a:t>Very quick! Convenient when you don't know the application command name.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450459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&amp;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b="1" dirty="0"/>
              <a:t> </a:t>
            </a:r>
            <a:r>
              <a:rPr lang="en-US" dirty="0"/>
              <a:t>is a command line operator that instructs the shell to start the specified program in the background.</a:t>
            </a:r>
          </a:p>
          <a:p>
            <a:pPr lvl="0"/>
            <a:r>
              <a:rPr lang="en-US" dirty="0"/>
              <a:t>This allows you to have more than one program running at the same time without having to start multiple terminal sessions.  </a:t>
            </a:r>
          </a:p>
          <a:p>
            <a:pPr lvl="0"/>
            <a:r>
              <a:rPr lang="en-US" dirty="0"/>
              <a:t>Starting a process in background: add &amp; at the end of your line:</a:t>
            </a:r>
            <a:br>
              <a:rPr lang="en-US" dirty="0"/>
            </a:b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gedit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&amp;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/>
              <a:t>check with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ps</a:t>
            </a:r>
            <a:br>
              <a:rPr lang="en-US" dirty="0"/>
            </a:b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356146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Displays most important processes, sorted by </a:t>
            </a:r>
            <a:r>
              <a:rPr lang="nl-BE" dirty="0" err="1"/>
              <a:t>cpu</a:t>
            </a:r>
            <a:r>
              <a:rPr lang="nl-BE" dirty="0"/>
              <a:t> percentage</a:t>
            </a:r>
            <a:r>
              <a:rPr lang="pl-PL" dirty="0"/>
              <a:t> (</a:t>
            </a:r>
            <a:r>
              <a:rPr lang="pl-PL" dirty="0" err="1"/>
              <a:t>use</a:t>
            </a:r>
            <a:r>
              <a:rPr lang="pl-PL" dirty="0"/>
              <a:t> &gt; </a:t>
            </a:r>
            <a:r>
              <a:rPr lang="pl-PL" dirty="0" err="1"/>
              <a:t>or</a:t>
            </a:r>
            <a:r>
              <a:rPr lang="pl-PL" dirty="0"/>
              <a:t> &lt; to </a:t>
            </a:r>
            <a:r>
              <a:rPr lang="pl-PL" dirty="0" err="1"/>
              <a:t>change</a:t>
            </a:r>
            <a:r>
              <a:rPr lang="pl-PL" dirty="0"/>
              <a:t> the order)</a:t>
            </a:r>
            <a:endParaRPr lang="nl-BE" dirty="0"/>
          </a:p>
          <a:p>
            <a:pPr marL="360000" lvl="1" indent="0">
              <a:buNone/>
            </a:pPr>
            <a:r>
              <a:rPr lang="nl-BE" sz="1400" dirty="0">
                <a:hlinkClick r:id="rId2"/>
              </a:rPr>
              <a:t>http://www.thegeekstuff.com/2010/01/15-practical-unix-linux-top-command-examples/</a:t>
            </a:r>
            <a:endParaRPr lang="nl-BE" sz="1400" dirty="0"/>
          </a:p>
          <a:p>
            <a:pPr marL="0" indent="0">
              <a:buNone/>
            </a:pPr>
            <a:br>
              <a:rPr lang="nl-BE" dirty="0"/>
            </a:br>
            <a:endParaRPr lang="nl-B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492896"/>
            <a:ext cx="5029200" cy="3962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124</a:t>
            </a:fld>
            <a:endParaRPr lang="nl-NL"/>
          </a:p>
        </p:txBody>
      </p:sp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7607078A-3A47-EC77-8CFD-E8E618A6BB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7936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List of </a:t>
            </a:r>
            <a:r>
              <a:rPr lang="pl-PL" dirty="0" err="1"/>
              <a:t>basic</a:t>
            </a:r>
            <a:r>
              <a:rPr lang="pl-PL"/>
              <a:t> commands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Managing files and directories:</a:t>
            </a:r>
          </a:p>
          <a:p>
            <a:pPr marL="360000" lvl="1" indent="0">
              <a:buNone/>
            </a:pPr>
            <a:r>
              <a:rPr lang="pl-PL" dirty="0">
                <a:latin typeface="Courier"/>
              </a:rPr>
              <a:t>c</a:t>
            </a:r>
            <a:r>
              <a:rPr lang="en-US" dirty="0">
                <a:latin typeface="Courier"/>
              </a:rPr>
              <a:t>p</a:t>
            </a:r>
            <a:r>
              <a:rPr lang="pl-PL" dirty="0">
                <a:latin typeface="Courier"/>
              </a:rPr>
              <a:t>, </a:t>
            </a:r>
            <a:r>
              <a:rPr lang="en-US" dirty="0">
                <a:latin typeface="Courier"/>
              </a:rPr>
              <a:t>mv,</a:t>
            </a:r>
            <a:r>
              <a:rPr lang="pl-PL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rm</a:t>
            </a:r>
            <a:r>
              <a:rPr lang="en-US" dirty="0">
                <a:latin typeface="Courier"/>
              </a:rPr>
              <a:t>,</a:t>
            </a:r>
            <a:r>
              <a:rPr lang="pl-PL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mkdir</a:t>
            </a:r>
            <a:r>
              <a:rPr lang="en-US" dirty="0">
                <a:latin typeface="Courier"/>
              </a:rPr>
              <a:t>,</a:t>
            </a:r>
            <a:r>
              <a:rPr lang="pl-PL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rmdir</a:t>
            </a:r>
            <a:r>
              <a:rPr lang="en-US" dirty="0">
                <a:latin typeface="Courier"/>
              </a:rPr>
              <a:t>,</a:t>
            </a:r>
            <a:r>
              <a:rPr lang="pl-PL" dirty="0">
                <a:latin typeface="Courier"/>
              </a:rPr>
              <a:t> </a:t>
            </a:r>
            <a:r>
              <a:rPr lang="en-US" dirty="0">
                <a:latin typeface="Courier"/>
              </a:rPr>
              <a:t>touch</a:t>
            </a:r>
          </a:p>
          <a:p>
            <a:r>
              <a:rPr lang="en-US" dirty="0"/>
              <a:t>Displaying content of files</a:t>
            </a:r>
          </a:p>
          <a:p>
            <a:pPr marL="360000" lvl="1" indent="0">
              <a:buNone/>
            </a:pPr>
            <a:r>
              <a:rPr lang="en-US" dirty="0">
                <a:latin typeface="Courier"/>
              </a:rPr>
              <a:t>cat, more, less, head, tail</a:t>
            </a:r>
          </a:p>
          <a:p>
            <a:r>
              <a:rPr lang="en-US" dirty="0"/>
              <a:t>Moving around</a:t>
            </a:r>
          </a:p>
          <a:p>
            <a:pPr marL="360000" lvl="1" indent="0">
              <a:buNone/>
            </a:pPr>
            <a:r>
              <a:rPr lang="pl-PL" dirty="0">
                <a:latin typeface="Courier"/>
              </a:rPr>
              <a:t>p</a:t>
            </a:r>
            <a:r>
              <a:rPr lang="en-US" dirty="0" err="1">
                <a:latin typeface="Courier"/>
              </a:rPr>
              <a:t>wd</a:t>
            </a:r>
            <a:r>
              <a:rPr lang="pl-PL" dirty="0">
                <a:latin typeface="Courier"/>
              </a:rPr>
              <a:t>, </a:t>
            </a:r>
            <a:r>
              <a:rPr lang="en-US" dirty="0">
                <a:latin typeface="Courier"/>
              </a:rPr>
              <a:t>cd</a:t>
            </a:r>
            <a:r>
              <a:rPr lang="pl-PL" dirty="0">
                <a:latin typeface="Courier"/>
              </a:rPr>
              <a:t>, </a:t>
            </a:r>
            <a:r>
              <a:rPr lang="pl-PL" dirty="0" err="1">
                <a:latin typeface="Courier"/>
              </a:rPr>
              <a:t>ls</a:t>
            </a:r>
            <a:endParaRPr lang="pl-PL" dirty="0"/>
          </a:p>
          <a:p>
            <a:r>
              <a:rPr lang="pl-PL" dirty="0" err="1"/>
              <a:t>Asking</a:t>
            </a:r>
            <a:r>
              <a:rPr lang="pl-PL" dirty="0"/>
              <a:t> for </a:t>
            </a:r>
            <a:r>
              <a:rPr lang="pl-PL" dirty="0" err="1"/>
              <a:t>help</a:t>
            </a:r>
            <a:endParaRPr lang="pl-PL" dirty="0"/>
          </a:p>
          <a:p>
            <a:pPr marL="360000" lvl="1" indent="0">
              <a:buNone/>
            </a:pPr>
            <a:r>
              <a:rPr lang="pl-PL" dirty="0" err="1">
                <a:latin typeface="Courier"/>
              </a:rPr>
              <a:t>help</a:t>
            </a:r>
            <a:r>
              <a:rPr lang="pl-PL" dirty="0">
                <a:latin typeface="Courier"/>
              </a:rPr>
              <a:t>, </a:t>
            </a:r>
            <a:r>
              <a:rPr lang="pl-PL" dirty="0" err="1">
                <a:latin typeface="Courier"/>
              </a:rPr>
              <a:t>man</a:t>
            </a:r>
            <a:r>
              <a:rPr lang="pl-PL" dirty="0">
                <a:latin typeface="Courier"/>
              </a:rPr>
              <a:t>, info, </a:t>
            </a:r>
            <a:r>
              <a:rPr lang="pl-PL" dirty="0" err="1">
                <a:latin typeface="Courier"/>
              </a:rPr>
              <a:t>whatis</a:t>
            </a:r>
            <a:endParaRPr lang="pl-PL" dirty="0">
              <a:latin typeface="Courier"/>
            </a:endParaRPr>
          </a:p>
          <a:p>
            <a:pPr marL="360000" lvl="1" indent="0">
              <a:buNone/>
            </a:pPr>
            <a:endParaRPr lang="pl-PL" dirty="0">
              <a:latin typeface="Courier"/>
            </a:endParaRPr>
          </a:p>
          <a:p>
            <a:pPr marL="360000" lvl="1" indent="0">
              <a:buNone/>
            </a:pPr>
            <a:r>
              <a:rPr lang="pl-PL" sz="2000" dirty="0">
                <a:latin typeface="+mn-lt"/>
              </a:rPr>
              <a:t>+ </a:t>
            </a:r>
            <a:r>
              <a:rPr lang="pl-PL" sz="2000" dirty="0" err="1">
                <a:latin typeface="+mn-lt"/>
              </a:rPr>
              <a:t>understanding</a:t>
            </a:r>
            <a:r>
              <a:rPr lang="pl-PL" sz="2000" dirty="0">
                <a:latin typeface="+mn-lt"/>
              </a:rPr>
              <a:t> of Linux </a:t>
            </a:r>
            <a:r>
              <a:rPr lang="pl-PL" sz="2000" dirty="0" err="1">
                <a:latin typeface="+mn-lt"/>
              </a:rPr>
              <a:t>directory</a:t>
            </a:r>
            <a:r>
              <a:rPr lang="pl-PL" sz="2000" dirty="0">
                <a:latin typeface="+mn-lt"/>
              </a:rPr>
              <a:t> </a:t>
            </a:r>
            <a:r>
              <a:rPr lang="pl-PL" sz="2000" dirty="0" err="1">
                <a:latin typeface="+mn-lt"/>
              </a:rPr>
              <a:t>tree</a:t>
            </a:r>
            <a:r>
              <a:rPr lang="pl-PL" sz="2000" dirty="0">
                <a:latin typeface="+mn-lt"/>
              </a:rPr>
              <a:t> (</a:t>
            </a:r>
            <a:r>
              <a:rPr lang="pl-PL" sz="2000" dirty="0" err="1">
                <a:latin typeface="+mn-lt"/>
              </a:rPr>
              <a:t>relative</a:t>
            </a:r>
            <a:r>
              <a:rPr lang="pl-PL" sz="2000" dirty="0">
                <a:latin typeface="+mn-lt"/>
              </a:rPr>
              <a:t> and </a:t>
            </a:r>
            <a:r>
              <a:rPr lang="pl-PL" sz="2000" dirty="0" err="1">
                <a:latin typeface="+mn-lt"/>
              </a:rPr>
              <a:t>absolute</a:t>
            </a:r>
            <a:r>
              <a:rPr lang="pl-PL" sz="2000" dirty="0">
                <a:latin typeface="+mn-lt"/>
              </a:rPr>
              <a:t> </a:t>
            </a:r>
            <a:r>
              <a:rPr lang="pl-PL" sz="2000" dirty="0" err="1">
                <a:latin typeface="+mn-lt"/>
              </a:rPr>
              <a:t>paths</a:t>
            </a:r>
            <a:r>
              <a:rPr lang="pl-PL" sz="2000" dirty="0">
                <a:latin typeface="+mn-lt"/>
              </a:rPr>
              <a:t>)</a:t>
            </a:r>
          </a:p>
          <a:p>
            <a:pPr marL="360000" lvl="1" indent="0">
              <a:buNone/>
            </a:pPr>
            <a:r>
              <a:rPr lang="pl-PL" sz="2000" dirty="0">
                <a:latin typeface="+mn-lt"/>
              </a:rPr>
              <a:t>+ </a:t>
            </a:r>
            <a:r>
              <a:rPr lang="pl-PL" sz="2000" dirty="0" err="1">
                <a:latin typeface="+mn-lt"/>
              </a:rPr>
              <a:t>understanding</a:t>
            </a:r>
            <a:r>
              <a:rPr lang="pl-PL" sz="2000" dirty="0">
                <a:latin typeface="+mn-lt"/>
              </a:rPr>
              <a:t> of file </a:t>
            </a:r>
            <a:r>
              <a:rPr lang="pl-PL" sz="2000" dirty="0" err="1">
                <a:latin typeface="+mn-lt"/>
              </a:rPr>
              <a:t>permissions</a:t>
            </a:r>
            <a:endParaRPr lang="pl-PL" sz="2000" dirty="0">
              <a:latin typeface="+mn-lt"/>
            </a:endParaRPr>
          </a:p>
          <a:p>
            <a:pPr marL="0" indent="0">
              <a:buNone/>
            </a:pPr>
            <a:endParaRPr lang="pl-PL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8E6A-08C9-49B9-A7D5-27A98AD8C28F}" type="slidenum">
              <a:rPr lang="nl-NL" smtClean="0"/>
              <a:pPr/>
              <a:t>125</a:t>
            </a:fld>
            <a:endParaRPr lang="nl-NL"/>
          </a:p>
        </p:txBody>
      </p:sp>
      <p:pic>
        <p:nvPicPr>
          <p:cNvPr id="4" name="Graphic 3" descr="Key with solid fill">
            <a:extLst>
              <a:ext uri="{FF2B5EF4-FFF2-40B4-BE49-F238E27FC236}">
                <a16:creationId xmlns:a16="http://schemas.microsoft.com/office/drawing/2014/main" id="{D4FF55C1-C389-3628-20F3-8203DCBEC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31508">
            <a:off x="112471" y="22470"/>
            <a:ext cx="566119" cy="5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968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Hands-on 4</a:t>
            </a:r>
            <a:endParaRPr 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/>
          <a:lstStyle/>
          <a:p>
            <a:fld id="{6EEEFFD1-DFB2-4CEF-BBC9-E2EBFFEDE494}" type="slidenum">
              <a:rPr lang="nl-NL" smtClean="0"/>
              <a:pPr/>
              <a:t>126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699752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304800"/>
          </a:xfrm>
        </p:spPr>
        <p:txBody>
          <a:bodyPr>
            <a:normAutofit fontScale="90000"/>
          </a:bodyPr>
          <a:lstStyle/>
          <a:p>
            <a:r>
              <a:rPr lang="en-US" altLang="en-US" sz="2400" b="1">
                <a:hlinkClick r:id="rId2" action="ppaction://hlinkfile"/>
              </a:rPr>
              <a:t>Handout</a:t>
            </a:r>
            <a:endParaRPr lang="en-US" altLang="en-US" sz="2400" b="1"/>
          </a:p>
        </p:txBody>
      </p:sp>
      <p:graphicFrame>
        <p:nvGraphicFramePr>
          <p:cNvPr id="4099" name="Object 3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1300258052"/>
              </p:ext>
            </p:extLst>
          </p:nvPr>
        </p:nvGraphicFramePr>
        <p:xfrm>
          <a:off x="314325" y="804863"/>
          <a:ext cx="8601075" cy="582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erkblad" r:id="rId3" imgW="5333937" imgH="3611952" progId="Excel.Sheet.8">
                  <p:embed/>
                </p:oleObj>
              </mc:Choice>
              <mc:Fallback>
                <p:oleObj name="Werkblad" r:id="rId3" imgW="5333937" imgH="3611952" progId="Excel.Sheet.8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" y="804863"/>
                        <a:ext cx="8601075" cy="5822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238526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VSC training 2019/2020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Introductory</a:t>
            </a:r>
          </a:p>
          <a:p>
            <a:endParaRPr lang="en-US" dirty="0"/>
          </a:p>
          <a:p>
            <a:endParaRPr lang="pl-PL" dirty="0"/>
          </a:p>
          <a:p>
            <a:r>
              <a:rPr lang="en-US" dirty="0"/>
              <a:t>Intermediate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Advanced</a:t>
            </a:r>
            <a:endParaRPr lang="pl-PL" dirty="0"/>
          </a:p>
          <a:p>
            <a:endParaRPr lang="pl-PL" dirty="0"/>
          </a:p>
          <a:p>
            <a:r>
              <a:rPr lang="en-US" dirty="0"/>
              <a:t>Specialist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9580" y="1785590"/>
            <a:ext cx="7360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Linux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40255" y="1916832"/>
            <a:ext cx="121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HPC intro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8617" y="2271966"/>
            <a:ext cx="25678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Version control with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Git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97739" y="2775288"/>
            <a:ext cx="361537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Python as a second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Python: System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Scientific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Software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Python for data science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2465" y="2981629"/>
            <a:ext cx="326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1629" y="1288796"/>
            <a:ext cx="8771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Matlab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10255" y="4535896"/>
            <a:ext cx="1095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OpenMP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5449" y="4723004"/>
            <a:ext cx="5950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MPI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3" name="Straight Arrow Connector 12"/>
          <p:cNvCxnSpPr>
            <a:endCxn id="5" idx="1"/>
          </p:cNvCxnSpPr>
          <p:nvPr/>
        </p:nvCxnSpPr>
        <p:spPr>
          <a:xfrm>
            <a:off x="2496865" y="1970256"/>
            <a:ext cx="643390" cy="131242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496865" y="1958128"/>
            <a:ext cx="808191" cy="1235586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496865" y="1962437"/>
            <a:ext cx="1315600" cy="1019192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0" idx="3"/>
            <a:endCxn id="10" idx="1"/>
          </p:cNvCxnSpPr>
          <p:nvPr/>
        </p:nvCxnSpPr>
        <p:spPr>
          <a:xfrm>
            <a:off x="3635896" y="3757682"/>
            <a:ext cx="1674359" cy="96288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1" idx="1"/>
          </p:cNvCxnSpPr>
          <p:nvPr/>
        </p:nvCxnSpPr>
        <p:spPr>
          <a:xfrm>
            <a:off x="3661887" y="3782405"/>
            <a:ext cx="1043562" cy="1125265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55291" y="247524"/>
            <a:ext cx="1588897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Info sessions</a:t>
            </a:r>
            <a:r>
              <a:rPr lang="pl-PL"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616" y="4576523"/>
            <a:ext cx="25678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tx1">
                    <a:lumMod val="75000"/>
                  </a:schemeClr>
                </a:solidFill>
              </a:rPr>
              <a:t>Debugging </a:t>
            </a:r>
            <a:r>
              <a:rPr lang="pl-PL" dirty="0" err="1">
                <a:solidFill>
                  <a:schemeClr val="tx1">
                    <a:lumMod val="75000"/>
                  </a:schemeClr>
                </a:solidFill>
              </a:rPr>
              <a:t>techniques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C759-6229-40DE-AD56-03C6C1B55D06}" type="slidenum">
              <a:rPr lang="nl-BE" smtClean="0"/>
              <a:pPr/>
              <a:t>128</a:t>
            </a:fld>
            <a:endParaRPr lang="nl-BE"/>
          </a:p>
        </p:txBody>
      </p:sp>
      <p:sp>
        <p:nvSpPr>
          <p:cNvPr id="20" name="TextBox 19"/>
          <p:cNvSpPr txBox="1"/>
          <p:nvPr/>
        </p:nvSpPr>
        <p:spPr>
          <a:xfrm>
            <a:off x="873601" y="3573016"/>
            <a:ext cx="27622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>
                    <a:lumMod val="75000"/>
                  </a:schemeClr>
                </a:solidFill>
              </a:rPr>
              <a:t>Fortran for </a:t>
            </a:r>
            <a:r>
              <a:rPr lang="pl-PL" dirty="0" err="1">
                <a:solidFill>
                  <a:schemeClr val="tx1">
                    <a:lumMod val="75000"/>
                  </a:schemeClr>
                </a:solidFill>
              </a:rPr>
              <a:t>programmers</a:t>
            </a:r>
            <a:r>
              <a:rPr lang="pl-PL" dirty="0">
                <a:solidFill>
                  <a:schemeClr val="tx1">
                    <a:lumMod val="75000"/>
                  </a:schemeClr>
                </a:solidFill>
              </a:rPr>
              <a:t> 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42768" y="5235722"/>
            <a:ext cx="25678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?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29561" y="4427820"/>
            <a:ext cx="17876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Python for HPC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7504" y="5950580"/>
            <a:ext cx="5544616" cy="369332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pl-PL" altLang="en-US" dirty="0" err="1"/>
              <a:t>Stay</a:t>
            </a:r>
            <a:r>
              <a:rPr lang="pl-PL" altLang="en-US" dirty="0"/>
              <a:t> </a:t>
            </a:r>
            <a:r>
              <a:rPr lang="pl-PL" altLang="en-US" dirty="0" err="1"/>
              <a:t>up</a:t>
            </a:r>
            <a:r>
              <a:rPr lang="pl-PL" altLang="en-US" dirty="0"/>
              <a:t>-to-</a:t>
            </a:r>
            <a:r>
              <a:rPr lang="pl-PL" altLang="en-US" dirty="0" err="1"/>
              <a:t>date</a:t>
            </a:r>
            <a:r>
              <a:rPr lang="pl-PL" altLang="en-US" dirty="0"/>
              <a:t> </a:t>
            </a:r>
            <a:r>
              <a:rPr lang="pl-PL" altLang="en-US" dirty="0">
                <a:hlinkClick r:id="rId2"/>
              </a:rPr>
              <a:t>https://www.vscentrum.be/training</a:t>
            </a:r>
            <a:r>
              <a:rPr lang="en-US" altLang="en-US" dirty="0"/>
              <a:t> 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4355976" y="1680084"/>
            <a:ext cx="409726" cy="30688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66622" y="1405701"/>
            <a:ext cx="16290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tx1">
                    <a:lumMod val="75000"/>
                  </a:schemeClr>
                </a:solidFill>
              </a:rPr>
              <a:t>Linux for HPC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30" name="Straight Arrow Connector 29"/>
          <p:cNvCxnSpPr>
            <a:stCxn id="29" idx="3"/>
          </p:cNvCxnSpPr>
          <p:nvPr/>
        </p:nvCxnSpPr>
        <p:spPr>
          <a:xfrm flipV="1">
            <a:off x="6395656" y="1444710"/>
            <a:ext cx="306645" cy="14565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85778" y="1288066"/>
            <a:ext cx="17255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tx1">
                    <a:lumMod val="75000"/>
                  </a:schemeClr>
                </a:solidFill>
              </a:rPr>
              <a:t>Linux </a:t>
            </a:r>
            <a:r>
              <a:rPr lang="pl-PL" dirty="0" err="1">
                <a:solidFill>
                  <a:schemeClr val="tx1">
                    <a:lumMod val="75000"/>
                  </a:schemeClr>
                </a:solidFill>
              </a:rPr>
              <a:t>scripting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7020273" y="1657398"/>
            <a:ext cx="223213" cy="202968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15667" y="1860366"/>
            <a:ext cx="1393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tx1">
                    <a:lumMod val="75000"/>
                  </a:schemeClr>
                </a:solidFill>
              </a:rPr>
              <a:t>Linux </a:t>
            </a:r>
            <a:r>
              <a:rPr lang="pl-PL" dirty="0" err="1">
                <a:solidFill>
                  <a:schemeClr val="tx1">
                    <a:lumMod val="75000"/>
                  </a:schemeClr>
                </a:solidFill>
              </a:rPr>
              <a:t>tools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7454" y="2350255"/>
            <a:ext cx="12724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 err="1">
                <a:solidFill>
                  <a:schemeClr val="tx1">
                    <a:lumMod val="75000"/>
                  </a:schemeClr>
                </a:solidFill>
              </a:rPr>
              <a:t>Make</a:t>
            </a:r>
            <a:r>
              <a:rPr lang="pl-P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pl-PL" dirty="0" err="1">
                <a:solidFill>
                  <a:schemeClr val="tx1">
                    <a:lumMod val="75000"/>
                  </a:schemeClr>
                </a:solidFill>
              </a:rPr>
              <a:t>intro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3440" y="3193714"/>
            <a:ext cx="30315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C++ for scientific computing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13744" y="5062973"/>
            <a:ext cx="25678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Code optimization</a:t>
            </a:r>
            <a:endParaRPr lang="nl-BE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57454" y="1877978"/>
            <a:ext cx="15811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pl-PL" dirty="0" err="1"/>
              <a:t>orker</a:t>
            </a:r>
            <a:r>
              <a:rPr lang="en-US" dirty="0"/>
              <a:t>/</a:t>
            </a:r>
            <a:r>
              <a:rPr lang="en-US" dirty="0" err="1"/>
              <a:t>atools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051411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-KU Leuven-Liggend-Achtergrond Wit">
  <a:themeElements>
    <a:clrScheme name="KULeuven-Themakleuren">
      <a:dk1>
        <a:srgbClr val="00407A"/>
      </a:dk1>
      <a:lt1>
        <a:srgbClr val="FFFFFF"/>
      </a:lt1>
      <a:dk2>
        <a:srgbClr val="00407A"/>
      </a:dk2>
      <a:lt2>
        <a:srgbClr val="FFFFFF"/>
      </a:lt2>
      <a:accent1>
        <a:srgbClr val="1D8DB0"/>
      </a:accent1>
      <a:accent2>
        <a:srgbClr val="116E8A"/>
      </a:accent2>
      <a:accent3>
        <a:srgbClr val="52BDEC"/>
      </a:accent3>
      <a:accent4>
        <a:srgbClr val="00407A"/>
      </a:accent4>
      <a:accent5>
        <a:srgbClr val="7F7F7F"/>
      </a:accent5>
      <a:accent6>
        <a:srgbClr val="595959"/>
      </a:accent6>
      <a:hlink>
        <a:srgbClr val="1D8DB0"/>
      </a:hlink>
      <a:folHlink>
        <a:srgbClr val="00407A"/>
      </a:folHlink>
    </a:clrScheme>
    <a:fontScheme name="KULeuv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16E8A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corporate-KULeuven</Template>
  <TotalTime>0</TotalTime>
  <Words>8979</Words>
  <Application>Microsoft Office PowerPoint</Application>
  <PresentationFormat>On-screen Show (4:3)</PresentationFormat>
  <Paragraphs>1194</Paragraphs>
  <Slides>128</Slides>
  <Notes>34</Notes>
  <HiddenSlides>5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42" baseType="lpstr">
      <vt:lpstr>新細明體</vt:lpstr>
      <vt:lpstr>Arial</vt:lpstr>
      <vt:lpstr>Bitstream Vera Serif</vt:lpstr>
      <vt:lpstr>Calibri</vt:lpstr>
      <vt:lpstr>Courier</vt:lpstr>
      <vt:lpstr>Courier 10 Pitch</vt:lpstr>
      <vt:lpstr>Courier New</vt:lpstr>
      <vt:lpstr>HG Mincho Light J</vt:lpstr>
      <vt:lpstr>Liberation Sans</vt:lpstr>
      <vt:lpstr>Nimbus Sans L</vt:lpstr>
      <vt:lpstr>StarSymbol</vt:lpstr>
      <vt:lpstr>Wingdings</vt:lpstr>
      <vt:lpstr>Corporate-KU Leuven-Liggend-Achtergrond Wit</vt:lpstr>
      <vt:lpstr>Werkblad</vt:lpstr>
      <vt:lpstr>Linux - introduction</vt:lpstr>
      <vt:lpstr>Overview</vt:lpstr>
      <vt:lpstr>Remark</vt:lpstr>
      <vt:lpstr>Introduction</vt:lpstr>
      <vt:lpstr>Purpose </vt:lpstr>
      <vt:lpstr>Information</vt:lpstr>
      <vt:lpstr>Websites?</vt:lpstr>
      <vt:lpstr>Try it?</vt:lpstr>
      <vt:lpstr>Windows and Linux</vt:lpstr>
      <vt:lpstr>Some history</vt:lpstr>
      <vt:lpstr>Open Source Software</vt:lpstr>
      <vt:lpstr>Linux: some history</vt:lpstr>
      <vt:lpstr>Operating system?</vt:lpstr>
      <vt:lpstr>Which Linux Distribution is better?</vt:lpstr>
      <vt:lpstr>Linux Kernel </vt:lpstr>
      <vt:lpstr>PowerPoint Presentation</vt:lpstr>
      <vt:lpstr>Linux Kernel </vt:lpstr>
      <vt:lpstr>Linux Kernel </vt:lpstr>
      <vt:lpstr>Compatibility Statement </vt:lpstr>
      <vt:lpstr>User login </vt:lpstr>
      <vt:lpstr>Linux User Interface</vt:lpstr>
      <vt:lpstr>Linux User Interface</vt:lpstr>
      <vt:lpstr>Linux User Interface</vt:lpstr>
      <vt:lpstr>Command Line</vt:lpstr>
      <vt:lpstr>Linux text based interface: The shell</vt:lpstr>
      <vt:lpstr>Using the root account</vt:lpstr>
      <vt:lpstr>Most popular shells</vt:lpstr>
      <vt:lpstr>Hands-on 1</vt:lpstr>
      <vt:lpstr>Command line basics</vt:lpstr>
      <vt:lpstr>Important rules on the command line</vt:lpstr>
      <vt:lpstr>Important rules on the command line</vt:lpstr>
      <vt:lpstr>Auto-Completion</vt:lpstr>
      <vt:lpstr>Command history: Arrow Up</vt:lpstr>
      <vt:lpstr>Getting help: command built-in</vt:lpstr>
      <vt:lpstr>Getting help: man pages</vt:lpstr>
      <vt:lpstr>Getting help: info pages</vt:lpstr>
      <vt:lpstr>Getting help</vt:lpstr>
      <vt:lpstr>Useful commands</vt:lpstr>
      <vt:lpstr>Standard output</vt:lpstr>
      <vt:lpstr>Standard output</vt:lpstr>
      <vt:lpstr>Standard input</vt:lpstr>
      <vt:lpstr>Pipes</vt:lpstr>
      <vt:lpstr>Globbing: use wildcard</vt:lpstr>
      <vt:lpstr>The Linux file system</vt:lpstr>
      <vt:lpstr>Linux File System</vt:lpstr>
      <vt:lpstr>Linux File System</vt:lpstr>
      <vt:lpstr>Linux File System</vt:lpstr>
      <vt:lpstr>Linux File System</vt:lpstr>
      <vt:lpstr>Linux File System-home directory</vt:lpstr>
      <vt:lpstr>ls command</vt:lpstr>
      <vt:lpstr>ls command</vt:lpstr>
      <vt:lpstr>ls command</vt:lpstr>
      <vt:lpstr>Moving around</vt:lpstr>
      <vt:lpstr>ls command</vt:lpstr>
      <vt:lpstr>Moving around</vt:lpstr>
      <vt:lpstr>Special directories </vt:lpstr>
      <vt:lpstr>Linux File System - directories</vt:lpstr>
      <vt:lpstr>Linux File System - directories</vt:lpstr>
      <vt:lpstr>Linux File System - directories</vt:lpstr>
      <vt:lpstr>Linux File System - directories</vt:lpstr>
      <vt:lpstr>Linux File System - directories</vt:lpstr>
      <vt:lpstr>Linux File System - directories</vt:lpstr>
      <vt:lpstr>Linux File System - directories</vt:lpstr>
      <vt:lpstr>Linux File System - directories</vt:lpstr>
      <vt:lpstr>Linux File System - directories</vt:lpstr>
      <vt:lpstr>File paths</vt:lpstr>
      <vt:lpstr>More on files</vt:lpstr>
      <vt:lpstr>More on files</vt:lpstr>
      <vt:lpstr>File names</vt:lpstr>
      <vt:lpstr>File names – Best Practices</vt:lpstr>
      <vt:lpstr>File names – Best Practices</vt:lpstr>
      <vt:lpstr>Measuring disk usage</vt:lpstr>
      <vt:lpstr>Measuring disk usage</vt:lpstr>
      <vt:lpstr>Measuring disk space</vt:lpstr>
      <vt:lpstr>Hands-on 2</vt:lpstr>
      <vt:lpstr>File manipulation</vt:lpstr>
      <vt:lpstr>File Manipulation</vt:lpstr>
      <vt:lpstr>Directories</vt:lpstr>
      <vt:lpstr>Copy a file</vt:lpstr>
      <vt:lpstr>Move or rename files</vt:lpstr>
      <vt:lpstr>Remove files</vt:lpstr>
      <vt:lpstr>Create links</vt:lpstr>
      <vt:lpstr>wget</vt:lpstr>
      <vt:lpstr>Text editing</vt:lpstr>
      <vt:lpstr>Text editors</vt:lpstr>
      <vt:lpstr>Text editors</vt:lpstr>
      <vt:lpstr>vi</vt:lpstr>
      <vt:lpstr>vi</vt:lpstr>
      <vt:lpstr>vi</vt:lpstr>
      <vt:lpstr>Nano</vt:lpstr>
      <vt:lpstr>Displaying file contents</vt:lpstr>
      <vt:lpstr>Displaying file contents</vt:lpstr>
      <vt:lpstr>The head and tail commands</vt:lpstr>
      <vt:lpstr>The grep command</vt:lpstr>
      <vt:lpstr>Hands-on 3</vt:lpstr>
      <vt:lpstr>Archiving</vt:lpstr>
      <vt:lpstr>File Archiving: tar</vt:lpstr>
      <vt:lpstr>File Archiving: tar</vt:lpstr>
      <vt:lpstr>File Compression: gzip</vt:lpstr>
      <vt:lpstr>Users, groups &amp; security</vt:lpstr>
      <vt:lpstr>PowerPoint Presentation</vt:lpstr>
      <vt:lpstr>File access rights</vt:lpstr>
      <vt:lpstr>File access rights</vt:lpstr>
      <vt:lpstr>PowerPoint Presentation</vt:lpstr>
      <vt:lpstr>PowerPoint Presentation</vt:lpstr>
      <vt:lpstr>Access rights examples</vt:lpstr>
      <vt:lpstr>PowerPoint Presentation</vt:lpstr>
      <vt:lpstr>chmod: changing permissions</vt:lpstr>
      <vt:lpstr>chmod: changing permissions</vt:lpstr>
      <vt:lpstr>chmod: changing permissions</vt:lpstr>
      <vt:lpstr>chmod: changing permissions</vt:lpstr>
      <vt:lpstr>Access right constraints</vt:lpstr>
      <vt:lpstr>Process control</vt:lpstr>
      <vt:lpstr>time</vt:lpstr>
      <vt:lpstr>Process</vt:lpstr>
      <vt:lpstr>Process</vt:lpstr>
      <vt:lpstr>Process</vt:lpstr>
      <vt:lpstr>ps</vt:lpstr>
      <vt:lpstr>Process</vt:lpstr>
      <vt:lpstr>kill</vt:lpstr>
      <vt:lpstr>killall</vt:lpstr>
      <vt:lpstr>xkill</vt:lpstr>
      <vt:lpstr>&amp;</vt:lpstr>
      <vt:lpstr>top</vt:lpstr>
      <vt:lpstr>List of basic commands</vt:lpstr>
      <vt:lpstr>Hands-on 4</vt:lpstr>
      <vt:lpstr>Handout</vt:lpstr>
      <vt:lpstr>VSC training 2019/2020</vt:lpstr>
    </vt:vector>
  </TitlesOfParts>
  <Company>KULeuven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ICTS | Communicatie, Servicepunt en Opleiding</dc:creator>
  <dc:description>Huisstijl KU Leuven - versie 24 juli 2012</dc:description>
  <cp:lastModifiedBy>Wouter Van Assche</cp:lastModifiedBy>
  <cp:revision>343</cp:revision>
  <dcterms:created xsi:type="dcterms:W3CDTF">2012-07-10T07:57:57Z</dcterms:created>
  <dcterms:modified xsi:type="dcterms:W3CDTF">2025-11-04T07:37:48Z</dcterms:modified>
</cp:coreProperties>
</file>